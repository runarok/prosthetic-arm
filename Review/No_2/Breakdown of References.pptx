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autoCompressPictures="0">
  <p:sldMasterIdLst>
    <p:sldMasterId id="2147483648" r:id="rId1"/>
  </p:sldMasterIdLst>
  <p:notesMasterIdLst>
    <p:notesMasterId r:id="rId18"/>
  </p:notesMasterIdLst>
  <p:sldIdLst>
    <p:sldId id="257" r:id="rId2"/>
    <p:sldId id="258" r:id="rId3"/>
    <p:sldId id="259" r:id="rId4"/>
    <p:sldId id="260" r:id="rId5"/>
    <p:sldId id="281" r:id="rId6"/>
    <p:sldId id="262" r:id="rId7"/>
    <p:sldId id="263" r:id="rId8"/>
    <p:sldId id="264" r:id="rId9"/>
    <p:sldId id="275" r:id="rId10"/>
    <p:sldId id="276" r:id="rId11"/>
    <p:sldId id="279" r:id="rId12"/>
    <p:sldId id="280" r:id="rId13"/>
    <p:sldId id="265" r:id="rId14"/>
    <p:sldId id="266" r:id="rId15"/>
    <p:sldId id="267" r:id="rId16"/>
    <p:sldId id="268" r:id="rId17"/>
  </p:sldIdLst>
  <p:sldSz cx="9144000" cy="6858000" type="screen4x3"/>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4734" autoAdjust="0"/>
  </p:normalViewPr>
  <p:slideViewPr>
    <p:cSldViewPr snapToGrid="0">
      <p:cViewPr varScale="1">
        <p:scale>
          <a:sx n="85" d="100"/>
          <a:sy n="85" d="100"/>
        </p:scale>
        <p:origin x="2364" y="78"/>
      </p:cViewPr>
      <p:guideLst>
        <p:guide orient="horz" pos="2160"/>
        <p:guide pos="2880"/>
      </p:guideLst>
    </p:cSldViewPr>
  </p:slideViewPr>
  <p:notesTextViewPr>
    <p:cViewPr>
      <p:scale>
        <a:sx n="1" d="1"/>
        <a:sy n="1" d="1"/>
      </p:scale>
      <p:origin x="0" y="0"/>
    </p:cViewPr>
  </p:notesTextViewPr>
  <p:notesViewPr>
    <p:cSldViewPr snapToGrid="0">
      <p:cViewPr varScale="1">
        <p:scale>
          <a:sx n="100" d="100"/>
          <a:sy n="100" d="100"/>
        </p:scale>
        <p:origin x="0" y="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p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5" name="Google Shape;95;p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4" name="Google Shape;104;p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lnSpc>
                <a:spcPct val="80000"/>
              </a:lnSpc>
              <a:spcBef>
                <a:spcPts val="0"/>
              </a:spcBef>
              <a:spcAft>
                <a:spcPts val="0"/>
              </a:spcAft>
              <a:buNone/>
            </a:pPr>
            <a:r>
              <a:rPr lang="en-US" sz="1110" b="1"/>
              <a:t>Phase Noise:</a:t>
            </a:r>
            <a:r>
              <a:rPr lang="en-US" sz="1110"/>
              <a:t> Refers to the random fluctuations in the phase of the signal, primarily generated by oscillators, which can lead to signal distortion, especially in high-frequency communication systems.</a:t>
            </a:r>
            <a:endParaRPr/>
          </a:p>
          <a:p>
            <a:pPr marL="0" lvl="0" indent="0" algn="l" rtl="0">
              <a:lnSpc>
                <a:spcPct val="80000"/>
              </a:lnSpc>
              <a:spcBef>
                <a:spcPts val="0"/>
              </a:spcBef>
              <a:spcAft>
                <a:spcPts val="0"/>
              </a:spcAft>
              <a:buNone/>
            </a:pPr>
            <a:endParaRPr sz="1110" b="1"/>
          </a:p>
          <a:p>
            <a:pPr marL="0" lvl="0" indent="0" algn="l" rtl="0">
              <a:lnSpc>
                <a:spcPct val="80000"/>
              </a:lnSpc>
              <a:spcBef>
                <a:spcPts val="0"/>
              </a:spcBef>
              <a:spcAft>
                <a:spcPts val="0"/>
              </a:spcAft>
              <a:buNone/>
            </a:pPr>
            <a:r>
              <a:rPr lang="en-US" sz="1110" b="1"/>
              <a:t>Power Consumption:</a:t>
            </a:r>
            <a:r>
              <a:rPr lang="en-US" sz="1110"/>
              <a:t> In high-frequency systems, components like analog-to-digital converters (ADCs) and amplifiers often consume significant power. Optimizing power consumption is crucial for efficient operation, particularly in portable and large-scale systems.</a:t>
            </a:r>
            <a:endParaRPr/>
          </a:p>
          <a:p>
            <a:pPr marL="0" lvl="0" indent="0" algn="l" rtl="0">
              <a:lnSpc>
                <a:spcPct val="80000"/>
              </a:lnSpc>
              <a:spcBef>
                <a:spcPts val="0"/>
              </a:spcBef>
              <a:spcAft>
                <a:spcPts val="0"/>
              </a:spcAft>
              <a:buNone/>
            </a:pPr>
            <a:endParaRPr sz="1110" b="1"/>
          </a:p>
          <a:p>
            <a:pPr marL="0" lvl="0" indent="0" algn="l" rtl="0">
              <a:lnSpc>
                <a:spcPct val="80000"/>
              </a:lnSpc>
              <a:spcBef>
                <a:spcPts val="0"/>
              </a:spcBef>
              <a:spcAft>
                <a:spcPts val="0"/>
              </a:spcAft>
              <a:buNone/>
            </a:pPr>
            <a:r>
              <a:rPr lang="en-US" sz="1110" b="1"/>
              <a:t>SFDR (Spurious-Free Dynamic Range):</a:t>
            </a:r>
            <a:r>
              <a:rPr lang="en-US" sz="1110"/>
              <a:t> SFDR defines the range over which the antenna system can handle signals without distortion from spurious signals. Degraded SFDR reduces the ability to distinguish between desired and unwanted signals.</a:t>
            </a:r>
            <a:endParaRPr/>
          </a:p>
          <a:p>
            <a:pPr marL="0" lvl="0" indent="0" algn="l" rtl="0">
              <a:lnSpc>
                <a:spcPct val="80000"/>
              </a:lnSpc>
              <a:spcBef>
                <a:spcPts val="0"/>
              </a:spcBef>
              <a:spcAft>
                <a:spcPts val="0"/>
              </a:spcAft>
              <a:buNone/>
            </a:pPr>
            <a:endParaRPr sz="1110" b="1"/>
          </a:p>
          <a:p>
            <a:pPr marL="0" lvl="0" indent="0" algn="l" rtl="0">
              <a:lnSpc>
                <a:spcPct val="80000"/>
              </a:lnSpc>
              <a:spcBef>
                <a:spcPts val="0"/>
              </a:spcBef>
              <a:spcAft>
                <a:spcPts val="0"/>
              </a:spcAft>
              <a:buNone/>
            </a:pPr>
            <a:r>
              <a:rPr lang="en-US" sz="1110" b="1"/>
              <a:t>Insertion Loss:</a:t>
            </a:r>
            <a:r>
              <a:rPr lang="en-US" sz="1110"/>
              <a:t> This is the loss of signal power due to the transmission medium or circuit elements, such as transmission lines or connectors, affecting overall signal strength.</a:t>
            </a:r>
            <a:endParaRPr/>
          </a:p>
          <a:p>
            <a:pPr marL="0" lvl="0" indent="0" algn="l" rtl="0">
              <a:lnSpc>
                <a:spcPct val="80000"/>
              </a:lnSpc>
              <a:spcBef>
                <a:spcPts val="0"/>
              </a:spcBef>
              <a:spcAft>
                <a:spcPts val="0"/>
              </a:spcAft>
              <a:buNone/>
            </a:pPr>
            <a:endParaRPr sz="1110" b="1"/>
          </a:p>
          <a:p>
            <a:pPr marL="0" lvl="0" indent="0" algn="l" rtl="0">
              <a:lnSpc>
                <a:spcPct val="80000"/>
              </a:lnSpc>
              <a:spcBef>
                <a:spcPts val="0"/>
              </a:spcBef>
              <a:spcAft>
                <a:spcPts val="0"/>
              </a:spcAft>
              <a:buNone/>
            </a:pPr>
            <a:r>
              <a:rPr lang="en-US" sz="1110" b="1"/>
              <a:t>High-Speed Communication Systems:</a:t>
            </a:r>
            <a:r>
              <a:rPr lang="en-US" sz="1110"/>
              <a:t> The frequency range for these systems typically includes millimeter-wave and terahertz frequencies (30 GHz to 300 GHz). Such frequencies require careful handling of noise, power, and signal integrity.</a:t>
            </a:r>
            <a:endParaRPr/>
          </a:p>
          <a:p>
            <a:pPr marL="0" lvl="0" indent="0" algn="l" rtl="0">
              <a:lnSpc>
                <a:spcPct val="80000"/>
              </a:lnSpc>
              <a:spcBef>
                <a:spcPts val="0"/>
              </a:spcBef>
              <a:spcAft>
                <a:spcPts val="0"/>
              </a:spcAft>
              <a:buNone/>
            </a:pPr>
            <a:endParaRPr sz="1110" b="1"/>
          </a:p>
          <a:p>
            <a:pPr marL="0" lvl="0" indent="0" algn="l" rtl="0">
              <a:lnSpc>
                <a:spcPct val="80000"/>
              </a:lnSpc>
              <a:spcBef>
                <a:spcPts val="0"/>
              </a:spcBef>
              <a:spcAft>
                <a:spcPts val="0"/>
              </a:spcAft>
              <a:buNone/>
            </a:pPr>
            <a:r>
              <a:rPr lang="en-US" sz="1110" b="1"/>
              <a:t>Simulink and MATLAB:</a:t>
            </a:r>
            <a:r>
              <a:rPr lang="en-US" sz="1110"/>
              <a:t> These are simulation tools that allow for detailed modeling of communication systems, including antennas. Simulink offers a graphical interface for system modeling, while MATLAB provides numerical computing capabilities to analyze signal processing and system performance.</a:t>
            </a:r>
            <a:endParaRPr/>
          </a:p>
          <a:p>
            <a:pPr marL="0" lvl="0" indent="0" algn="l" rtl="0">
              <a:lnSpc>
                <a:spcPct val="80000"/>
              </a:lnSpc>
              <a:spcBef>
                <a:spcPts val="0"/>
              </a:spcBef>
              <a:spcAft>
                <a:spcPts val="0"/>
              </a:spcAft>
              <a:buNone/>
            </a:pPr>
            <a:endParaRPr sz="1110" b="1"/>
          </a:p>
          <a:p>
            <a:pPr marL="0" lvl="0" indent="0" algn="l" rtl="0">
              <a:lnSpc>
                <a:spcPct val="80000"/>
              </a:lnSpc>
              <a:spcBef>
                <a:spcPts val="0"/>
              </a:spcBef>
              <a:spcAft>
                <a:spcPts val="0"/>
              </a:spcAft>
              <a:buNone/>
            </a:pPr>
            <a:r>
              <a:rPr lang="en-US" sz="1110" b="1"/>
              <a:t>Project Goal:</a:t>
            </a:r>
            <a:r>
              <a:rPr lang="en-US" sz="1110"/>
              <a:t> The aim is to simulate and improve the performance of high-frequency antennas by addressing challenges like phase noise, power consumption, SFDR degradation, and insertion loss, providing insights into optimizing antenna systems for next-generation communication networks.</a:t>
            </a:r>
            <a:endParaRPr/>
          </a:p>
          <a:p>
            <a:pPr marL="0" lvl="0" indent="0" algn="l" rtl="0">
              <a:lnSpc>
                <a:spcPct val="80000"/>
              </a:lnSpc>
              <a:spcBef>
                <a:spcPts val="0"/>
              </a:spcBef>
              <a:spcAft>
                <a:spcPts val="0"/>
              </a:spcAft>
              <a:buNone/>
            </a:pPr>
            <a:endParaRPr sz="1110"/>
          </a:p>
        </p:txBody>
      </p:sp>
      <p:sp>
        <p:nvSpPr>
          <p:cNvPr id="105" name="Google Shape;105;p3:notes"/>
          <p:cNvSpPr txBox="1">
            <a:spLocks noGrp="1"/>
          </p:cNvSpPr>
          <p:nvPr>
            <p:ph type="hdr" idx="3"/>
          </p:nvPr>
        </p:nvSpPr>
        <p:spPr>
          <a:xfrm>
            <a:off x="0" y="0"/>
            <a:ext cx="2971800" cy="4572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6" name="Google Shape;106;p3:notes"/>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US"/>
              <a:t>14-Oct-24</a:t>
            </a:r>
            <a:endParaRPr/>
          </a:p>
        </p:txBody>
      </p:sp>
      <p:sp>
        <p:nvSpPr>
          <p:cNvPr id="107" name="Google Shape;107;p3:notes"/>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endParaRPr/>
          </a:p>
        </p:txBody>
      </p:sp>
      <p:sp>
        <p:nvSpPr>
          <p:cNvPr id="108" name="Google Shape;108;p3: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p:cNvGrpSpPr/>
        <p:nvPr/>
      </p:nvGrpSpPr>
      <p:grpSpPr>
        <a:xfrm>
          <a:off x="0" y="0"/>
          <a:ext cx="0" cy="0"/>
          <a:chOff x="0" y="0"/>
          <a:chExt cx="0" cy="0"/>
        </a:xfrm>
      </p:grpSpPr>
      <p:sp>
        <p:nvSpPr>
          <p:cNvPr id="116" name="Google Shape;116;p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7" name="Google Shape;117;p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lnSpc>
                <a:spcPct val="80000"/>
              </a:lnSpc>
              <a:spcBef>
                <a:spcPts val="0"/>
              </a:spcBef>
              <a:spcAft>
                <a:spcPts val="0"/>
              </a:spcAft>
              <a:buNone/>
            </a:pPr>
            <a:r>
              <a:rPr lang="en-US" sz="930" b="1"/>
              <a:t>Phase Noise in Local Oscillators:</a:t>
            </a:r>
            <a:endParaRPr sz="930"/>
          </a:p>
          <a:p>
            <a:pPr marL="0" lvl="0" indent="-59055" algn="l" rtl="0">
              <a:lnSpc>
                <a:spcPct val="80000"/>
              </a:lnSpc>
              <a:spcBef>
                <a:spcPts val="0"/>
              </a:spcBef>
              <a:spcAft>
                <a:spcPts val="0"/>
              </a:spcAft>
              <a:buClr>
                <a:schemeClr val="dk1"/>
              </a:buClr>
              <a:buSzPts val="930"/>
              <a:buFont typeface="Arial"/>
              <a:buChar char="•"/>
            </a:pPr>
            <a:r>
              <a:rPr lang="en-US" sz="930"/>
              <a:t>Phase noise refers to the rapid, random fluctuations in the phase of a signal generated by oscillators, commonly used in communication systems.</a:t>
            </a:r>
            <a:endParaRPr/>
          </a:p>
          <a:p>
            <a:pPr marL="0" lvl="0" indent="-59055" algn="l" rtl="0">
              <a:lnSpc>
                <a:spcPct val="80000"/>
              </a:lnSpc>
              <a:spcBef>
                <a:spcPts val="0"/>
              </a:spcBef>
              <a:spcAft>
                <a:spcPts val="0"/>
              </a:spcAft>
              <a:buClr>
                <a:schemeClr val="dk1"/>
              </a:buClr>
              <a:buSzPts val="930"/>
              <a:buFont typeface="Arial"/>
              <a:buChar char="•"/>
            </a:pPr>
            <a:r>
              <a:rPr lang="en-US" sz="930"/>
              <a:t>In high-frequency antenna systems, phase noise can distort the transmitted or received signal, particularly in systems using high-order modulation schemes (like QAM).</a:t>
            </a:r>
            <a:endParaRPr/>
          </a:p>
          <a:p>
            <a:pPr marL="0" lvl="0" indent="-59055" algn="l" rtl="0">
              <a:lnSpc>
                <a:spcPct val="80000"/>
              </a:lnSpc>
              <a:spcBef>
                <a:spcPts val="0"/>
              </a:spcBef>
              <a:spcAft>
                <a:spcPts val="0"/>
              </a:spcAft>
              <a:buClr>
                <a:schemeClr val="dk1"/>
              </a:buClr>
              <a:buSzPts val="930"/>
              <a:buFont typeface="Arial"/>
              <a:buChar char="•"/>
            </a:pPr>
            <a:r>
              <a:rPr lang="en-US" sz="930" b="1"/>
              <a:t>Impact:</a:t>
            </a:r>
            <a:r>
              <a:rPr lang="en-US" sz="930"/>
              <a:t> Degraded signal quality, increased bit error rate (BER), and reduced overall system performance.</a:t>
            </a:r>
            <a:endParaRPr/>
          </a:p>
          <a:p>
            <a:pPr marL="0" lvl="0" indent="0" algn="l" rtl="0">
              <a:lnSpc>
                <a:spcPct val="80000"/>
              </a:lnSpc>
              <a:spcBef>
                <a:spcPts val="0"/>
              </a:spcBef>
              <a:spcAft>
                <a:spcPts val="0"/>
              </a:spcAft>
              <a:buNone/>
            </a:pPr>
            <a:endParaRPr sz="930" b="1"/>
          </a:p>
          <a:p>
            <a:pPr marL="0" lvl="0" indent="0" algn="l" rtl="0">
              <a:lnSpc>
                <a:spcPct val="80000"/>
              </a:lnSpc>
              <a:spcBef>
                <a:spcPts val="0"/>
              </a:spcBef>
              <a:spcAft>
                <a:spcPts val="0"/>
              </a:spcAft>
              <a:buNone/>
            </a:pPr>
            <a:r>
              <a:rPr lang="en-US" sz="930" b="1"/>
              <a:t>High Power Consumption due to Inefficient ADCs:</a:t>
            </a:r>
            <a:endParaRPr sz="930"/>
          </a:p>
          <a:p>
            <a:pPr marL="0" lvl="0" indent="-59055" algn="l" rtl="0">
              <a:lnSpc>
                <a:spcPct val="80000"/>
              </a:lnSpc>
              <a:spcBef>
                <a:spcPts val="0"/>
              </a:spcBef>
              <a:spcAft>
                <a:spcPts val="0"/>
              </a:spcAft>
              <a:buClr>
                <a:schemeClr val="dk1"/>
              </a:buClr>
              <a:buSzPts val="930"/>
              <a:buFont typeface="Arial"/>
              <a:buChar char="•"/>
            </a:pPr>
            <a:r>
              <a:rPr lang="en-US" sz="930"/>
              <a:t>Analog-to-Digital Converters (ADCs) are essential for converting analog antenna signals into digital formats for processing.</a:t>
            </a:r>
            <a:endParaRPr/>
          </a:p>
          <a:p>
            <a:pPr marL="0" lvl="0" indent="-59055" algn="l" rtl="0">
              <a:lnSpc>
                <a:spcPct val="80000"/>
              </a:lnSpc>
              <a:spcBef>
                <a:spcPts val="0"/>
              </a:spcBef>
              <a:spcAft>
                <a:spcPts val="0"/>
              </a:spcAft>
              <a:buClr>
                <a:schemeClr val="dk1"/>
              </a:buClr>
              <a:buSzPts val="930"/>
              <a:buFont typeface="Arial"/>
              <a:buChar char="•"/>
            </a:pPr>
            <a:r>
              <a:rPr lang="en-US" sz="930"/>
              <a:t>High-speed ADCs typically consume a large amount of power, especially in high-frequency systems where the sampling rate needs to be extremely fast.</a:t>
            </a:r>
            <a:endParaRPr/>
          </a:p>
          <a:p>
            <a:pPr marL="0" lvl="0" indent="-59055" algn="l" rtl="0">
              <a:lnSpc>
                <a:spcPct val="80000"/>
              </a:lnSpc>
              <a:spcBef>
                <a:spcPts val="0"/>
              </a:spcBef>
              <a:spcAft>
                <a:spcPts val="0"/>
              </a:spcAft>
              <a:buClr>
                <a:schemeClr val="dk1"/>
              </a:buClr>
              <a:buSzPts val="930"/>
              <a:buFont typeface="Arial"/>
              <a:buChar char="•"/>
            </a:pPr>
            <a:r>
              <a:rPr lang="en-US" sz="930" b="1"/>
              <a:t>Impact:</a:t>
            </a:r>
            <a:r>
              <a:rPr lang="en-US" sz="930"/>
              <a:t> Increased energy consumption, making the system less efficient and potentially limiting its application in power-sensitive environments like mobile or satellite systems.</a:t>
            </a:r>
            <a:endParaRPr/>
          </a:p>
          <a:p>
            <a:pPr marL="0" lvl="0" indent="0" algn="l" rtl="0">
              <a:lnSpc>
                <a:spcPct val="80000"/>
              </a:lnSpc>
              <a:spcBef>
                <a:spcPts val="0"/>
              </a:spcBef>
              <a:spcAft>
                <a:spcPts val="0"/>
              </a:spcAft>
              <a:buNone/>
            </a:pPr>
            <a:endParaRPr sz="930" b="1"/>
          </a:p>
          <a:p>
            <a:pPr marL="0" lvl="0" indent="0" algn="l" rtl="0">
              <a:lnSpc>
                <a:spcPct val="80000"/>
              </a:lnSpc>
              <a:spcBef>
                <a:spcPts val="0"/>
              </a:spcBef>
              <a:spcAft>
                <a:spcPts val="0"/>
              </a:spcAft>
              <a:buNone/>
            </a:pPr>
            <a:r>
              <a:rPr lang="en-US" sz="930" b="1"/>
              <a:t>Low Spurious-Free Dynamic Range (SFDR):</a:t>
            </a:r>
            <a:endParaRPr sz="930"/>
          </a:p>
          <a:p>
            <a:pPr marL="0" lvl="0" indent="-59055" algn="l" rtl="0">
              <a:lnSpc>
                <a:spcPct val="80000"/>
              </a:lnSpc>
              <a:spcBef>
                <a:spcPts val="0"/>
              </a:spcBef>
              <a:spcAft>
                <a:spcPts val="0"/>
              </a:spcAft>
              <a:buClr>
                <a:schemeClr val="dk1"/>
              </a:buClr>
              <a:buSzPts val="930"/>
              <a:buFont typeface="Arial"/>
              <a:buChar char="•"/>
            </a:pPr>
            <a:r>
              <a:rPr lang="en-US" sz="930"/>
              <a:t>SFDR measures the range over which the system can process a signal without the interference of spurious tones or signals.</a:t>
            </a:r>
            <a:endParaRPr/>
          </a:p>
          <a:p>
            <a:pPr marL="0" lvl="0" indent="-59055" algn="l" rtl="0">
              <a:lnSpc>
                <a:spcPct val="80000"/>
              </a:lnSpc>
              <a:spcBef>
                <a:spcPts val="0"/>
              </a:spcBef>
              <a:spcAft>
                <a:spcPts val="0"/>
              </a:spcAft>
              <a:buClr>
                <a:schemeClr val="dk1"/>
              </a:buClr>
              <a:buSzPts val="930"/>
              <a:buFont typeface="Arial"/>
              <a:buChar char="•"/>
            </a:pPr>
            <a:r>
              <a:rPr lang="en-US" sz="930"/>
              <a:t>A low SFDR means the system has a reduced ability to distinguish between the desired signal and unwanted harmonics or noise, leading to distortion.</a:t>
            </a:r>
            <a:endParaRPr/>
          </a:p>
          <a:p>
            <a:pPr marL="0" lvl="0" indent="-59055" algn="l" rtl="0">
              <a:lnSpc>
                <a:spcPct val="80000"/>
              </a:lnSpc>
              <a:spcBef>
                <a:spcPts val="0"/>
              </a:spcBef>
              <a:spcAft>
                <a:spcPts val="0"/>
              </a:spcAft>
              <a:buClr>
                <a:schemeClr val="dk1"/>
              </a:buClr>
              <a:buSzPts val="930"/>
              <a:buFont typeface="Arial"/>
              <a:buChar char="•"/>
            </a:pPr>
            <a:r>
              <a:rPr lang="en-US" sz="930" b="1"/>
              <a:t>Impact:</a:t>
            </a:r>
            <a:r>
              <a:rPr lang="en-US" sz="930"/>
              <a:t> Signal quality degradation, increased error rates, and decreased communication efficiency.</a:t>
            </a:r>
            <a:endParaRPr/>
          </a:p>
          <a:p>
            <a:pPr marL="0" lvl="0" indent="0" algn="l" rtl="0">
              <a:lnSpc>
                <a:spcPct val="80000"/>
              </a:lnSpc>
              <a:spcBef>
                <a:spcPts val="0"/>
              </a:spcBef>
              <a:spcAft>
                <a:spcPts val="0"/>
              </a:spcAft>
              <a:buNone/>
            </a:pPr>
            <a:endParaRPr sz="930" b="1"/>
          </a:p>
          <a:p>
            <a:pPr marL="0" lvl="0" indent="0" algn="l" rtl="0">
              <a:lnSpc>
                <a:spcPct val="80000"/>
              </a:lnSpc>
              <a:spcBef>
                <a:spcPts val="0"/>
              </a:spcBef>
              <a:spcAft>
                <a:spcPts val="0"/>
              </a:spcAft>
              <a:buNone/>
            </a:pPr>
            <a:r>
              <a:rPr lang="en-US" sz="930" b="1"/>
              <a:t>Insertion Loss in Transmission Lines:</a:t>
            </a:r>
            <a:endParaRPr sz="930"/>
          </a:p>
          <a:p>
            <a:pPr marL="0" lvl="0" indent="-59055" algn="l" rtl="0">
              <a:lnSpc>
                <a:spcPct val="80000"/>
              </a:lnSpc>
              <a:spcBef>
                <a:spcPts val="0"/>
              </a:spcBef>
              <a:spcAft>
                <a:spcPts val="0"/>
              </a:spcAft>
              <a:buClr>
                <a:schemeClr val="dk1"/>
              </a:buClr>
              <a:buSzPts val="930"/>
              <a:buFont typeface="Arial"/>
              <a:buChar char="•"/>
            </a:pPr>
            <a:r>
              <a:rPr lang="en-US" sz="930"/>
              <a:t>Insertion loss refers to the reduction in signal strength as it passes through transmission lines or other components like connectors and switches.</a:t>
            </a:r>
            <a:endParaRPr/>
          </a:p>
          <a:p>
            <a:pPr marL="0" lvl="0" indent="-59055" algn="l" rtl="0">
              <a:lnSpc>
                <a:spcPct val="80000"/>
              </a:lnSpc>
              <a:spcBef>
                <a:spcPts val="0"/>
              </a:spcBef>
              <a:spcAft>
                <a:spcPts val="0"/>
              </a:spcAft>
              <a:buClr>
                <a:schemeClr val="dk1"/>
              </a:buClr>
              <a:buSzPts val="930"/>
              <a:buFont typeface="Arial"/>
              <a:buChar char="•"/>
            </a:pPr>
            <a:r>
              <a:rPr lang="en-US" sz="930"/>
              <a:t>It is measured as the difference between the input and output signal strength.</a:t>
            </a:r>
            <a:endParaRPr/>
          </a:p>
          <a:p>
            <a:pPr marL="0" lvl="0" indent="-59055" algn="l" rtl="0">
              <a:lnSpc>
                <a:spcPct val="80000"/>
              </a:lnSpc>
              <a:spcBef>
                <a:spcPts val="0"/>
              </a:spcBef>
              <a:spcAft>
                <a:spcPts val="0"/>
              </a:spcAft>
              <a:buClr>
                <a:schemeClr val="dk1"/>
              </a:buClr>
              <a:buSzPts val="930"/>
              <a:buFont typeface="Arial"/>
              <a:buChar char="•"/>
            </a:pPr>
            <a:r>
              <a:rPr lang="en-US" sz="930" b="1"/>
              <a:t>Impact:</a:t>
            </a:r>
            <a:r>
              <a:rPr lang="en-US" sz="930"/>
              <a:t> Decreased signal power reaching the receiver, necessitating amplification and leading to potential signal distortion or loss of data.</a:t>
            </a:r>
            <a:endParaRPr/>
          </a:p>
          <a:p>
            <a:pPr marL="0" lvl="0" indent="0" algn="l" rtl="0">
              <a:lnSpc>
                <a:spcPct val="80000"/>
              </a:lnSpc>
              <a:spcBef>
                <a:spcPts val="0"/>
              </a:spcBef>
              <a:spcAft>
                <a:spcPts val="0"/>
              </a:spcAft>
              <a:buNone/>
            </a:pPr>
            <a:endParaRPr sz="930" b="1"/>
          </a:p>
          <a:p>
            <a:pPr marL="0" lvl="0" indent="0" algn="l" rtl="0">
              <a:lnSpc>
                <a:spcPct val="80000"/>
              </a:lnSpc>
              <a:spcBef>
                <a:spcPts val="0"/>
              </a:spcBef>
              <a:spcAft>
                <a:spcPts val="0"/>
              </a:spcAft>
              <a:buNone/>
            </a:pPr>
            <a:r>
              <a:rPr lang="en-US" sz="930" b="1"/>
              <a:t>Noise Figure and Signal-to-Noise Ratio (SNR) Issues:</a:t>
            </a:r>
            <a:endParaRPr sz="930"/>
          </a:p>
          <a:p>
            <a:pPr marL="0" lvl="0" indent="-59055" algn="l" rtl="0">
              <a:lnSpc>
                <a:spcPct val="80000"/>
              </a:lnSpc>
              <a:spcBef>
                <a:spcPts val="0"/>
              </a:spcBef>
              <a:spcAft>
                <a:spcPts val="0"/>
              </a:spcAft>
              <a:buClr>
                <a:schemeClr val="dk1"/>
              </a:buClr>
              <a:buSzPts val="930"/>
              <a:buFont typeface="Arial"/>
              <a:buChar char="•"/>
            </a:pPr>
            <a:r>
              <a:rPr lang="en-US" sz="930"/>
              <a:t>The noise figure is a measure of how much noise a system introduces into the signal.</a:t>
            </a:r>
            <a:endParaRPr/>
          </a:p>
          <a:p>
            <a:pPr marL="0" lvl="0" indent="-59055" algn="l" rtl="0">
              <a:lnSpc>
                <a:spcPct val="80000"/>
              </a:lnSpc>
              <a:spcBef>
                <a:spcPts val="0"/>
              </a:spcBef>
              <a:spcAft>
                <a:spcPts val="0"/>
              </a:spcAft>
              <a:buClr>
                <a:schemeClr val="dk1"/>
              </a:buClr>
              <a:buSzPts val="930"/>
              <a:buFont typeface="Arial"/>
              <a:buChar char="•"/>
            </a:pPr>
            <a:r>
              <a:rPr lang="en-US" sz="930"/>
              <a:t>A high noise figure degrades the </a:t>
            </a:r>
            <a:r>
              <a:rPr lang="en-US" sz="930" b="1"/>
              <a:t>Signal-to-Noise Ratio (SNR)</a:t>
            </a:r>
            <a:r>
              <a:rPr lang="en-US" sz="930"/>
              <a:t>, making it harder for the receiver to distinguish between the signal and background noise.</a:t>
            </a:r>
            <a:endParaRPr/>
          </a:p>
          <a:p>
            <a:pPr marL="0" lvl="0" indent="-59055" algn="l" rtl="0">
              <a:lnSpc>
                <a:spcPct val="80000"/>
              </a:lnSpc>
              <a:spcBef>
                <a:spcPts val="0"/>
              </a:spcBef>
              <a:spcAft>
                <a:spcPts val="0"/>
              </a:spcAft>
              <a:buClr>
                <a:schemeClr val="dk1"/>
              </a:buClr>
              <a:buSzPts val="930"/>
              <a:buFont typeface="Arial"/>
              <a:buChar char="•"/>
            </a:pPr>
            <a:r>
              <a:rPr lang="en-US" sz="930" b="1"/>
              <a:t>Impact:</a:t>
            </a:r>
            <a:r>
              <a:rPr lang="en-US" sz="930"/>
              <a:t> Reduced sensitivity of the receiver, leading to lower data rates, increased error rates, and degraded performance in weak signal conditions.</a:t>
            </a:r>
            <a:endParaRPr/>
          </a:p>
          <a:p>
            <a:pPr marL="0" lvl="0" indent="0" algn="l" rtl="0">
              <a:lnSpc>
                <a:spcPct val="80000"/>
              </a:lnSpc>
              <a:spcBef>
                <a:spcPts val="0"/>
              </a:spcBef>
              <a:spcAft>
                <a:spcPts val="0"/>
              </a:spcAft>
              <a:buNone/>
            </a:pPr>
            <a:endParaRPr sz="930"/>
          </a:p>
        </p:txBody>
      </p:sp>
      <p:sp>
        <p:nvSpPr>
          <p:cNvPr id="118" name="Google Shape;118;p4:notes"/>
          <p:cNvSpPr txBox="1">
            <a:spLocks noGrp="1"/>
          </p:cNvSpPr>
          <p:nvPr>
            <p:ph type="hdr" idx="3"/>
          </p:nvPr>
        </p:nvSpPr>
        <p:spPr>
          <a:xfrm>
            <a:off x="0" y="0"/>
            <a:ext cx="2971800" cy="4572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9" name="Google Shape;119;p4:notes"/>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US"/>
              <a:t>14-Oct-24</a:t>
            </a:r>
            <a:endParaRPr/>
          </a:p>
        </p:txBody>
      </p:sp>
      <p:sp>
        <p:nvSpPr>
          <p:cNvPr id="120" name="Google Shape;120;p4:notes"/>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endParaRPr/>
          </a:p>
        </p:txBody>
      </p:sp>
      <p:sp>
        <p:nvSpPr>
          <p:cNvPr id="121" name="Google Shape;121;p4: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p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0" name="Google Shape;130;p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lnSpc>
                <a:spcPct val="80000"/>
              </a:lnSpc>
              <a:spcBef>
                <a:spcPts val="0"/>
              </a:spcBef>
              <a:spcAft>
                <a:spcPts val="0"/>
              </a:spcAft>
              <a:buNone/>
            </a:pPr>
            <a:r>
              <a:rPr lang="en-US" sz="839" b="1"/>
              <a:t>Simulating and Reducing Phase Noise in Local Oscillators Using Phase-Locked Loops (PLLs):</a:t>
            </a:r>
            <a:endParaRPr sz="839"/>
          </a:p>
          <a:p>
            <a:pPr marL="0" lvl="0" indent="-53276" algn="l" rtl="0">
              <a:lnSpc>
                <a:spcPct val="80000"/>
              </a:lnSpc>
              <a:spcBef>
                <a:spcPts val="0"/>
              </a:spcBef>
              <a:spcAft>
                <a:spcPts val="0"/>
              </a:spcAft>
              <a:buClr>
                <a:schemeClr val="dk1"/>
              </a:buClr>
              <a:buSzPts val="839"/>
              <a:buFont typeface="Arial"/>
              <a:buChar char="•"/>
            </a:pPr>
            <a:r>
              <a:rPr lang="en-US" sz="839" b="1"/>
              <a:t>Phase-Locked Loop (PLL):</a:t>
            </a:r>
            <a:r>
              <a:rPr lang="en-US" sz="839"/>
              <a:t> A feedback control system that locks the phase of an oscillator to the phase of a reference signal, reducing phase noise.</a:t>
            </a:r>
            <a:endParaRPr/>
          </a:p>
          <a:p>
            <a:pPr marL="0" lvl="0" indent="-53276" algn="l" rtl="0">
              <a:lnSpc>
                <a:spcPct val="80000"/>
              </a:lnSpc>
              <a:spcBef>
                <a:spcPts val="0"/>
              </a:spcBef>
              <a:spcAft>
                <a:spcPts val="0"/>
              </a:spcAft>
              <a:buClr>
                <a:schemeClr val="dk1"/>
              </a:buClr>
              <a:buSzPts val="839"/>
              <a:buFont typeface="Arial"/>
              <a:buChar char="•"/>
            </a:pPr>
            <a:r>
              <a:rPr lang="en-US" sz="839" b="1"/>
              <a:t>Simulation Focus:</a:t>
            </a:r>
            <a:r>
              <a:rPr lang="en-US" sz="839"/>
              <a:t> Model the behavior of PLLs in Simulink to evaluate how they reduce phase noise in high-frequency oscillators. Key parameters include loop bandwidth, phase detector performance, and noise reduction efficiency.</a:t>
            </a:r>
            <a:endParaRPr/>
          </a:p>
          <a:p>
            <a:pPr marL="0" lvl="0" indent="-53276" algn="l" rtl="0">
              <a:lnSpc>
                <a:spcPct val="80000"/>
              </a:lnSpc>
              <a:spcBef>
                <a:spcPts val="0"/>
              </a:spcBef>
              <a:spcAft>
                <a:spcPts val="0"/>
              </a:spcAft>
              <a:buClr>
                <a:schemeClr val="dk1"/>
              </a:buClr>
              <a:buSzPts val="839"/>
              <a:buFont typeface="Arial"/>
              <a:buChar char="•"/>
            </a:pPr>
            <a:r>
              <a:rPr lang="en-US" sz="839" b="1"/>
              <a:t>Goal:</a:t>
            </a:r>
            <a:r>
              <a:rPr lang="en-US" sz="839"/>
              <a:t> Achieve a stable oscillator output with minimal phase fluctuations, improving signal clarity and reducing error rates in communication systems.</a:t>
            </a:r>
            <a:endParaRPr/>
          </a:p>
          <a:p>
            <a:pPr marL="0" lvl="0" indent="0" algn="l" rtl="0">
              <a:lnSpc>
                <a:spcPct val="80000"/>
              </a:lnSpc>
              <a:spcBef>
                <a:spcPts val="0"/>
              </a:spcBef>
              <a:spcAft>
                <a:spcPts val="0"/>
              </a:spcAft>
              <a:buNone/>
            </a:pPr>
            <a:endParaRPr sz="839" b="1"/>
          </a:p>
          <a:p>
            <a:pPr marL="0" lvl="0" indent="0" algn="l" rtl="0">
              <a:lnSpc>
                <a:spcPct val="80000"/>
              </a:lnSpc>
              <a:spcBef>
                <a:spcPts val="0"/>
              </a:spcBef>
              <a:spcAft>
                <a:spcPts val="0"/>
              </a:spcAft>
              <a:buNone/>
            </a:pPr>
            <a:r>
              <a:rPr lang="en-US" sz="839" b="1"/>
              <a:t>Power Analysis of ADC-Less Analog Processing Designs and Assessing Power Savings:</a:t>
            </a:r>
            <a:endParaRPr sz="839"/>
          </a:p>
          <a:p>
            <a:pPr marL="0" lvl="0" indent="-53276" algn="l" rtl="0">
              <a:lnSpc>
                <a:spcPct val="80000"/>
              </a:lnSpc>
              <a:spcBef>
                <a:spcPts val="0"/>
              </a:spcBef>
              <a:spcAft>
                <a:spcPts val="0"/>
              </a:spcAft>
              <a:buClr>
                <a:schemeClr val="dk1"/>
              </a:buClr>
              <a:buSzPts val="839"/>
              <a:buFont typeface="Arial"/>
              <a:buChar char="•"/>
            </a:pPr>
            <a:r>
              <a:rPr lang="en-US" sz="839" b="1"/>
              <a:t>ADC-Less Design:</a:t>
            </a:r>
            <a:r>
              <a:rPr lang="en-US" sz="839"/>
              <a:t> Refers to avoiding power-hungry analog-to-digital converters by employing analog processing techniques (like direct demodulation).</a:t>
            </a:r>
            <a:endParaRPr/>
          </a:p>
          <a:p>
            <a:pPr marL="0" lvl="0" indent="-53276" algn="l" rtl="0">
              <a:lnSpc>
                <a:spcPct val="80000"/>
              </a:lnSpc>
              <a:spcBef>
                <a:spcPts val="0"/>
              </a:spcBef>
              <a:spcAft>
                <a:spcPts val="0"/>
              </a:spcAft>
              <a:buClr>
                <a:schemeClr val="dk1"/>
              </a:buClr>
              <a:buSzPts val="839"/>
              <a:buFont typeface="Arial"/>
              <a:buChar char="•"/>
            </a:pPr>
            <a:r>
              <a:rPr lang="en-US" sz="839" b="1"/>
              <a:t>Simulation Focus:</a:t>
            </a:r>
            <a:r>
              <a:rPr lang="en-US" sz="839"/>
              <a:t> Use Simulink to model and compare the power consumption of traditional ADC-based systems with ADC-less designs.</a:t>
            </a:r>
            <a:endParaRPr/>
          </a:p>
          <a:p>
            <a:pPr marL="0" lvl="0" indent="-53276" algn="l" rtl="0">
              <a:lnSpc>
                <a:spcPct val="80000"/>
              </a:lnSpc>
              <a:spcBef>
                <a:spcPts val="0"/>
              </a:spcBef>
              <a:spcAft>
                <a:spcPts val="0"/>
              </a:spcAft>
              <a:buClr>
                <a:schemeClr val="dk1"/>
              </a:buClr>
              <a:buSzPts val="839"/>
              <a:buFont typeface="Arial"/>
              <a:buChar char="•"/>
            </a:pPr>
            <a:r>
              <a:rPr lang="en-US" sz="839" b="1"/>
              <a:t>Goal:</a:t>
            </a:r>
            <a:r>
              <a:rPr lang="en-US" sz="839"/>
              <a:t> Demonstrate significant power savings in high-frequency antenna systems by bypassing ADCs, making the system more energy-efficient.</a:t>
            </a:r>
            <a:endParaRPr/>
          </a:p>
          <a:p>
            <a:pPr marL="0" lvl="0" indent="0" algn="l" rtl="0">
              <a:lnSpc>
                <a:spcPct val="80000"/>
              </a:lnSpc>
              <a:spcBef>
                <a:spcPts val="0"/>
              </a:spcBef>
              <a:spcAft>
                <a:spcPts val="0"/>
              </a:spcAft>
              <a:buNone/>
            </a:pPr>
            <a:endParaRPr sz="839" b="1"/>
          </a:p>
          <a:p>
            <a:pPr marL="0" lvl="0" indent="0" algn="l" rtl="0">
              <a:lnSpc>
                <a:spcPct val="80000"/>
              </a:lnSpc>
              <a:spcBef>
                <a:spcPts val="0"/>
              </a:spcBef>
              <a:spcAft>
                <a:spcPts val="0"/>
              </a:spcAft>
              <a:buNone/>
            </a:pPr>
            <a:r>
              <a:rPr lang="en-US" sz="839" b="1"/>
              <a:t>Improving SFDR by Adopting Direct Demodulation Techniques in Simulink:</a:t>
            </a:r>
            <a:endParaRPr sz="839"/>
          </a:p>
          <a:p>
            <a:pPr marL="0" lvl="0" indent="-53276" algn="l" rtl="0">
              <a:lnSpc>
                <a:spcPct val="80000"/>
              </a:lnSpc>
              <a:spcBef>
                <a:spcPts val="0"/>
              </a:spcBef>
              <a:spcAft>
                <a:spcPts val="0"/>
              </a:spcAft>
              <a:buClr>
                <a:schemeClr val="dk1"/>
              </a:buClr>
              <a:buSzPts val="839"/>
              <a:buFont typeface="Arial"/>
              <a:buChar char="•"/>
            </a:pPr>
            <a:r>
              <a:rPr lang="en-US" sz="839" b="1"/>
              <a:t>Direct Demodulation:</a:t>
            </a:r>
            <a:r>
              <a:rPr lang="en-US" sz="839"/>
              <a:t> A technique that eliminates the need for ADCs by demodulating signals directly in the analog domain, improving the system's spurious-free dynamic range (SFDR).</a:t>
            </a:r>
            <a:endParaRPr/>
          </a:p>
          <a:p>
            <a:pPr marL="0" lvl="0" indent="-53276" algn="l" rtl="0">
              <a:lnSpc>
                <a:spcPct val="80000"/>
              </a:lnSpc>
              <a:spcBef>
                <a:spcPts val="0"/>
              </a:spcBef>
              <a:spcAft>
                <a:spcPts val="0"/>
              </a:spcAft>
              <a:buClr>
                <a:schemeClr val="dk1"/>
              </a:buClr>
              <a:buSzPts val="839"/>
              <a:buFont typeface="Arial"/>
              <a:buChar char="•"/>
            </a:pPr>
            <a:r>
              <a:rPr lang="en-US" sz="839" b="1"/>
              <a:t>Simulation Focus:</a:t>
            </a:r>
            <a:r>
              <a:rPr lang="en-US" sz="839"/>
              <a:t> Implement direct demodulation in Simulink, test various modulation schemes (e.g., BPSK, QAM), and evaluate the SFDR performance.</a:t>
            </a:r>
            <a:endParaRPr/>
          </a:p>
          <a:p>
            <a:pPr marL="0" lvl="0" indent="-53276" algn="l" rtl="0">
              <a:lnSpc>
                <a:spcPct val="80000"/>
              </a:lnSpc>
              <a:spcBef>
                <a:spcPts val="0"/>
              </a:spcBef>
              <a:spcAft>
                <a:spcPts val="0"/>
              </a:spcAft>
              <a:buClr>
                <a:schemeClr val="dk1"/>
              </a:buClr>
              <a:buSzPts val="839"/>
              <a:buFont typeface="Arial"/>
              <a:buChar char="•"/>
            </a:pPr>
            <a:r>
              <a:rPr lang="en-US" sz="839" b="1"/>
              <a:t>Goal:</a:t>
            </a:r>
            <a:r>
              <a:rPr lang="en-US" sz="839"/>
              <a:t> Improve the system’s ability to handle large dynamic ranges without introducing spurious tones, enhancing signal quality.</a:t>
            </a:r>
            <a:endParaRPr/>
          </a:p>
          <a:p>
            <a:pPr marL="0" lvl="0" indent="0" algn="l" rtl="0">
              <a:lnSpc>
                <a:spcPct val="80000"/>
              </a:lnSpc>
              <a:spcBef>
                <a:spcPts val="0"/>
              </a:spcBef>
              <a:spcAft>
                <a:spcPts val="0"/>
              </a:spcAft>
              <a:buNone/>
            </a:pPr>
            <a:endParaRPr sz="839" b="1"/>
          </a:p>
          <a:p>
            <a:pPr marL="0" lvl="0" indent="0" algn="l" rtl="0">
              <a:lnSpc>
                <a:spcPct val="80000"/>
              </a:lnSpc>
              <a:spcBef>
                <a:spcPts val="0"/>
              </a:spcBef>
              <a:spcAft>
                <a:spcPts val="0"/>
              </a:spcAft>
              <a:buNone/>
            </a:pPr>
            <a:r>
              <a:rPr lang="en-US" sz="839" b="1"/>
              <a:t>Modeling and Minimizing Insertion Loss in Antenna Transmission Lines:</a:t>
            </a:r>
            <a:endParaRPr sz="839"/>
          </a:p>
          <a:p>
            <a:pPr marL="0" lvl="0" indent="-53276" algn="l" rtl="0">
              <a:lnSpc>
                <a:spcPct val="80000"/>
              </a:lnSpc>
              <a:spcBef>
                <a:spcPts val="0"/>
              </a:spcBef>
              <a:spcAft>
                <a:spcPts val="0"/>
              </a:spcAft>
              <a:buClr>
                <a:schemeClr val="dk1"/>
              </a:buClr>
              <a:buSzPts val="839"/>
              <a:buFont typeface="Arial"/>
              <a:buChar char="•"/>
            </a:pPr>
            <a:r>
              <a:rPr lang="en-US" sz="839" b="1"/>
              <a:t>Insertion Loss:</a:t>
            </a:r>
            <a:r>
              <a:rPr lang="en-US" sz="839"/>
              <a:t> Represents signal power loss as it travels through transmission lines due to resistance, impedance mismatch, or other factors.</a:t>
            </a:r>
            <a:endParaRPr/>
          </a:p>
          <a:p>
            <a:pPr marL="0" lvl="0" indent="-53276" algn="l" rtl="0">
              <a:lnSpc>
                <a:spcPct val="80000"/>
              </a:lnSpc>
              <a:spcBef>
                <a:spcPts val="0"/>
              </a:spcBef>
              <a:spcAft>
                <a:spcPts val="0"/>
              </a:spcAft>
              <a:buClr>
                <a:schemeClr val="dk1"/>
              </a:buClr>
              <a:buSzPts val="839"/>
              <a:buFont typeface="Arial"/>
              <a:buChar char="•"/>
            </a:pPr>
            <a:r>
              <a:rPr lang="en-US" sz="839" b="1"/>
              <a:t>Simulation Focus:</a:t>
            </a:r>
            <a:r>
              <a:rPr lang="en-US" sz="839"/>
              <a:t> Model transmission lines in Simulink and optimize their properties (length, material, impedance) to minimize insertion loss.</a:t>
            </a:r>
            <a:endParaRPr/>
          </a:p>
          <a:p>
            <a:pPr marL="0" lvl="0" indent="-53276" algn="l" rtl="0">
              <a:lnSpc>
                <a:spcPct val="80000"/>
              </a:lnSpc>
              <a:spcBef>
                <a:spcPts val="0"/>
              </a:spcBef>
              <a:spcAft>
                <a:spcPts val="0"/>
              </a:spcAft>
              <a:buClr>
                <a:schemeClr val="dk1"/>
              </a:buClr>
              <a:buSzPts val="839"/>
              <a:buFont typeface="Arial"/>
              <a:buChar char="•"/>
            </a:pPr>
            <a:r>
              <a:rPr lang="en-US" sz="839" b="1"/>
              <a:t>Goal:</a:t>
            </a:r>
            <a:r>
              <a:rPr lang="en-US" sz="839"/>
              <a:t> Ensure that more signal power reaches the receiver, improving overall system efficiency and reducing the need for additional amplification.</a:t>
            </a:r>
            <a:endParaRPr/>
          </a:p>
          <a:p>
            <a:pPr marL="0" lvl="0" indent="0" algn="l" rtl="0">
              <a:lnSpc>
                <a:spcPct val="80000"/>
              </a:lnSpc>
              <a:spcBef>
                <a:spcPts val="0"/>
              </a:spcBef>
              <a:spcAft>
                <a:spcPts val="0"/>
              </a:spcAft>
              <a:buNone/>
            </a:pPr>
            <a:endParaRPr sz="839" b="1"/>
          </a:p>
          <a:p>
            <a:pPr marL="0" lvl="0" indent="0" algn="l" rtl="0">
              <a:lnSpc>
                <a:spcPct val="80000"/>
              </a:lnSpc>
              <a:spcBef>
                <a:spcPts val="0"/>
              </a:spcBef>
              <a:spcAft>
                <a:spcPts val="0"/>
              </a:spcAft>
              <a:buNone/>
            </a:pPr>
            <a:r>
              <a:rPr lang="en-US" sz="839" b="1"/>
              <a:t>Analyzing the Noise Figure and its Effect on Overall System Performance:</a:t>
            </a:r>
            <a:endParaRPr sz="839"/>
          </a:p>
          <a:p>
            <a:pPr marL="0" lvl="0" indent="-53276" algn="l" rtl="0">
              <a:lnSpc>
                <a:spcPct val="80000"/>
              </a:lnSpc>
              <a:spcBef>
                <a:spcPts val="0"/>
              </a:spcBef>
              <a:spcAft>
                <a:spcPts val="0"/>
              </a:spcAft>
              <a:buClr>
                <a:schemeClr val="dk1"/>
              </a:buClr>
              <a:buSzPts val="839"/>
              <a:buFont typeface="Arial"/>
              <a:buChar char="•"/>
            </a:pPr>
            <a:r>
              <a:rPr lang="en-US" sz="839" b="1"/>
              <a:t>Noise Figure:</a:t>
            </a:r>
            <a:r>
              <a:rPr lang="en-US" sz="839"/>
              <a:t> A metric that quantifies how much noise a component or system adds to the signal.</a:t>
            </a:r>
            <a:endParaRPr/>
          </a:p>
          <a:p>
            <a:pPr marL="0" lvl="0" indent="-53276" algn="l" rtl="0">
              <a:lnSpc>
                <a:spcPct val="80000"/>
              </a:lnSpc>
              <a:spcBef>
                <a:spcPts val="0"/>
              </a:spcBef>
              <a:spcAft>
                <a:spcPts val="0"/>
              </a:spcAft>
              <a:buClr>
                <a:schemeClr val="dk1"/>
              </a:buClr>
              <a:buSzPts val="839"/>
              <a:buFont typeface="Arial"/>
              <a:buChar char="•"/>
            </a:pPr>
            <a:r>
              <a:rPr lang="en-US" sz="839" b="1"/>
              <a:t>Simulation Focus:</a:t>
            </a:r>
            <a:r>
              <a:rPr lang="en-US" sz="839"/>
              <a:t> Analyze how the noise figure impacts the signal-to-noise ratio (SNR) in the system, particularly in the receiver chain, using Simulink.</a:t>
            </a:r>
            <a:endParaRPr/>
          </a:p>
          <a:p>
            <a:pPr marL="0" lvl="0" indent="-53276" algn="l" rtl="0">
              <a:lnSpc>
                <a:spcPct val="80000"/>
              </a:lnSpc>
              <a:spcBef>
                <a:spcPts val="0"/>
              </a:spcBef>
              <a:spcAft>
                <a:spcPts val="0"/>
              </a:spcAft>
              <a:buClr>
                <a:schemeClr val="dk1"/>
              </a:buClr>
              <a:buSzPts val="839"/>
              <a:buFont typeface="Arial"/>
              <a:buChar char="•"/>
            </a:pPr>
            <a:r>
              <a:rPr lang="en-US" sz="839" b="1"/>
              <a:t>Goal:</a:t>
            </a:r>
            <a:r>
              <a:rPr lang="en-US" sz="839"/>
              <a:t> Optimize the noise figure to enhance the SNR, resulting in improved system sensitivity and performance, especially in weak signal environments.</a:t>
            </a:r>
            <a:endParaRPr/>
          </a:p>
          <a:p>
            <a:pPr marL="0" lvl="0" indent="0" algn="l" rtl="0">
              <a:lnSpc>
                <a:spcPct val="80000"/>
              </a:lnSpc>
              <a:spcBef>
                <a:spcPts val="0"/>
              </a:spcBef>
              <a:spcAft>
                <a:spcPts val="0"/>
              </a:spcAft>
              <a:buNone/>
            </a:pPr>
            <a:endParaRPr sz="839"/>
          </a:p>
        </p:txBody>
      </p:sp>
      <p:sp>
        <p:nvSpPr>
          <p:cNvPr id="131" name="Google Shape;131;p5:notes"/>
          <p:cNvSpPr txBox="1">
            <a:spLocks noGrp="1"/>
          </p:cNvSpPr>
          <p:nvPr>
            <p:ph type="hdr" idx="3"/>
          </p:nvPr>
        </p:nvSpPr>
        <p:spPr>
          <a:xfrm>
            <a:off x="0" y="0"/>
            <a:ext cx="2971800" cy="4572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2" name="Google Shape;132;p5:notes"/>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p>
            <a:pPr marL="0" lvl="0" indent="0" algn="r" rtl="0">
              <a:spcBef>
                <a:spcPts val="0"/>
              </a:spcBef>
              <a:spcAft>
                <a:spcPts val="0"/>
              </a:spcAft>
              <a:buNone/>
            </a:pPr>
            <a:r>
              <a:rPr lang="en-US"/>
              <a:t>14-Oct-24</a:t>
            </a:r>
            <a:endParaRPr/>
          </a:p>
        </p:txBody>
      </p:sp>
      <p:sp>
        <p:nvSpPr>
          <p:cNvPr id="133" name="Google Shape;133;p5:notes"/>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endParaRPr/>
          </a:p>
        </p:txBody>
      </p:sp>
      <p:sp>
        <p:nvSpPr>
          <p:cNvPr id="134" name="Google Shape;134;p5: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32500" lnSpcReduction="20000"/>
          </a:bodyPr>
          <a:lstStyle/>
          <a:p>
            <a:pPr marL="457200" algn="ctr">
              <a:lnSpc>
                <a:spcPct val="107000"/>
              </a:lnSpc>
            </a:pPr>
            <a:r>
              <a:rPr lang="en-IN" sz="1800" i="1" kern="100" dirty="0">
                <a:effectLst/>
                <a:latin typeface="Calibri" panose="020F0502020204030204" pitchFamily="34" charset="0"/>
                <a:ea typeface="Calibri" panose="020F0502020204030204" pitchFamily="34" charset="0"/>
                <a:cs typeface="Times New Roman" panose="02020603050405020304" pitchFamily="18" charset="0"/>
              </a:rPr>
              <a:t>Received 24 August 2024; revised 1 December 2024 and 31 December 2024; accepted 8 January 2025. Date of publication 13 January 2025; Date of current version 23 January 2025.</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457200" algn="ctr">
              <a:lnSpc>
                <a:spcPct val="107000"/>
              </a:lnSpc>
            </a:pPr>
            <a:r>
              <a:rPr lang="en-IN" sz="1800" b="1" kern="100" dirty="0">
                <a:effectLst/>
                <a:latin typeface="Calibri" panose="020F0502020204030204" pitchFamily="34" charset="0"/>
                <a:ea typeface="Calibri" panose="020F0502020204030204" pitchFamily="34" charset="0"/>
                <a:cs typeface="Times New Roman" panose="02020603050405020304" pitchFamily="18" charset="0"/>
              </a:rPr>
              <a:t> </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457200">
              <a:lnSpc>
                <a:spcPct val="107000"/>
              </a:lnSpc>
            </a:pPr>
            <a:r>
              <a:rPr lang="en-IN" sz="1800" b="1" kern="100" dirty="0">
                <a:effectLst/>
                <a:latin typeface="Calibri" panose="020F0502020204030204" pitchFamily="34" charset="0"/>
                <a:ea typeface="Calibri" panose="020F0502020204030204" pitchFamily="34" charset="0"/>
                <a:cs typeface="Times New Roman" panose="02020603050405020304" pitchFamily="18" charset="0"/>
              </a:rPr>
              <a:t>INTRODUCTION:</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457200">
              <a:lnSpc>
                <a:spcPct val="107000"/>
              </a:lnSpc>
            </a:pP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Millions globally suffer from upper limb difference (ULD), impacting their capabilities. Myoelectric prostheses offer a solution by utilizing electromyography to control artificial hands. However, despite advancements, multi-articulating myoelectric hands show minimal benefit over simpler prostheses, leading to user dissatisfaction due to limited functionality and dexterity. The anthropomorphic design, aiming to replicate human hands, is constrained by mechanical and control limitations. Functional, non-humanoid designs are rare but could offer advantages, especially with modularity for task-specific applications.</a:t>
            </a:r>
          </a:p>
          <a:p>
            <a:pPr marL="457200">
              <a:lnSpc>
                <a:spcPct val="107000"/>
              </a:lnSpc>
            </a:pP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 </a:t>
            </a:r>
          </a:p>
          <a:p>
            <a:pPr marL="457200">
              <a:lnSpc>
                <a:spcPct val="107000"/>
              </a:lnSpc>
            </a:pPr>
            <a:r>
              <a:rPr lang="en-IN" sz="1800" b="1" kern="100" dirty="0">
                <a:effectLst/>
                <a:latin typeface="Calibri" panose="020F0502020204030204" pitchFamily="34" charset="0"/>
                <a:ea typeface="Calibri" panose="020F0502020204030204" pitchFamily="34" charset="0"/>
                <a:cs typeface="Times New Roman" panose="02020603050405020304" pitchFamily="18" charset="0"/>
              </a:rPr>
              <a:t>USES:</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457200">
              <a:lnSpc>
                <a:spcPct val="107000"/>
              </a:lnSpc>
            </a:pP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It introduces four open-source modular non-humanoid devices for flicking, screwdriving, picking/placing flat objects, and cutting paper. These devices replace fingers on the OLYMPIC hand, a modular prosthesis. The devices are designed to perform tasks that are difficult for conventional humanoid prosthetic hands. Each task requires complex coordination at the joint level of a humanoid hand in order to produce a relatively simple task-space output. The devices are designed to perform actions that have meaningful social and functional uses in many areas of daily life, but are difficult-to-impossible with conventional prostheses: flicking, screwdriving, picking and placing small flat objects, and using scissors.</a:t>
            </a:r>
          </a:p>
          <a:p>
            <a:pPr marL="457200">
              <a:lnSpc>
                <a:spcPct val="107000"/>
              </a:lnSpc>
            </a:pPr>
            <a:r>
              <a:rPr lang="en-IN" sz="1800" b="1" kern="100" dirty="0">
                <a:effectLst/>
                <a:latin typeface="Calibri" panose="020F0502020204030204" pitchFamily="34" charset="0"/>
                <a:ea typeface="Calibri" panose="020F0502020204030204" pitchFamily="34" charset="0"/>
                <a:cs typeface="Times New Roman" panose="02020603050405020304" pitchFamily="18" charset="0"/>
              </a:rPr>
              <a:t>ADVANTAGES:</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buFont typeface="Calibri" panose="020F0502020204030204" pitchFamily="34" charset="0"/>
              <a:buChar char="•"/>
            </a:pP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Non-humanoid designs improve task performance, reduce user compensatory movement, and decrease task load compared to humanoid prostheses.</a:t>
            </a:r>
          </a:p>
          <a:p>
            <a:pPr marL="342900" lvl="0" indent="-342900">
              <a:lnSpc>
                <a:spcPct val="107000"/>
              </a:lnSpc>
              <a:buFont typeface="Calibri" panose="020F0502020204030204" pitchFamily="34" charset="0"/>
              <a:buChar char="•"/>
            </a:pP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Case studies validate these benefits, emphasizing the importance of monitoring user task load for positive rehabilitation outcomes.</a:t>
            </a:r>
          </a:p>
          <a:p>
            <a:pPr marL="342900" lvl="0" indent="-342900">
              <a:lnSpc>
                <a:spcPct val="107000"/>
              </a:lnSpc>
              <a:buFont typeface="Calibri" panose="020F0502020204030204" pitchFamily="34" charset="0"/>
              <a:buChar char="•"/>
            </a:pP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Humanoid prostheses were outperformed by non-humanoid devices in all tasks.</a:t>
            </a:r>
          </a:p>
          <a:p>
            <a:pPr marL="342900" lvl="0" indent="-342900">
              <a:lnSpc>
                <a:spcPct val="107000"/>
              </a:lnSpc>
              <a:buFont typeface="Calibri" panose="020F0502020204030204" pitchFamily="34" charset="0"/>
              <a:buChar char="•"/>
            </a:pP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Non-humanoid terminal devices reduced compensatory motion, allowing participants to complete timed tasks and precision tasks with higher accuracy.</a:t>
            </a:r>
          </a:p>
          <a:p>
            <a:pPr marL="342900" lvl="0" indent="-342900">
              <a:lnSpc>
                <a:spcPct val="107000"/>
              </a:lnSpc>
              <a:buFont typeface="Calibri" panose="020F0502020204030204" pitchFamily="34" charset="0"/>
              <a:buChar char="•"/>
            </a:pP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These reductions in mental, physical, and frustration demands.</a:t>
            </a:r>
          </a:p>
          <a:p>
            <a:pPr marL="457200">
              <a:lnSpc>
                <a:spcPct val="107000"/>
              </a:lnSpc>
            </a:pPr>
            <a:r>
              <a:rPr lang="en-IN" sz="1800" b="1" kern="100" dirty="0">
                <a:effectLst/>
                <a:latin typeface="Calibri" panose="020F0502020204030204" pitchFamily="34" charset="0"/>
                <a:ea typeface="Calibri" panose="020F0502020204030204" pitchFamily="34" charset="0"/>
                <a:cs typeface="Times New Roman" panose="02020603050405020304" pitchFamily="18" charset="0"/>
              </a:rPr>
              <a:t> </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457200">
              <a:lnSpc>
                <a:spcPct val="107000"/>
              </a:lnSpc>
            </a:pPr>
            <a:r>
              <a:rPr lang="en-IN" sz="1800" b="1" kern="100" dirty="0">
                <a:effectLst/>
                <a:latin typeface="Calibri" panose="020F0502020204030204" pitchFamily="34" charset="0"/>
                <a:ea typeface="Calibri" panose="020F0502020204030204" pitchFamily="34" charset="0"/>
                <a:cs typeface="Times New Roman" panose="02020603050405020304" pitchFamily="18" charset="0"/>
              </a:rPr>
              <a:t>DISADVANTAGES:</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buFont typeface="Calibri" panose="020F0502020204030204" pitchFamily="34" charset="0"/>
              <a:buChar char="•"/>
            </a:pP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Functionality for individual tasks limited by device specificity.</a:t>
            </a:r>
          </a:p>
          <a:p>
            <a:pPr marL="342900" lvl="0" indent="-342900">
              <a:lnSpc>
                <a:spcPct val="107000"/>
              </a:lnSpc>
              <a:buFont typeface="Calibri" panose="020F0502020204030204" pitchFamily="34" charset="0"/>
              <a:buChar char="•"/>
            </a:pP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Need for end effector change for daily functionality.</a:t>
            </a:r>
          </a:p>
          <a:p>
            <a:pPr marL="342900" lvl="0" indent="-342900">
              <a:lnSpc>
                <a:spcPct val="107000"/>
              </a:lnSpc>
              <a:buFont typeface="Calibri" panose="020F0502020204030204" pitchFamily="34" charset="0"/>
              <a:buChar char="•"/>
            </a:pP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Desire for anthropomorphic appearance for social acceptance.</a:t>
            </a:r>
          </a:p>
          <a:p>
            <a:pPr marL="457200">
              <a:lnSpc>
                <a:spcPct val="107000"/>
              </a:lnSpc>
            </a:pPr>
            <a:r>
              <a:rPr lang="en-IN" sz="1800" b="1" kern="100" dirty="0">
                <a:effectLst/>
                <a:latin typeface="Calibri" panose="020F0502020204030204" pitchFamily="34" charset="0"/>
                <a:ea typeface="Calibri" panose="020F0502020204030204" pitchFamily="34" charset="0"/>
                <a:cs typeface="Times New Roman" panose="02020603050405020304" pitchFamily="18" charset="0"/>
              </a:rPr>
              <a:t> </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457200">
              <a:lnSpc>
                <a:spcPct val="107000"/>
              </a:lnSpc>
            </a:pPr>
            <a:r>
              <a:rPr lang="en-IN" sz="1800" b="1" kern="100" dirty="0">
                <a:effectLst/>
                <a:latin typeface="Calibri" panose="020F0502020204030204" pitchFamily="34" charset="0"/>
                <a:ea typeface="Calibri" panose="020F0502020204030204" pitchFamily="34" charset="0"/>
                <a:cs typeface="Times New Roman" panose="02020603050405020304" pitchFamily="18" charset="0"/>
              </a:rPr>
              <a:t>Key Points:</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buSzPts val="1000"/>
              <a:buFont typeface="Symbol" panose="05050102010706020507" pitchFamily="18" charset="2"/>
              <a:buChar char=""/>
              <a:tabLst>
                <a:tab pos="457200" algn="l"/>
              </a:tabLst>
            </a:pPr>
            <a:r>
              <a:rPr lang="en-IN" sz="1800" b="1" kern="100" dirty="0">
                <a:effectLst/>
                <a:latin typeface="Calibri" panose="020F0502020204030204" pitchFamily="34" charset="0"/>
                <a:ea typeface="Calibri" panose="020F0502020204030204" pitchFamily="34" charset="0"/>
                <a:cs typeface="Times New Roman" panose="02020603050405020304" pitchFamily="18" charset="0"/>
              </a:rPr>
              <a:t>Problem:</a:t>
            </a: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 Myoelectric prosthetic hands have high rejection rates due to limited functionality and anthropomorphic design constraints.</a:t>
            </a:r>
          </a:p>
          <a:p>
            <a:pPr marL="342900" lvl="0" indent="-342900">
              <a:lnSpc>
                <a:spcPct val="107000"/>
              </a:lnSpc>
              <a:buSzPts val="1000"/>
              <a:buFont typeface="Symbol" panose="05050102010706020507" pitchFamily="18" charset="2"/>
              <a:buChar char=""/>
              <a:tabLst>
                <a:tab pos="457200" algn="l"/>
              </a:tabLst>
            </a:pPr>
            <a:r>
              <a:rPr lang="en-IN" sz="1800" b="1" kern="100" dirty="0">
                <a:effectLst/>
                <a:latin typeface="Calibri" panose="020F0502020204030204" pitchFamily="34" charset="0"/>
                <a:ea typeface="Calibri" panose="020F0502020204030204" pitchFamily="34" charset="0"/>
                <a:cs typeface="Times New Roman" panose="02020603050405020304" pitchFamily="18" charset="0"/>
              </a:rPr>
              <a:t>Solution:</a:t>
            </a: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 Develop and evaluate modular, non-humanoid terminal devices tailored for specific tasks.</a:t>
            </a:r>
          </a:p>
          <a:p>
            <a:pPr marL="342900" lvl="0" indent="-342900">
              <a:lnSpc>
                <a:spcPct val="107000"/>
              </a:lnSpc>
              <a:buSzPts val="1000"/>
              <a:buFont typeface="Symbol" panose="05050102010706020507" pitchFamily="18" charset="2"/>
              <a:buChar char=""/>
              <a:tabLst>
                <a:tab pos="457200" algn="l"/>
              </a:tabLst>
            </a:pPr>
            <a:r>
              <a:rPr lang="en-IN" sz="1800" b="1" kern="100" dirty="0">
                <a:effectLst/>
                <a:latin typeface="Calibri" panose="020F0502020204030204" pitchFamily="34" charset="0"/>
                <a:ea typeface="Calibri" panose="020F0502020204030204" pitchFamily="34" charset="0"/>
                <a:cs typeface="Times New Roman" panose="02020603050405020304" pitchFamily="18" charset="0"/>
              </a:rPr>
              <a:t>Devices:</a:t>
            </a: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 Four devices were created for flicking, screwdriving, picking/placing flat objects, and cutting paper, designed as replacements for fingers on the OLYMPIC hand.</a:t>
            </a:r>
          </a:p>
          <a:p>
            <a:pPr marL="342900" lvl="0" indent="-342900">
              <a:lnSpc>
                <a:spcPct val="107000"/>
              </a:lnSpc>
              <a:buSzPts val="1000"/>
              <a:buFont typeface="Symbol" panose="05050102010706020507" pitchFamily="18" charset="2"/>
              <a:buChar char=""/>
              <a:tabLst>
                <a:tab pos="457200" algn="l"/>
              </a:tabLst>
            </a:pPr>
            <a:r>
              <a:rPr lang="en-IN" sz="1800" b="1" kern="100" dirty="0">
                <a:effectLst/>
                <a:latin typeface="Calibri" panose="020F0502020204030204" pitchFamily="34" charset="0"/>
                <a:ea typeface="Calibri" panose="020F0502020204030204" pitchFamily="34" charset="0"/>
                <a:cs typeface="Times New Roman" panose="02020603050405020304" pitchFamily="18" charset="0"/>
              </a:rPr>
              <a:t>Methodology:</a:t>
            </a: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 A control group study with participants without ULD compared non-humanoid devices against a humanoid prosthesis, measuring task performance, compensatory motion, and perceived task load. Case studies with two participants with ULD were also conducted.</a:t>
            </a:r>
          </a:p>
          <a:p>
            <a:pPr marL="342900" lvl="0" indent="-342900">
              <a:lnSpc>
                <a:spcPct val="107000"/>
              </a:lnSpc>
              <a:buSzPts val="1000"/>
              <a:buFont typeface="Symbol" panose="05050102010706020507" pitchFamily="18" charset="2"/>
              <a:buChar char=""/>
              <a:tabLst>
                <a:tab pos="457200" algn="l"/>
              </a:tabLst>
            </a:pPr>
            <a:r>
              <a:rPr lang="en-IN" sz="1800" b="1" kern="100" dirty="0">
                <a:effectLst/>
                <a:latin typeface="Calibri" panose="020F0502020204030204" pitchFamily="34" charset="0"/>
                <a:ea typeface="Calibri" panose="020F0502020204030204" pitchFamily="34" charset="0"/>
                <a:cs typeface="Times New Roman" panose="02020603050405020304" pitchFamily="18" charset="0"/>
              </a:rPr>
              <a:t>Results:</a:t>
            </a: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 Non-humanoid devices significantly improved task performance, reduced compensatory movement, and decreased task load compared to the humanoid prosthesis.</a:t>
            </a:r>
          </a:p>
          <a:p>
            <a:pPr marL="342900" lvl="0" indent="-342900">
              <a:lnSpc>
                <a:spcPct val="107000"/>
              </a:lnSpc>
              <a:buSzPts val="1000"/>
              <a:buFont typeface="Symbol" panose="05050102010706020507" pitchFamily="18" charset="2"/>
              <a:buChar char=""/>
              <a:tabLst>
                <a:tab pos="457200" algn="l"/>
              </a:tabLst>
            </a:pPr>
            <a:r>
              <a:rPr lang="en-IN" sz="1800" b="1" kern="100" dirty="0">
                <a:effectLst/>
                <a:latin typeface="Calibri" panose="020F0502020204030204" pitchFamily="34" charset="0"/>
                <a:ea typeface="Calibri" panose="020F0502020204030204" pitchFamily="34" charset="0"/>
                <a:cs typeface="Times New Roman" panose="02020603050405020304" pitchFamily="18" charset="0"/>
              </a:rPr>
              <a:t>Conclusion:</a:t>
            </a: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 Task-specific, non-humanoid terminal devices offer a promising approach to enhance prosthetic hand functionality and user satisfaction. They may also improve quality of life by facilitating social interactions.</a:t>
            </a:r>
          </a:p>
          <a:p>
            <a:pPr marL="342900" lvl="0" indent="-342900">
              <a:lnSpc>
                <a:spcPct val="107000"/>
              </a:lnSpc>
              <a:spcAft>
                <a:spcPts val="800"/>
              </a:spcAft>
              <a:buSzPts val="1000"/>
              <a:buFont typeface="Symbol" panose="05050102010706020507" pitchFamily="18" charset="2"/>
              <a:buChar char=""/>
              <a:tabLst>
                <a:tab pos="457200" algn="l"/>
              </a:tabLst>
            </a:pPr>
            <a:r>
              <a:rPr lang="en-IN" sz="1800" b="1" kern="100" dirty="0">
                <a:effectLst/>
                <a:latin typeface="Calibri" panose="020F0502020204030204" pitchFamily="34" charset="0"/>
                <a:ea typeface="Calibri" panose="020F0502020204030204" pitchFamily="34" charset="0"/>
                <a:cs typeface="Times New Roman" panose="02020603050405020304" pitchFamily="18" charset="0"/>
              </a:rPr>
              <a:t>Future Work:</a:t>
            </a: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 Further research is needed to optimize the mechanical implementation of these prostheses, explore haptic feedback, and investigate the psychological embodiment of non-humanoid prostheses.</a:t>
            </a:r>
          </a:p>
          <a:p>
            <a:br>
              <a:rPr lang="en-IN" sz="1800" dirty="0">
                <a:effectLst/>
              </a:rPr>
            </a:br>
            <a:endParaRPr lang="en-IN" sz="1800" dirty="0"/>
          </a:p>
        </p:txBody>
      </p:sp>
      <p:sp>
        <p:nvSpPr>
          <p:cNvPr id="4" name="Header Placeholder 3"/>
          <p:cNvSpPr>
            <a:spLocks noGrp="1"/>
          </p:cNvSpPr>
          <p:nvPr>
            <p:ph type="hdr" sz="quarter"/>
          </p:nvPr>
        </p:nvSpPr>
        <p:spPr/>
        <p:txBody>
          <a:bodyPr/>
          <a:lstStyle/>
          <a:p>
            <a:endParaRPr lang="en-IN"/>
          </a:p>
        </p:txBody>
      </p:sp>
      <p:sp>
        <p:nvSpPr>
          <p:cNvPr id="5" name="Date Placeholder 4"/>
          <p:cNvSpPr>
            <a:spLocks noGrp="1"/>
          </p:cNvSpPr>
          <p:nvPr>
            <p:ph type="dt" idx="1"/>
          </p:nvPr>
        </p:nvSpPr>
        <p:spPr/>
        <p:txBody>
          <a:bodyPr/>
          <a:lstStyle/>
          <a:p>
            <a:fld id="{CB7C0279-E7B6-4592-B90E-E4E694A5956E}" type="datetime5">
              <a:rPr lang="en-IN"/>
              <a:t>6-May-25</a:t>
            </a:fld>
            <a:endParaRPr lang="en-IN"/>
          </a:p>
        </p:txBody>
      </p:sp>
      <p:sp>
        <p:nvSpPr>
          <p:cNvPr id="6" name="Footer Placeholder 5"/>
          <p:cNvSpPr>
            <a:spLocks noGrp="1"/>
          </p:cNvSpPr>
          <p:nvPr>
            <p:ph type="ftr" sz="quarter" idx="4"/>
          </p:nvPr>
        </p:nvSpPr>
        <p:spPr/>
        <p:txBody>
          <a:bodyPr/>
          <a:lstStyle/>
          <a:p>
            <a:endParaRPr lang="en-IN"/>
          </a:p>
        </p:txBody>
      </p:sp>
      <p:sp>
        <p:nvSpPr>
          <p:cNvPr id="7" name="Slide Number Placeholder 6"/>
          <p:cNvSpPr>
            <a:spLocks noGrp="1"/>
          </p:cNvSpPr>
          <p:nvPr>
            <p:ph type="sldNum" sz="quarter" idx="5"/>
          </p:nvPr>
        </p:nvSpPr>
        <p:spPr/>
        <p:txBody>
          <a:bodyPr/>
          <a:lstStyle/>
          <a:p>
            <a:fld id="{B23075AA-5E36-4352-957D-79F4EE1CA822}" type="slidenum">
              <a:rPr lang="en-IN"/>
              <a:pPr/>
              <a:t>5</a:t>
            </a:fld>
            <a:endParaRPr lang="en-IN"/>
          </a:p>
        </p:txBody>
      </p:sp>
    </p:spTree>
    <p:extLst>
      <p:ext uri="{BB962C8B-B14F-4D97-AF65-F5344CB8AC3E}">
        <p14:creationId xmlns:p14="http://schemas.microsoft.com/office/powerpoint/2010/main" val="402597672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32500" lnSpcReduction="20000"/>
          </a:bodyPr>
          <a:lstStyle/>
          <a:p>
            <a:pPr marL="457200" algn="ctr">
              <a:lnSpc>
                <a:spcPct val="107000"/>
              </a:lnSpc>
            </a:pPr>
            <a:r>
              <a:rPr lang="en-IN" sz="1800" i="1" kern="100" dirty="0">
                <a:effectLst/>
                <a:latin typeface="Calibri" panose="020F0502020204030204" pitchFamily="34" charset="0"/>
                <a:ea typeface="Calibri" panose="020F0502020204030204" pitchFamily="34" charset="0"/>
                <a:cs typeface="Times New Roman" panose="02020603050405020304" pitchFamily="18" charset="0"/>
              </a:rPr>
              <a:t>Manuscript received 16 June 2023; revised 11 September 2023 and 14 November 2023; accepted 7 December 2023. Date of publication 13 December 2023; date of current version 23 April 2024</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457200" algn="ctr">
              <a:lnSpc>
                <a:spcPct val="107000"/>
              </a:lnSpc>
            </a:pPr>
            <a:r>
              <a:rPr lang="en-IN" sz="1800" i="1" kern="100" dirty="0">
                <a:effectLst/>
                <a:latin typeface="Calibri" panose="020F0502020204030204" pitchFamily="34" charset="0"/>
                <a:ea typeface="Calibri" panose="020F0502020204030204" pitchFamily="34" charset="0"/>
                <a:cs typeface="Times New Roman" panose="02020603050405020304" pitchFamily="18" charset="0"/>
              </a:rPr>
              <a:t> </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457200">
              <a:lnSpc>
                <a:spcPct val="107000"/>
              </a:lnSpc>
            </a:pPr>
            <a:r>
              <a:rPr lang="en-IN" sz="1800" b="1" kern="100" dirty="0">
                <a:effectLst/>
                <a:latin typeface="Calibri" panose="020F0502020204030204" pitchFamily="34" charset="0"/>
                <a:ea typeface="Calibri" panose="020F0502020204030204" pitchFamily="34" charset="0"/>
                <a:cs typeface="Times New Roman" panose="02020603050405020304" pitchFamily="18" charset="0"/>
              </a:rPr>
              <a:t>INTRODUCTION:</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457200">
              <a:lnSpc>
                <a:spcPct val="107000"/>
              </a:lnSpc>
            </a:pP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The pursuit of advanced robotic prosthetic limbs faces a significant challenge: the limitations of current socket-based attachment methods. These methods often lead to discomfort, tissue damage, and pain, resulting in patient dissatisfaction and high abandonment rates, disproportionately affecting underprivileged communities. Addressing the drawbacks of soft-tissue suspension, such as pistoning and skin irritation, and the risks associated with percutaneous osseointegration (OI), including infection, a novel socket suspension paradigm is introduced. This system utilizes electromagnetic attraction between a subcutaneous ferromagnetic implant in the residual bone and an electromagnet in the socket. This approach aims to transfer suspension loads directly from the prosthesis to the bone while maintaining a sealed skin envelope.</a:t>
            </a:r>
          </a:p>
          <a:p>
            <a:pPr marL="457200">
              <a:lnSpc>
                <a:spcPct val="107000"/>
              </a:lnSpc>
            </a:pP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 </a:t>
            </a:r>
          </a:p>
          <a:p>
            <a:pPr marL="457200">
              <a:lnSpc>
                <a:spcPct val="107000"/>
              </a:lnSpc>
            </a:pPr>
            <a:r>
              <a:rPr lang="en-IN" sz="1800" b="1" kern="100" dirty="0">
                <a:effectLst/>
                <a:latin typeface="Calibri" panose="020F0502020204030204" pitchFamily="34" charset="0"/>
                <a:ea typeface="Calibri" panose="020F0502020204030204" pitchFamily="34" charset="0"/>
                <a:cs typeface="Times New Roman" panose="02020603050405020304" pitchFamily="18" charset="0"/>
              </a:rPr>
              <a:t>USES:</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457200">
              <a:lnSpc>
                <a:spcPct val="107000"/>
              </a:lnSpc>
            </a:pP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The electromagnetic attachment system is designed for prosthetic limbs and offers a potential solution to challenges associated with traditional socket-based attachments and percutaneous osseointegration. By employing a subcutaneous ferromagnetic implant and an external electromagnet, the system aims to improve comfort, reduce tissue damage, and minimize infection risks for individuals with amputation. This system has utility in transfemoral amputations and could be adapted for various amputation levels.</a:t>
            </a:r>
          </a:p>
          <a:p>
            <a:pPr marL="457200">
              <a:lnSpc>
                <a:spcPct val="107000"/>
              </a:lnSpc>
            </a:pP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 </a:t>
            </a:r>
          </a:p>
          <a:p>
            <a:pPr marL="457200">
              <a:lnSpc>
                <a:spcPct val="107000"/>
              </a:lnSpc>
            </a:pPr>
            <a:r>
              <a:rPr lang="en-IN" sz="1800" b="1" kern="100" dirty="0">
                <a:effectLst/>
                <a:latin typeface="Calibri" panose="020F0502020204030204" pitchFamily="34" charset="0"/>
                <a:ea typeface="Calibri" panose="020F0502020204030204" pitchFamily="34" charset="0"/>
                <a:cs typeface="Times New Roman" panose="02020603050405020304" pitchFamily="18" charset="0"/>
              </a:rPr>
              <a:t>ADVANTAGES:</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457200">
              <a:lnSpc>
                <a:spcPct val="107000"/>
              </a:lnSpc>
            </a:pP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The primary advantage of this electromagnetic attachment system lies in its potential to mitigate the drawbacks of existing prosthetic attachment methods. Unlike socket-based systems, it transfers suspension loads directly to the bone, reducing pistoning and associated tissue breakdown. Compared to osseointegration, it maintains a sealed skin envelope, minimizing infection risk. Additional benefits include:</a:t>
            </a:r>
          </a:p>
          <a:p>
            <a:pPr marL="342900" lvl="0" indent="-342900">
              <a:lnSpc>
                <a:spcPct val="107000"/>
              </a:lnSpc>
              <a:buFont typeface="Calibri" panose="020F0502020204030204" pitchFamily="34" charset="0"/>
              <a:buChar char="•"/>
            </a:pPr>
            <a:r>
              <a:rPr lang="en-IN" sz="1800" b="1" kern="100" dirty="0">
                <a:effectLst/>
                <a:latin typeface="Calibri" panose="020F0502020204030204" pitchFamily="34" charset="0"/>
                <a:ea typeface="Calibri" panose="020F0502020204030204" pitchFamily="34" charset="0"/>
                <a:cs typeface="Times New Roman" panose="02020603050405020304" pitchFamily="18" charset="0"/>
              </a:rPr>
              <a:t>Improved Comfort:</a:t>
            </a: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 By reducing pressure on soft tissues.</a:t>
            </a:r>
          </a:p>
          <a:p>
            <a:pPr marL="342900" lvl="0" indent="-342900">
              <a:lnSpc>
                <a:spcPct val="107000"/>
              </a:lnSpc>
              <a:buFont typeface="Calibri" panose="020F0502020204030204" pitchFamily="34" charset="0"/>
              <a:buChar char="•"/>
            </a:pPr>
            <a:r>
              <a:rPr lang="en-IN" sz="1800" b="1" kern="100" dirty="0">
                <a:effectLst/>
                <a:latin typeface="Calibri" panose="020F0502020204030204" pitchFamily="34" charset="0"/>
                <a:ea typeface="Calibri" panose="020F0502020204030204" pitchFamily="34" charset="0"/>
                <a:cs typeface="Times New Roman" panose="02020603050405020304" pitchFamily="18" charset="0"/>
              </a:rPr>
              <a:t>Enhanced Limb Health:</a:t>
            </a: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 Prevents skin ulcers and irritation.</a:t>
            </a:r>
          </a:p>
          <a:p>
            <a:pPr marL="342900" lvl="0" indent="-342900">
              <a:lnSpc>
                <a:spcPct val="107000"/>
              </a:lnSpc>
              <a:buFont typeface="Calibri" panose="020F0502020204030204" pitchFamily="34" charset="0"/>
              <a:buChar char="•"/>
            </a:pPr>
            <a:r>
              <a:rPr lang="en-IN" sz="1800" b="1" kern="100" dirty="0">
                <a:effectLst/>
                <a:latin typeface="Calibri" panose="020F0502020204030204" pitchFamily="34" charset="0"/>
                <a:ea typeface="Calibri" panose="020F0502020204030204" pitchFamily="34" charset="0"/>
                <a:cs typeface="Times New Roman" panose="02020603050405020304" pitchFamily="18" charset="0"/>
              </a:rPr>
              <a:t>Customizable Attachment:</a:t>
            </a: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 Attractive force modulation via electromagnet control.</a:t>
            </a:r>
          </a:p>
          <a:p>
            <a:pPr marL="342900" lvl="0" indent="-342900">
              <a:lnSpc>
                <a:spcPct val="107000"/>
              </a:lnSpc>
              <a:buFont typeface="Calibri" panose="020F0502020204030204" pitchFamily="34" charset="0"/>
              <a:buChar char="•"/>
            </a:pPr>
            <a:r>
              <a:rPr lang="en-IN" sz="1800" b="1" kern="100" dirty="0">
                <a:effectLst/>
                <a:latin typeface="Calibri" panose="020F0502020204030204" pitchFamily="34" charset="0"/>
                <a:ea typeface="Calibri" panose="020F0502020204030204" pitchFamily="34" charset="0"/>
                <a:cs typeface="Times New Roman" panose="02020603050405020304" pitchFamily="18" charset="0"/>
              </a:rPr>
              <a:t>Reduced Healthcare Costs:</a:t>
            </a: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 By minimizing visits to prosthetists and complications.</a:t>
            </a:r>
          </a:p>
          <a:p>
            <a:pPr marL="342900" lvl="0" indent="-342900">
              <a:lnSpc>
                <a:spcPct val="107000"/>
              </a:lnSpc>
              <a:buFont typeface="Calibri" panose="020F0502020204030204" pitchFamily="34" charset="0"/>
              <a:buChar char="•"/>
            </a:pPr>
            <a:r>
              <a:rPr lang="en-IN" sz="1800" b="1" kern="100" dirty="0">
                <a:effectLst/>
                <a:latin typeface="Calibri" panose="020F0502020204030204" pitchFamily="34" charset="0"/>
                <a:ea typeface="Calibri" panose="020F0502020204030204" pitchFamily="34" charset="0"/>
                <a:cs typeface="Times New Roman" panose="02020603050405020304" pitchFamily="18" charset="0"/>
              </a:rPr>
              <a:t>Potential for wider applicability:</a:t>
            </a: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 Circumvents limitations of OI in dyscalculic amputations.</a:t>
            </a:r>
          </a:p>
          <a:p>
            <a:pPr marL="457200">
              <a:lnSpc>
                <a:spcPct val="107000"/>
              </a:lnSpc>
            </a:pPr>
            <a:r>
              <a:rPr lang="en-IN" sz="1800" b="1" kern="100" dirty="0">
                <a:effectLst/>
                <a:latin typeface="Calibri" panose="020F0502020204030204" pitchFamily="34" charset="0"/>
                <a:ea typeface="Calibri" panose="020F0502020204030204" pitchFamily="34" charset="0"/>
                <a:cs typeface="Times New Roman" panose="02020603050405020304" pitchFamily="18" charset="0"/>
              </a:rPr>
              <a:t> </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457200">
              <a:lnSpc>
                <a:spcPct val="107000"/>
              </a:lnSpc>
            </a:pPr>
            <a:r>
              <a:rPr lang="en-IN" sz="1800" b="1" kern="100" dirty="0">
                <a:effectLst/>
                <a:latin typeface="Calibri" panose="020F0502020204030204" pitchFamily="34" charset="0"/>
                <a:ea typeface="Calibri" panose="020F0502020204030204" pitchFamily="34" charset="0"/>
                <a:cs typeface="Times New Roman" panose="02020603050405020304" pitchFamily="18" charset="0"/>
              </a:rPr>
              <a:t>DISADVANTAGES:</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457200">
              <a:lnSpc>
                <a:spcPct val="107000"/>
              </a:lnSpc>
            </a:pP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Despite its potential advantages, the electromagnetic attachment system also presents certain disadvantages and challenges:</a:t>
            </a:r>
          </a:p>
          <a:p>
            <a:pPr marL="342900" lvl="0" indent="-342900">
              <a:lnSpc>
                <a:spcPct val="107000"/>
              </a:lnSpc>
              <a:buFont typeface="Calibri" panose="020F0502020204030204" pitchFamily="34" charset="0"/>
              <a:buChar char="•"/>
            </a:pPr>
            <a:r>
              <a:rPr lang="en-IN" sz="1800" b="1" kern="100" dirty="0">
                <a:effectLst/>
                <a:latin typeface="Calibri" panose="020F0502020204030204" pitchFamily="34" charset="0"/>
                <a:ea typeface="Calibri" panose="020F0502020204030204" pitchFamily="34" charset="0"/>
                <a:cs typeface="Times New Roman" panose="02020603050405020304" pitchFamily="18" charset="0"/>
              </a:rPr>
              <a:t>Power Requirements:</a:t>
            </a: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 Suspension during gait requires electrical power, necessitating a power source and potentially leading to heat generation.</a:t>
            </a:r>
          </a:p>
          <a:p>
            <a:pPr marL="342900" lvl="0" indent="-342900">
              <a:lnSpc>
                <a:spcPct val="107000"/>
              </a:lnSpc>
              <a:buFont typeface="Calibri" panose="020F0502020204030204" pitchFamily="34" charset="0"/>
              <a:buChar char="•"/>
            </a:pPr>
            <a:r>
              <a:rPr lang="en-IN" sz="1800" b="1" kern="100" dirty="0">
                <a:effectLst/>
                <a:latin typeface="Calibri" panose="020F0502020204030204" pitchFamily="34" charset="0"/>
                <a:ea typeface="Calibri" panose="020F0502020204030204" pitchFamily="34" charset="0"/>
                <a:cs typeface="Times New Roman" panose="02020603050405020304" pitchFamily="18" charset="0"/>
              </a:rPr>
              <a:t>Heating Concerns:</a:t>
            </a: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 Prolonged use may result in increased skin temperature, requiring thermal management strategies.</a:t>
            </a:r>
          </a:p>
          <a:p>
            <a:pPr marL="342900" lvl="0" indent="-342900">
              <a:lnSpc>
                <a:spcPct val="107000"/>
              </a:lnSpc>
              <a:buFont typeface="Calibri" panose="020F0502020204030204" pitchFamily="34" charset="0"/>
              <a:buChar char="•"/>
            </a:pPr>
            <a:r>
              <a:rPr lang="en-IN" sz="1800" b="1" kern="100" dirty="0">
                <a:effectLst/>
                <a:latin typeface="Calibri" panose="020F0502020204030204" pitchFamily="34" charset="0"/>
                <a:ea typeface="Calibri" panose="020F0502020204030204" pitchFamily="34" charset="0"/>
                <a:cs typeface="Times New Roman" panose="02020603050405020304" pitchFamily="18" charset="0"/>
              </a:rPr>
              <a:t>Electromagnet Mass:</a:t>
            </a: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 The added mass of the electromagnet in the socket could impact user comfort and mobility.</a:t>
            </a:r>
          </a:p>
          <a:p>
            <a:pPr marL="342900" lvl="0" indent="-342900">
              <a:lnSpc>
                <a:spcPct val="107000"/>
              </a:lnSpc>
              <a:buFont typeface="Calibri" panose="020F0502020204030204" pitchFamily="34" charset="0"/>
              <a:buChar char="•"/>
            </a:pPr>
            <a:r>
              <a:rPr lang="en-IN" sz="1800" b="1" kern="100" dirty="0">
                <a:effectLst/>
                <a:latin typeface="Calibri" panose="020F0502020204030204" pitchFamily="34" charset="0"/>
                <a:ea typeface="Calibri" panose="020F0502020204030204" pitchFamily="34" charset="0"/>
                <a:cs typeface="Times New Roman" panose="02020603050405020304" pitchFamily="18" charset="0"/>
              </a:rPr>
              <a:t>MRI Incompatibility:</a:t>
            </a: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 The ferromagnetic implant renders the system incompatible with magnetic resonance imaging (MRI).</a:t>
            </a:r>
          </a:p>
          <a:p>
            <a:pPr marL="342900" lvl="0" indent="-342900">
              <a:lnSpc>
                <a:spcPct val="107000"/>
              </a:lnSpc>
              <a:buFont typeface="Calibri" panose="020F0502020204030204" pitchFamily="34" charset="0"/>
              <a:buChar char="•"/>
            </a:pPr>
            <a:r>
              <a:rPr lang="en-IN" sz="1800" b="1" kern="100" dirty="0">
                <a:effectLst/>
                <a:latin typeface="Calibri" panose="020F0502020204030204" pitchFamily="34" charset="0"/>
                <a:ea typeface="Calibri" panose="020F0502020204030204" pitchFamily="34" charset="0"/>
                <a:cs typeface="Times New Roman" panose="02020603050405020304" pitchFamily="18" charset="0"/>
              </a:rPr>
              <a:t>Dependence on technology:</a:t>
            </a: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 Reliance on a functioning electromagnet for secure attachment.</a:t>
            </a:r>
          </a:p>
          <a:p>
            <a:pPr marL="457200">
              <a:lnSpc>
                <a:spcPct val="107000"/>
              </a:lnSpc>
              <a:spcAft>
                <a:spcPts val="800"/>
              </a:spcAft>
            </a:pP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 </a:t>
            </a:r>
          </a:p>
          <a:p>
            <a:pPr>
              <a:lnSpc>
                <a:spcPct val="107000"/>
              </a:lnSpc>
              <a:spcAft>
                <a:spcPts val="800"/>
              </a:spcAft>
            </a:pPr>
            <a:r>
              <a:rPr lang="en-IN" sz="1800" b="1" kern="100" dirty="0">
                <a:effectLst/>
                <a:latin typeface="Calibri" panose="020F0502020204030204" pitchFamily="34" charset="0"/>
                <a:ea typeface="Calibri" panose="020F0502020204030204" pitchFamily="34" charset="0"/>
                <a:cs typeface="Times New Roman" panose="02020603050405020304" pitchFamily="18" charset="0"/>
              </a:rPr>
              <a:t>OVERALL SUMMARY</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457200">
              <a:lnSpc>
                <a:spcPct val="107000"/>
              </a:lnSpc>
              <a:spcAft>
                <a:spcPts val="800"/>
              </a:spcAft>
            </a:pP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The study offers a design framework for an electromagnetic prosthetic attachment system that employs an external electromagnet for direct skeletal connection and a bone-anchored ferromagnetic implant. Tested using electromagnetic simulations, cadaveric dissections, and biomechanical analysis, the device demonstrates the viability of supporting a prosthesis while walking with controllable power needs and little heating. The method enhances the functionality, comfort, and health of prosthetic limbs and presents a viable substitute for conventional socket-based and Osseo-integrated options.</a:t>
            </a:r>
          </a:p>
          <a:p>
            <a:endParaRPr lang="en-IN" dirty="0"/>
          </a:p>
        </p:txBody>
      </p:sp>
      <p:sp>
        <p:nvSpPr>
          <p:cNvPr id="4" name="Header Placeholder 3"/>
          <p:cNvSpPr>
            <a:spLocks noGrp="1"/>
          </p:cNvSpPr>
          <p:nvPr>
            <p:ph type="hdr" sz="quarter"/>
          </p:nvPr>
        </p:nvSpPr>
        <p:spPr/>
        <p:txBody>
          <a:bodyPr/>
          <a:lstStyle/>
          <a:p>
            <a:endParaRPr lang="en-IN"/>
          </a:p>
        </p:txBody>
      </p:sp>
      <p:sp>
        <p:nvSpPr>
          <p:cNvPr id="5" name="Date Placeholder 4"/>
          <p:cNvSpPr>
            <a:spLocks noGrp="1"/>
          </p:cNvSpPr>
          <p:nvPr>
            <p:ph type="dt" idx="1"/>
          </p:nvPr>
        </p:nvSpPr>
        <p:spPr/>
        <p:txBody>
          <a:bodyPr/>
          <a:lstStyle/>
          <a:p>
            <a:fld id="{CB7C0279-E7B6-4592-B90E-E4E694A5956E}" type="datetime5">
              <a:rPr lang="en-IN"/>
              <a:t>6-May-25</a:t>
            </a:fld>
            <a:endParaRPr lang="en-IN"/>
          </a:p>
        </p:txBody>
      </p:sp>
      <p:sp>
        <p:nvSpPr>
          <p:cNvPr id="6" name="Footer Placeholder 5"/>
          <p:cNvSpPr>
            <a:spLocks noGrp="1"/>
          </p:cNvSpPr>
          <p:nvPr>
            <p:ph type="ftr" sz="quarter" idx="4"/>
          </p:nvPr>
        </p:nvSpPr>
        <p:spPr/>
        <p:txBody>
          <a:bodyPr/>
          <a:lstStyle/>
          <a:p>
            <a:endParaRPr lang="en-IN"/>
          </a:p>
        </p:txBody>
      </p:sp>
      <p:sp>
        <p:nvSpPr>
          <p:cNvPr id="7" name="Slide Number Placeholder 6"/>
          <p:cNvSpPr>
            <a:spLocks noGrp="1"/>
          </p:cNvSpPr>
          <p:nvPr>
            <p:ph type="sldNum" sz="quarter" idx="5"/>
          </p:nvPr>
        </p:nvSpPr>
        <p:spPr/>
        <p:txBody>
          <a:bodyPr/>
          <a:lstStyle/>
          <a:p>
            <a:fld id="{B23075AA-5E36-4352-957D-79F4EE1CA822}" type="slidenum">
              <a:rPr lang="en-IN"/>
              <a:pPr/>
              <a:t>6</a:t>
            </a:fld>
            <a:endParaRPr lang="en-IN"/>
          </a:p>
        </p:txBody>
      </p:sp>
    </p:spTree>
    <p:extLst>
      <p:ext uri="{BB962C8B-B14F-4D97-AF65-F5344CB8AC3E}">
        <p14:creationId xmlns:p14="http://schemas.microsoft.com/office/powerpoint/2010/main" val="109342152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IN" dirty="0"/>
          </a:p>
        </p:txBody>
      </p:sp>
      <p:sp>
        <p:nvSpPr>
          <p:cNvPr id="4" name="Header Placeholder 3"/>
          <p:cNvSpPr>
            <a:spLocks noGrp="1"/>
          </p:cNvSpPr>
          <p:nvPr>
            <p:ph type="hdr" sz="quarter"/>
          </p:nvPr>
        </p:nvSpPr>
        <p:spPr/>
        <p:txBody>
          <a:bodyPr/>
          <a:lstStyle/>
          <a:p>
            <a:endParaRPr lang="en-IN"/>
          </a:p>
        </p:txBody>
      </p:sp>
      <p:sp>
        <p:nvSpPr>
          <p:cNvPr id="5" name="Date Placeholder 4"/>
          <p:cNvSpPr>
            <a:spLocks noGrp="1"/>
          </p:cNvSpPr>
          <p:nvPr>
            <p:ph type="dt" idx="1"/>
          </p:nvPr>
        </p:nvSpPr>
        <p:spPr/>
        <p:txBody>
          <a:bodyPr/>
          <a:lstStyle/>
          <a:p>
            <a:fld id="{CB7C0279-E7B6-4592-B90E-E4E694A5956E}" type="datetime5">
              <a:rPr lang="en-IN"/>
              <a:t>6-May-25</a:t>
            </a:fld>
            <a:endParaRPr lang="en-IN"/>
          </a:p>
        </p:txBody>
      </p:sp>
      <p:sp>
        <p:nvSpPr>
          <p:cNvPr id="6" name="Footer Placeholder 5"/>
          <p:cNvSpPr>
            <a:spLocks noGrp="1"/>
          </p:cNvSpPr>
          <p:nvPr>
            <p:ph type="ftr" sz="quarter" idx="4"/>
          </p:nvPr>
        </p:nvSpPr>
        <p:spPr/>
        <p:txBody>
          <a:bodyPr/>
          <a:lstStyle/>
          <a:p>
            <a:endParaRPr lang="en-IN"/>
          </a:p>
        </p:txBody>
      </p:sp>
      <p:sp>
        <p:nvSpPr>
          <p:cNvPr id="7" name="Slide Number Placeholder 6"/>
          <p:cNvSpPr>
            <a:spLocks noGrp="1"/>
          </p:cNvSpPr>
          <p:nvPr>
            <p:ph type="sldNum" sz="quarter" idx="5"/>
          </p:nvPr>
        </p:nvSpPr>
        <p:spPr/>
        <p:txBody>
          <a:bodyPr/>
          <a:lstStyle/>
          <a:p>
            <a:fld id="{B23075AA-5E36-4352-957D-79F4EE1CA822}" type="slidenum">
              <a:rPr lang="en-IN"/>
              <a:pPr/>
              <a:t>7</a:t>
            </a:fld>
            <a:endParaRPr lang="en-IN"/>
          </a:p>
        </p:txBody>
      </p:sp>
    </p:spTree>
    <p:extLst>
      <p:ext uri="{BB962C8B-B14F-4D97-AF65-F5344CB8AC3E}">
        <p14:creationId xmlns:p14="http://schemas.microsoft.com/office/powerpoint/2010/main" val="329370332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IN" dirty="0"/>
          </a:p>
        </p:txBody>
      </p:sp>
      <p:sp>
        <p:nvSpPr>
          <p:cNvPr id="4" name="Header Placeholder 3"/>
          <p:cNvSpPr>
            <a:spLocks noGrp="1"/>
          </p:cNvSpPr>
          <p:nvPr>
            <p:ph type="hdr" sz="quarter"/>
          </p:nvPr>
        </p:nvSpPr>
        <p:spPr/>
        <p:txBody>
          <a:bodyPr/>
          <a:lstStyle/>
          <a:p>
            <a:endParaRPr lang="en-IN"/>
          </a:p>
        </p:txBody>
      </p:sp>
      <p:sp>
        <p:nvSpPr>
          <p:cNvPr id="5" name="Date Placeholder 4"/>
          <p:cNvSpPr>
            <a:spLocks noGrp="1"/>
          </p:cNvSpPr>
          <p:nvPr>
            <p:ph type="dt" idx="1"/>
          </p:nvPr>
        </p:nvSpPr>
        <p:spPr/>
        <p:txBody>
          <a:bodyPr/>
          <a:lstStyle/>
          <a:p>
            <a:fld id="{CB7C0279-E7B6-4592-B90E-E4E694A5956E}" type="datetime5">
              <a:rPr lang="en-IN"/>
              <a:t>6-May-25</a:t>
            </a:fld>
            <a:endParaRPr lang="en-IN"/>
          </a:p>
        </p:txBody>
      </p:sp>
      <p:sp>
        <p:nvSpPr>
          <p:cNvPr id="6" name="Footer Placeholder 5"/>
          <p:cNvSpPr>
            <a:spLocks noGrp="1"/>
          </p:cNvSpPr>
          <p:nvPr>
            <p:ph type="ftr" sz="quarter" idx="4"/>
          </p:nvPr>
        </p:nvSpPr>
        <p:spPr/>
        <p:txBody>
          <a:bodyPr/>
          <a:lstStyle/>
          <a:p>
            <a:endParaRPr lang="en-IN"/>
          </a:p>
        </p:txBody>
      </p:sp>
      <p:sp>
        <p:nvSpPr>
          <p:cNvPr id="7" name="Slide Number Placeholder 6"/>
          <p:cNvSpPr>
            <a:spLocks noGrp="1"/>
          </p:cNvSpPr>
          <p:nvPr>
            <p:ph type="sldNum" sz="quarter" idx="5"/>
          </p:nvPr>
        </p:nvSpPr>
        <p:spPr/>
        <p:txBody>
          <a:bodyPr/>
          <a:lstStyle/>
          <a:p>
            <a:fld id="{B23075AA-5E36-4352-957D-79F4EE1CA822}" type="slidenum">
              <a:rPr lang="en-IN"/>
              <a:pPr/>
              <a:t>8</a:t>
            </a:fld>
            <a:endParaRPr lang="en-IN"/>
          </a:p>
        </p:txBody>
      </p:sp>
    </p:spTree>
    <p:extLst>
      <p:ext uri="{BB962C8B-B14F-4D97-AF65-F5344CB8AC3E}">
        <p14:creationId xmlns:p14="http://schemas.microsoft.com/office/powerpoint/2010/main" val="416856332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IN" dirty="0"/>
          </a:p>
        </p:txBody>
      </p:sp>
      <p:sp>
        <p:nvSpPr>
          <p:cNvPr id="4" name="Header Placeholder 3"/>
          <p:cNvSpPr>
            <a:spLocks noGrp="1"/>
          </p:cNvSpPr>
          <p:nvPr>
            <p:ph type="hdr" sz="quarter"/>
          </p:nvPr>
        </p:nvSpPr>
        <p:spPr/>
        <p:txBody>
          <a:bodyPr/>
          <a:lstStyle/>
          <a:p>
            <a:endParaRPr lang="en-IN"/>
          </a:p>
        </p:txBody>
      </p:sp>
      <p:sp>
        <p:nvSpPr>
          <p:cNvPr id="5" name="Date Placeholder 4"/>
          <p:cNvSpPr>
            <a:spLocks noGrp="1"/>
          </p:cNvSpPr>
          <p:nvPr>
            <p:ph type="dt" idx="1"/>
          </p:nvPr>
        </p:nvSpPr>
        <p:spPr/>
        <p:txBody>
          <a:bodyPr/>
          <a:lstStyle/>
          <a:p>
            <a:fld id="{CB7C0279-E7B6-4592-B90E-E4E694A5956E}" type="datetime5">
              <a:rPr lang="en-IN"/>
              <a:t>6-May-25</a:t>
            </a:fld>
            <a:endParaRPr lang="en-IN"/>
          </a:p>
        </p:txBody>
      </p:sp>
      <p:sp>
        <p:nvSpPr>
          <p:cNvPr id="6" name="Footer Placeholder 5"/>
          <p:cNvSpPr>
            <a:spLocks noGrp="1"/>
          </p:cNvSpPr>
          <p:nvPr>
            <p:ph type="ftr" sz="quarter" idx="4"/>
          </p:nvPr>
        </p:nvSpPr>
        <p:spPr/>
        <p:txBody>
          <a:bodyPr/>
          <a:lstStyle/>
          <a:p>
            <a:endParaRPr lang="en-IN"/>
          </a:p>
        </p:txBody>
      </p:sp>
      <p:sp>
        <p:nvSpPr>
          <p:cNvPr id="7" name="Slide Number Placeholder 6"/>
          <p:cNvSpPr>
            <a:spLocks noGrp="1"/>
          </p:cNvSpPr>
          <p:nvPr>
            <p:ph type="sldNum" sz="quarter" idx="5"/>
          </p:nvPr>
        </p:nvSpPr>
        <p:spPr/>
        <p:txBody>
          <a:bodyPr/>
          <a:lstStyle/>
          <a:p>
            <a:fld id="{B23075AA-5E36-4352-957D-79F4EE1CA822}" type="slidenum">
              <a:rPr lang="en-IN"/>
              <a:pPr/>
              <a:t>9</a:t>
            </a:fld>
            <a:endParaRPr lang="en-IN"/>
          </a:p>
        </p:txBody>
      </p:sp>
    </p:spTree>
    <p:extLst>
      <p:ext uri="{BB962C8B-B14F-4D97-AF65-F5344CB8AC3E}">
        <p14:creationId xmlns:p14="http://schemas.microsoft.com/office/powerpoint/2010/main" val="259153109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IN" dirty="0"/>
          </a:p>
        </p:txBody>
      </p:sp>
      <p:sp>
        <p:nvSpPr>
          <p:cNvPr id="4" name="Header Placeholder 3"/>
          <p:cNvSpPr>
            <a:spLocks noGrp="1"/>
          </p:cNvSpPr>
          <p:nvPr>
            <p:ph type="hdr" sz="quarter"/>
          </p:nvPr>
        </p:nvSpPr>
        <p:spPr/>
        <p:txBody>
          <a:bodyPr/>
          <a:lstStyle/>
          <a:p>
            <a:endParaRPr lang="en-IN"/>
          </a:p>
        </p:txBody>
      </p:sp>
      <p:sp>
        <p:nvSpPr>
          <p:cNvPr id="5" name="Date Placeholder 4"/>
          <p:cNvSpPr>
            <a:spLocks noGrp="1"/>
          </p:cNvSpPr>
          <p:nvPr>
            <p:ph type="dt" idx="1"/>
          </p:nvPr>
        </p:nvSpPr>
        <p:spPr/>
        <p:txBody>
          <a:bodyPr/>
          <a:lstStyle/>
          <a:p>
            <a:fld id="{CB7C0279-E7B6-4592-B90E-E4E694A5956E}" type="datetime5">
              <a:rPr lang="en-IN"/>
              <a:t>6-May-25</a:t>
            </a:fld>
            <a:endParaRPr lang="en-IN"/>
          </a:p>
        </p:txBody>
      </p:sp>
      <p:sp>
        <p:nvSpPr>
          <p:cNvPr id="6" name="Footer Placeholder 5"/>
          <p:cNvSpPr>
            <a:spLocks noGrp="1"/>
          </p:cNvSpPr>
          <p:nvPr>
            <p:ph type="ftr" sz="quarter" idx="4"/>
          </p:nvPr>
        </p:nvSpPr>
        <p:spPr/>
        <p:txBody>
          <a:bodyPr/>
          <a:lstStyle/>
          <a:p>
            <a:endParaRPr lang="en-IN"/>
          </a:p>
        </p:txBody>
      </p:sp>
      <p:sp>
        <p:nvSpPr>
          <p:cNvPr id="7" name="Slide Number Placeholder 6"/>
          <p:cNvSpPr>
            <a:spLocks noGrp="1"/>
          </p:cNvSpPr>
          <p:nvPr>
            <p:ph type="sldNum" sz="quarter" idx="5"/>
          </p:nvPr>
        </p:nvSpPr>
        <p:spPr/>
        <p:txBody>
          <a:bodyPr/>
          <a:lstStyle/>
          <a:p>
            <a:fld id="{B23075AA-5E36-4352-957D-79F4EE1CA822}" type="slidenum">
              <a:rPr lang="en-IN"/>
              <a:pPr/>
              <a:t>10</a:t>
            </a:fld>
            <a:endParaRPr lang="en-IN"/>
          </a:p>
        </p:txBody>
      </p:sp>
    </p:spTree>
    <p:extLst>
      <p:ext uri="{BB962C8B-B14F-4D97-AF65-F5344CB8AC3E}">
        <p14:creationId xmlns:p14="http://schemas.microsoft.com/office/powerpoint/2010/main" val="373550732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IN" dirty="0"/>
          </a:p>
        </p:txBody>
      </p:sp>
      <p:sp>
        <p:nvSpPr>
          <p:cNvPr id="4" name="Header Placeholder 3"/>
          <p:cNvSpPr>
            <a:spLocks noGrp="1"/>
          </p:cNvSpPr>
          <p:nvPr>
            <p:ph type="hdr" sz="quarter"/>
          </p:nvPr>
        </p:nvSpPr>
        <p:spPr/>
        <p:txBody>
          <a:bodyPr/>
          <a:lstStyle/>
          <a:p>
            <a:endParaRPr lang="en-IN"/>
          </a:p>
        </p:txBody>
      </p:sp>
      <p:sp>
        <p:nvSpPr>
          <p:cNvPr id="5" name="Date Placeholder 4"/>
          <p:cNvSpPr>
            <a:spLocks noGrp="1"/>
          </p:cNvSpPr>
          <p:nvPr>
            <p:ph type="dt" idx="1"/>
          </p:nvPr>
        </p:nvSpPr>
        <p:spPr/>
        <p:txBody>
          <a:bodyPr/>
          <a:lstStyle/>
          <a:p>
            <a:fld id="{CB7C0279-E7B6-4592-B90E-E4E694A5956E}" type="datetime5">
              <a:rPr lang="en-IN"/>
              <a:t>6-May-25</a:t>
            </a:fld>
            <a:endParaRPr lang="en-IN"/>
          </a:p>
        </p:txBody>
      </p:sp>
      <p:sp>
        <p:nvSpPr>
          <p:cNvPr id="6" name="Footer Placeholder 5"/>
          <p:cNvSpPr>
            <a:spLocks noGrp="1"/>
          </p:cNvSpPr>
          <p:nvPr>
            <p:ph type="ftr" sz="quarter" idx="4"/>
          </p:nvPr>
        </p:nvSpPr>
        <p:spPr/>
        <p:txBody>
          <a:bodyPr/>
          <a:lstStyle/>
          <a:p>
            <a:endParaRPr lang="en-IN"/>
          </a:p>
        </p:txBody>
      </p:sp>
      <p:sp>
        <p:nvSpPr>
          <p:cNvPr id="7" name="Slide Number Placeholder 6"/>
          <p:cNvSpPr>
            <a:spLocks noGrp="1"/>
          </p:cNvSpPr>
          <p:nvPr>
            <p:ph type="sldNum" sz="quarter" idx="5"/>
          </p:nvPr>
        </p:nvSpPr>
        <p:spPr/>
        <p:txBody>
          <a:bodyPr/>
          <a:lstStyle/>
          <a:p>
            <a:fld id="{B23075AA-5E36-4352-957D-79F4EE1CA822}" type="slidenum">
              <a:rPr lang="en-IN"/>
              <a:pPr/>
              <a:t>11</a:t>
            </a:fld>
            <a:endParaRPr lang="en-IN"/>
          </a:p>
        </p:txBody>
      </p:sp>
    </p:spTree>
    <p:extLst>
      <p:ext uri="{BB962C8B-B14F-4D97-AF65-F5344CB8AC3E}">
        <p14:creationId xmlns:p14="http://schemas.microsoft.com/office/powerpoint/2010/main" val="421604891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IN" dirty="0"/>
          </a:p>
        </p:txBody>
      </p:sp>
      <p:sp>
        <p:nvSpPr>
          <p:cNvPr id="4" name="Header Placeholder 3"/>
          <p:cNvSpPr>
            <a:spLocks noGrp="1"/>
          </p:cNvSpPr>
          <p:nvPr>
            <p:ph type="hdr" sz="quarter"/>
          </p:nvPr>
        </p:nvSpPr>
        <p:spPr/>
        <p:txBody>
          <a:bodyPr/>
          <a:lstStyle/>
          <a:p>
            <a:endParaRPr lang="en-IN"/>
          </a:p>
        </p:txBody>
      </p:sp>
      <p:sp>
        <p:nvSpPr>
          <p:cNvPr id="5" name="Date Placeholder 4"/>
          <p:cNvSpPr>
            <a:spLocks noGrp="1"/>
          </p:cNvSpPr>
          <p:nvPr>
            <p:ph type="dt" idx="1"/>
          </p:nvPr>
        </p:nvSpPr>
        <p:spPr/>
        <p:txBody>
          <a:bodyPr/>
          <a:lstStyle/>
          <a:p>
            <a:fld id="{CB7C0279-E7B6-4592-B90E-E4E694A5956E}" type="datetime5">
              <a:rPr lang="en-IN"/>
              <a:t>6-May-25</a:t>
            </a:fld>
            <a:endParaRPr lang="en-IN"/>
          </a:p>
        </p:txBody>
      </p:sp>
      <p:sp>
        <p:nvSpPr>
          <p:cNvPr id="6" name="Footer Placeholder 5"/>
          <p:cNvSpPr>
            <a:spLocks noGrp="1"/>
          </p:cNvSpPr>
          <p:nvPr>
            <p:ph type="ftr" sz="quarter" idx="4"/>
          </p:nvPr>
        </p:nvSpPr>
        <p:spPr/>
        <p:txBody>
          <a:bodyPr/>
          <a:lstStyle/>
          <a:p>
            <a:endParaRPr lang="en-IN"/>
          </a:p>
        </p:txBody>
      </p:sp>
      <p:sp>
        <p:nvSpPr>
          <p:cNvPr id="7" name="Slide Number Placeholder 6"/>
          <p:cNvSpPr>
            <a:spLocks noGrp="1"/>
          </p:cNvSpPr>
          <p:nvPr>
            <p:ph type="sldNum" sz="quarter" idx="5"/>
          </p:nvPr>
        </p:nvSpPr>
        <p:spPr/>
        <p:txBody>
          <a:bodyPr/>
          <a:lstStyle/>
          <a:p>
            <a:fld id="{B23075AA-5E36-4352-957D-79F4EE1CA822}" type="slidenum">
              <a:rPr lang="en-IN"/>
              <a:pPr/>
              <a:t>12</a:t>
            </a:fld>
            <a:endParaRPr lang="en-IN"/>
          </a:p>
        </p:txBody>
      </p:sp>
    </p:spTree>
    <p:extLst>
      <p:ext uri="{BB962C8B-B14F-4D97-AF65-F5344CB8AC3E}">
        <p14:creationId xmlns:p14="http://schemas.microsoft.com/office/powerpoint/2010/main" val="365464976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Google Shape;142;g33f40e27c4d_0_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3" name="Google Shape;143;g33f40e27c4d_0_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4" name="Google Shape;144;g33f40e27c4d_0_8:notes"/>
          <p:cNvSpPr txBox="1">
            <a:spLocks noGrp="1"/>
          </p:cNvSpPr>
          <p:nvPr>
            <p:ph type="sldNum" idx="12"/>
          </p:nvPr>
        </p:nvSpPr>
        <p:spPr>
          <a:xfrm>
            <a:off x="3884613" y="8685213"/>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p:cNvGrpSpPr/>
        <p:nvPr/>
      </p:nvGrpSpPr>
      <p:grpSpPr>
        <a:xfrm>
          <a:off x="0" y="0"/>
          <a:ext cx="0" cy="0"/>
          <a:chOff x="0" y="0"/>
          <a:chExt cx="0" cy="0"/>
        </a:xfrm>
      </p:grpSpPr>
      <p:sp>
        <p:nvSpPr>
          <p:cNvPr id="152" name="Google Shape;152;p1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3" name="Google Shape;153;p1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p:cNvGrpSpPr/>
        <p:nvPr/>
      </p:nvGrpSpPr>
      <p:grpSpPr>
        <a:xfrm>
          <a:off x="0" y="0"/>
          <a:ext cx="0" cy="0"/>
          <a:chOff x="0" y="0"/>
          <a:chExt cx="0" cy="0"/>
        </a:xfrm>
      </p:grpSpPr>
      <p:sp>
        <p:nvSpPr>
          <p:cNvPr id="152" name="Google Shape;152;p1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3" name="Google Shape;153;p1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5576789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g33f40e27c4d_0_2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2" name="Google Shape;162;g33f40e27c4d_0_2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5"/>
        <p:cNvGrpSpPr/>
        <p:nvPr/>
      </p:nvGrpSpPr>
      <p:grpSpPr>
        <a:xfrm>
          <a:off x="0" y="0"/>
          <a:ext cx="0" cy="0"/>
          <a:chOff x="0" y="0"/>
          <a:chExt cx="0" cy="0"/>
        </a:xfrm>
      </p:grpSpPr>
      <p:sp>
        <p:nvSpPr>
          <p:cNvPr id="16" name="Google Shape;16;p1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16"/>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18" name="Google Shape;18;p1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1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1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transition spd="slow">
    <p:wipe dir="r"/>
  </p:transition>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5"/>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5"/>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2" name="Google Shape;12;p1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3" r:id="rId1"/>
  </p:sldLayoutIdLst>
  <p:transition spd="slow">
    <p:wipe dir="r"/>
  </p:transition>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6"/>
        <p:cNvGrpSpPr/>
        <p:nvPr/>
      </p:nvGrpSpPr>
      <p:grpSpPr>
        <a:xfrm>
          <a:off x="0" y="0"/>
          <a:ext cx="0" cy="0"/>
          <a:chOff x="0" y="0"/>
          <a:chExt cx="0" cy="0"/>
        </a:xfrm>
      </p:grpSpPr>
      <p:sp>
        <p:nvSpPr>
          <p:cNvPr id="97" name="Google Shape;97;p2"/>
          <p:cNvSpPr txBox="1"/>
          <p:nvPr/>
        </p:nvSpPr>
        <p:spPr>
          <a:xfrm>
            <a:off x="1018049" y="775107"/>
            <a:ext cx="7107902" cy="707886"/>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4000" b="1" dirty="0">
                <a:solidFill>
                  <a:schemeClr val="dk1"/>
                </a:solidFill>
                <a:latin typeface="Times New Roman"/>
                <a:ea typeface="Times New Roman"/>
                <a:cs typeface="Times New Roman"/>
                <a:sym typeface="Times New Roman"/>
              </a:rPr>
              <a:t>Outline</a:t>
            </a:r>
            <a:endParaRPr dirty="0"/>
          </a:p>
        </p:txBody>
      </p:sp>
      <p:sp>
        <p:nvSpPr>
          <p:cNvPr id="98" name="Google Shape;98;p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13-Mar-25</a:t>
            </a:r>
            <a:endParaRPr/>
          </a:p>
        </p:txBody>
      </p:sp>
      <p:sp>
        <p:nvSpPr>
          <p:cNvPr id="99" name="Google Shape;99;p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Dept. of ECE, Vemana IT</a:t>
            </a:r>
            <a:endParaRPr/>
          </a:p>
        </p:txBody>
      </p:sp>
      <p:sp>
        <p:nvSpPr>
          <p:cNvPr id="100" name="Google Shape;100;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a:t>
            </a:fld>
            <a:endParaRPr/>
          </a:p>
        </p:txBody>
      </p:sp>
      <p:sp>
        <p:nvSpPr>
          <p:cNvPr id="101" name="Google Shape;101;p2"/>
          <p:cNvSpPr txBox="1"/>
          <p:nvPr/>
        </p:nvSpPr>
        <p:spPr>
          <a:xfrm>
            <a:off x="1018049" y="1781347"/>
            <a:ext cx="7931100" cy="2862282"/>
          </a:xfrm>
          <a:prstGeom prst="rect">
            <a:avLst/>
          </a:prstGeom>
          <a:noFill/>
          <a:ln>
            <a:noFill/>
          </a:ln>
        </p:spPr>
        <p:txBody>
          <a:bodyPr spcFirstLastPara="1" wrap="square" lIns="91425" tIns="45700" rIns="91425" bIns="45700" anchor="t" anchorCtr="0">
            <a:spAutoFit/>
          </a:bodyPr>
          <a:lstStyle/>
          <a:p>
            <a:pPr marL="285750" marR="0" lvl="0" indent="-285750" algn="just" rtl="0">
              <a:lnSpc>
                <a:spcPct val="150000"/>
              </a:lnSpc>
              <a:spcBef>
                <a:spcPts val="0"/>
              </a:spcBef>
              <a:spcAft>
                <a:spcPts val="0"/>
              </a:spcAft>
              <a:buClr>
                <a:schemeClr val="dk1"/>
              </a:buClr>
              <a:buSzPts val="2400"/>
              <a:buFont typeface="Arial"/>
              <a:buChar char="•"/>
            </a:pPr>
            <a:r>
              <a:rPr lang="en-US" sz="2400" dirty="0">
                <a:solidFill>
                  <a:schemeClr val="dk1"/>
                </a:solidFill>
                <a:latin typeface="Times New Roman" panose="02020603050405020304" pitchFamily="18" charset="0"/>
                <a:ea typeface="Times New Roman"/>
                <a:cs typeface="Times New Roman" panose="02020603050405020304" pitchFamily="18" charset="0"/>
                <a:sym typeface="Times New Roman"/>
              </a:rPr>
              <a:t>Introduction</a:t>
            </a:r>
            <a:endParaRPr sz="2400" dirty="0">
              <a:latin typeface="Times New Roman" panose="02020603050405020304" pitchFamily="18" charset="0"/>
              <a:cs typeface="Times New Roman" panose="02020603050405020304" pitchFamily="18" charset="0"/>
            </a:endParaRPr>
          </a:p>
          <a:p>
            <a:pPr marL="285750" marR="0" lvl="0" indent="-285750" algn="just" rtl="0">
              <a:lnSpc>
                <a:spcPct val="150000"/>
              </a:lnSpc>
              <a:spcBef>
                <a:spcPts val="0"/>
              </a:spcBef>
              <a:spcAft>
                <a:spcPts val="0"/>
              </a:spcAft>
              <a:buClr>
                <a:schemeClr val="dk1"/>
              </a:buClr>
              <a:buSzPts val="2400"/>
              <a:buFont typeface="Arial"/>
              <a:buChar char="•"/>
            </a:pPr>
            <a:r>
              <a:rPr lang="en-US" sz="2400" dirty="0">
                <a:solidFill>
                  <a:schemeClr val="dk1"/>
                </a:solidFill>
                <a:latin typeface="Times New Roman" panose="02020603050405020304" pitchFamily="18" charset="0"/>
                <a:ea typeface="Times New Roman"/>
                <a:cs typeface="Times New Roman" panose="02020603050405020304" pitchFamily="18" charset="0"/>
                <a:sym typeface="Times New Roman"/>
              </a:rPr>
              <a:t>Problem Statement</a:t>
            </a:r>
            <a:endParaRPr sz="2400" dirty="0">
              <a:latin typeface="Times New Roman" panose="02020603050405020304" pitchFamily="18" charset="0"/>
              <a:cs typeface="Times New Roman" panose="02020603050405020304" pitchFamily="18" charset="0"/>
            </a:endParaRPr>
          </a:p>
          <a:p>
            <a:pPr marL="285750" marR="0" lvl="0" indent="-285750" algn="just" rtl="0">
              <a:lnSpc>
                <a:spcPct val="150000"/>
              </a:lnSpc>
              <a:spcBef>
                <a:spcPts val="0"/>
              </a:spcBef>
              <a:spcAft>
                <a:spcPts val="0"/>
              </a:spcAft>
              <a:buClr>
                <a:schemeClr val="dk1"/>
              </a:buClr>
              <a:buSzPts val="2400"/>
              <a:buFont typeface="Arial"/>
              <a:buChar char="•"/>
            </a:pPr>
            <a:r>
              <a:rPr lang="en-US" sz="2400" dirty="0">
                <a:solidFill>
                  <a:schemeClr val="dk1"/>
                </a:solidFill>
                <a:latin typeface="Times New Roman" panose="02020603050405020304" pitchFamily="18" charset="0"/>
                <a:ea typeface="Times New Roman"/>
                <a:cs typeface="Times New Roman" panose="02020603050405020304" pitchFamily="18" charset="0"/>
                <a:sym typeface="Times New Roman"/>
              </a:rPr>
              <a:t>Objectives</a:t>
            </a:r>
            <a:endParaRPr sz="2400" dirty="0">
              <a:latin typeface="Times New Roman" panose="02020603050405020304" pitchFamily="18" charset="0"/>
              <a:cs typeface="Times New Roman" panose="02020603050405020304" pitchFamily="18" charset="0"/>
            </a:endParaRPr>
          </a:p>
          <a:p>
            <a:pPr marL="285750" marR="0" lvl="0" indent="-285750" algn="just" rtl="0">
              <a:lnSpc>
                <a:spcPct val="150000"/>
              </a:lnSpc>
              <a:spcBef>
                <a:spcPts val="0"/>
              </a:spcBef>
              <a:spcAft>
                <a:spcPts val="0"/>
              </a:spcAft>
              <a:buClr>
                <a:schemeClr val="dk1"/>
              </a:buClr>
              <a:buSzPts val="2400"/>
              <a:buFont typeface="Arial"/>
              <a:buChar char="•"/>
            </a:pPr>
            <a:r>
              <a:rPr lang="en-US" sz="2400" dirty="0">
                <a:solidFill>
                  <a:schemeClr val="dk1"/>
                </a:solidFill>
                <a:latin typeface="Times New Roman" panose="02020603050405020304" pitchFamily="18" charset="0"/>
                <a:ea typeface="Times New Roman"/>
                <a:cs typeface="Times New Roman" panose="02020603050405020304" pitchFamily="18" charset="0"/>
                <a:sym typeface="Times New Roman"/>
              </a:rPr>
              <a:t>Applications</a:t>
            </a:r>
            <a:endParaRPr sz="2400" dirty="0">
              <a:latin typeface="Times New Roman" panose="02020603050405020304" pitchFamily="18" charset="0"/>
              <a:cs typeface="Times New Roman" panose="02020603050405020304" pitchFamily="18" charset="0"/>
            </a:endParaRPr>
          </a:p>
          <a:p>
            <a:pPr marL="285750" marR="0" lvl="0" indent="-285750" algn="just" rtl="0">
              <a:lnSpc>
                <a:spcPct val="150000"/>
              </a:lnSpc>
              <a:spcBef>
                <a:spcPts val="0"/>
              </a:spcBef>
              <a:spcAft>
                <a:spcPts val="0"/>
              </a:spcAft>
              <a:buClr>
                <a:schemeClr val="dk1"/>
              </a:buClr>
              <a:buSzPts val="2400"/>
              <a:buFont typeface="Arial"/>
              <a:buChar char="•"/>
            </a:pPr>
            <a:r>
              <a:rPr lang="en-US" sz="2400" dirty="0">
                <a:solidFill>
                  <a:schemeClr val="dk1"/>
                </a:solidFill>
                <a:latin typeface="Times New Roman" panose="02020603050405020304" pitchFamily="18" charset="0"/>
                <a:ea typeface="Times New Roman"/>
                <a:cs typeface="Times New Roman" panose="02020603050405020304" pitchFamily="18" charset="0"/>
                <a:sym typeface="Times New Roman"/>
              </a:rPr>
              <a:t>Reference</a:t>
            </a:r>
            <a:endParaRPr sz="2400" dirty="0">
              <a:latin typeface="Times New Roman" panose="02020603050405020304" pitchFamily="18" charset="0"/>
              <a:cs typeface="Times New Roman" panose="02020603050405020304" pitchFamily="18" charset="0"/>
            </a:endParaRPr>
          </a:p>
        </p:txBody>
      </p:sp>
    </p:spTree>
  </p:cSld>
  <p:clrMapOvr>
    <a:masterClrMapping/>
  </p:clrMapOvr>
  <p:transition spd="slow">
    <p:wipe dir="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110" name="Google Shape;110;p3"/>
          <p:cNvSpPr txBox="1">
            <a:spLocks noGrp="1"/>
          </p:cNvSpPr>
          <p:nvPr>
            <p:ph type="title"/>
          </p:nvPr>
        </p:nvSpPr>
        <p:spPr>
          <a:xfrm>
            <a:off x="-1" y="881948"/>
            <a:ext cx="9056774" cy="907668"/>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000"/>
              <a:buFont typeface="Times New Roman"/>
              <a:buNone/>
            </a:pPr>
            <a:r>
              <a:rPr lang="en-US" sz="4000" b="1" dirty="0">
                <a:latin typeface="Times New Roman"/>
                <a:ea typeface="Times New Roman"/>
                <a:cs typeface="Times New Roman"/>
                <a:sym typeface="Times New Roman"/>
              </a:rPr>
              <a:t> INTRODUCTION</a:t>
            </a:r>
            <a:endParaRPr dirty="0"/>
          </a:p>
        </p:txBody>
      </p:sp>
      <p:sp>
        <p:nvSpPr>
          <p:cNvPr id="111" name="Google Shape;111;p3"/>
          <p:cNvSpPr txBox="1">
            <a:spLocks noGrp="1"/>
          </p:cNvSpPr>
          <p:nvPr>
            <p:ph type="body" idx="1"/>
          </p:nvPr>
        </p:nvSpPr>
        <p:spPr>
          <a:xfrm>
            <a:off x="855427" y="2156274"/>
            <a:ext cx="7345919" cy="3713880"/>
          </a:xfrm>
          <a:prstGeom prst="rect">
            <a:avLst/>
          </a:prstGeom>
          <a:noFill/>
          <a:ln>
            <a:noFill/>
          </a:ln>
        </p:spPr>
        <p:txBody>
          <a:bodyPr spcFirstLastPara="1" wrap="square" lIns="91425" tIns="45700" rIns="91425" bIns="45700" anchor="ctr" anchorCtr="0">
            <a:normAutofit/>
          </a:bodyPr>
          <a:lstStyle/>
          <a:p>
            <a:pPr marL="342900" lvl="0" indent="-381000" algn="just" rtl="0">
              <a:spcBef>
                <a:spcPts val="0"/>
              </a:spcBef>
              <a:spcAft>
                <a:spcPts val="0"/>
              </a:spcAft>
              <a:buSzPts val="2400"/>
              <a:buChar char="•"/>
            </a:pPr>
            <a:r>
              <a:rPr lang="en-US" sz="2400" dirty="0">
                <a:latin typeface="Times New Roman"/>
                <a:ea typeface="Times New Roman"/>
                <a:cs typeface="Times New Roman"/>
                <a:sym typeface="Times New Roman"/>
              </a:rPr>
              <a:t>This project aims to create an affordable, modular prosthetic arm that is specifically tailored to bridge the gaps of availability, affordability, and maintenance in India.</a:t>
            </a:r>
          </a:p>
          <a:p>
            <a:pPr marL="0" lvl="0" indent="0" algn="just" rtl="0">
              <a:spcBef>
                <a:spcPts val="0"/>
              </a:spcBef>
              <a:spcAft>
                <a:spcPts val="0"/>
              </a:spcAft>
              <a:buSzPts val="2400"/>
              <a:buNone/>
            </a:pPr>
            <a:endParaRPr sz="2400" dirty="0">
              <a:latin typeface="Times New Roman"/>
              <a:ea typeface="Times New Roman"/>
              <a:cs typeface="Times New Roman"/>
              <a:sym typeface="Times New Roman"/>
            </a:endParaRPr>
          </a:p>
          <a:p>
            <a:pPr marL="342900" lvl="0" indent="-381000" algn="just" rtl="0">
              <a:spcBef>
                <a:spcPts val="480"/>
              </a:spcBef>
              <a:spcAft>
                <a:spcPts val="0"/>
              </a:spcAft>
              <a:buSzPts val="2400"/>
              <a:buChar char="•"/>
            </a:pPr>
            <a:r>
              <a:rPr lang="en-US" sz="2400" dirty="0">
                <a:latin typeface="Times New Roman"/>
                <a:ea typeface="Times New Roman"/>
                <a:cs typeface="Times New Roman"/>
                <a:sym typeface="Times New Roman"/>
              </a:rPr>
              <a:t>Using affordable materials and modular parts, the design will also enable simpler replacement and repair of parts without causing undue costs to users or leading to idle periods for them.</a:t>
            </a:r>
            <a:endParaRPr sz="2400" dirty="0">
              <a:latin typeface="Times New Roman"/>
              <a:ea typeface="Times New Roman"/>
              <a:cs typeface="Times New Roman"/>
              <a:sym typeface="Times New Roman"/>
            </a:endParaRPr>
          </a:p>
          <a:p>
            <a:pPr marL="0" lvl="0" indent="0" algn="just" rtl="0">
              <a:spcBef>
                <a:spcPts val="480"/>
              </a:spcBef>
              <a:spcAft>
                <a:spcPts val="0"/>
              </a:spcAft>
              <a:buNone/>
            </a:pPr>
            <a:endParaRPr sz="2400" dirty="0">
              <a:latin typeface="Times New Roman"/>
              <a:ea typeface="Times New Roman"/>
              <a:cs typeface="Times New Roman"/>
              <a:sym typeface="Times New Roman"/>
            </a:endParaRPr>
          </a:p>
        </p:txBody>
      </p:sp>
      <p:sp>
        <p:nvSpPr>
          <p:cNvPr id="112" name="Google Shape;112;p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13-Mar-25</a:t>
            </a:r>
            <a:endParaRPr/>
          </a:p>
        </p:txBody>
      </p:sp>
      <p:sp>
        <p:nvSpPr>
          <p:cNvPr id="113" name="Google Shape;113;p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Dept. of ECE, Vemana IT</a:t>
            </a:r>
            <a:endParaRPr/>
          </a:p>
        </p:txBody>
      </p:sp>
      <p:sp>
        <p:nvSpPr>
          <p:cNvPr id="114" name="Google Shape;114;p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a:t>
            </a:fld>
            <a:endParaRPr/>
          </a:p>
        </p:txBody>
      </p:sp>
    </p:spTree>
  </p:cSld>
  <p:clrMapOvr>
    <a:masterClrMapping/>
  </p:clrMapOvr>
  <p:transition spd="slow">
    <p:wipe dir="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123" name="Google Shape;123;p4"/>
          <p:cNvSpPr txBox="1">
            <a:spLocks noGrp="1"/>
          </p:cNvSpPr>
          <p:nvPr>
            <p:ph type="title"/>
          </p:nvPr>
        </p:nvSpPr>
        <p:spPr>
          <a:xfrm>
            <a:off x="457200" y="1050312"/>
            <a:ext cx="8229600" cy="634082"/>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Clr>
                <a:schemeClr val="dk1"/>
              </a:buClr>
              <a:buSzPts val="4000"/>
              <a:buFont typeface="Times New Roman"/>
              <a:buNone/>
            </a:pPr>
            <a:r>
              <a:rPr lang="en-US" sz="4000" b="1" dirty="0">
                <a:latin typeface="Times New Roman"/>
                <a:ea typeface="Times New Roman"/>
                <a:cs typeface="Times New Roman"/>
                <a:sym typeface="Times New Roman"/>
              </a:rPr>
              <a:t> Problem Statement</a:t>
            </a:r>
            <a:endParaRPr sz="4000" dirty="0"/>
          </a:p>
        </p:txBody>
      </p:sp>
      <p:sp>
        <p:nvSpPr>
          <p:cNvPr id="124" name="Google Shape;124;p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13-Mar-25</a:t>
            </a:r>
            <a:endParaRPr/>
          </a:p>
        </p:txBody>
      </p:sp>
      <p:sp>
        <p:nvSpPr>
          <p:cNvPr id="125" name="Google Shape;125;p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Dept. of ECE, Vemana IT</a:t>
            </a:r>
            <a:endParaRPr/>
          </a:p>
        </p:txBody>
      </p:sp>
      <p:sp>
        <p:nvSpPr>
          <p:cNvPr id="126" name="Google Shape;126;p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a:t>
            </a:fld>
            <a:endParaRPr/>
          </a:p>
        </p:txBody>
      </p:sp>
      <p:sp>
        <p:nvSpPr>
          <p:cNvPr id="127" name="Google Shape;127;p4"/>
          <p:cNvSpPr txBox="1">
            <a:spLocks noGrp="1"/>
          </p:cNvSpPr>
          <p:nvPr>
            <p:ph type="body" idx="1"/>
          </p:nvPr>
        </p:nvSpPr>
        <p:spPr>
          <a:xfrm>
            <a:off x="895167" y="1501508"/>
            <a:ext cx="7353666" cy="4137323"/>
          </a:xfrm>
          <a:prstGeom prst="rect">
            <a:avLst/>
          </a:prstGeom>
          <a:noFill/>
          <a:ln>
            <a:noFill/>
          </a:ln>
        </p:spPr>
        <p:txBody>
          <a:bodyPr spcFirstLastPara="1" wrap="square" lIns="91425" tIns="45700" rIns="91425" bIns="45700" anchor="ctr" anchorCtr="0">
            <a:normAutofit/>
          </a:bodyPr>
          <a:lstStyle/>
          <a:p>
            <a:pPr marL="342900" lvl="0" indent="-342900" algn="just" rtl="0">
              <a:spcBef>
                <a:spcPts val="480"/>
              </a:spcBef>
              <a:spcAft>
                <a:spcPts val="0"/>
              </a:spcAft>
              <a:buClr>
                <a:schemeClr val="dk1"/>
              </a:buClr>
              <a:buSzPts val="2400"/>
              <a:buChar char="•"/>
            </a:pPr>
            <a:r>
              <a:rPr lang="en-US" sz="2400" dirty="0">
                <a:highlight>
                  <a:srgbClr val="FFFFFF"/>
                </a:highlight>
                <a:latin typeface="Times New Roman"/>
                <a:ea typeface="Times New Roman"/>
                <a:cs typeface="Times New Roman"/>
                <a:sym typeface="Times New Roman"/>
              </a:rPr>
              <a:t>The project aims to develop affordable, modular prosthetic arm with cost-effective materials and integrated sensors for easy repairs, enhanced user experience, and improved mobility.</a:t>
            </a:r>
            <a:endParaRPr sz="2400" dirty="0">
              <a:highlight>
                <a:srgbClr val="FFFFFF"/>
              </a:highlight>
              <a:latin typeface="Times New Roman"/>
              <a:ea typeface="Times New Roman"/>
              <a:cs typeface="Times New Roman"/>
              <a:sym typeface="Times New Roman"/>
            </a:endParaRPr>
          </a:p>
          <a:p>
            <a:pPr marL="342900" lvl="0" indent="0" algn="just" rtl="0">
              <a:spcBef>
                <a:spcPts val="480"/>
              </a:spcBef>
              <a:spcAft>
                <a:spcPts val="0"/>
              </a:spcAft>
              <a:buNone/>
            </a:pPr>
            <a:endParaRPr dirty="0"/>
          </a:p>
        </p:txBody>
      </p:sp>
    </p:spTree>
  </p:cSld>
  <p:clrMapOvr>
    <a:masterClrMapping/>
  </p:clrMapOvr>
  <p:transition spd="slow">
    <p:wipe dir="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35"/>
        <p:cNvGrpSpPr/>
        <p:nvPr/>
      </p:nvGrpSpPr>
      <p:grpSpPr>
        <a:xfrm>
          <a:off x="0" y="0"/>
          <a:ext cx="0" cy="0"/>
          <a:chOff x="0" y="0"/>
          <a:chExt cx="0" cy="0"/>
        </a:xfrm>
      </p:grpSpPr>
      <p:sp>
        <p:nvSpPr>
          <p:cNvPr id="136" name="Google Shape;136;p5"/>
          <p:cNvSpPr txBox="1"/>
          <p:nvPr/>
        </p:nvSpPr>
        <p:spPr>
          <a:xfrm>
            <a:off x="-1" y="849459"/>
            <a:ext cx="9144000" cy="707886"/>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4000" b="1" dirty="0">
                <a:solidFill>
                  <a:schemeClr val="dk1"/>
                </a:solidFill>
                <a:latin typeface="Times New Roman"/>
                <a:ea typeface="Times New Roman"/>
                <a:cs typeface="Times New Roman"/>
                <a:sym typeface="Times New Roman"/>
              </a:rPr>
              <a:t>Objectives</a:t>
            </a:r>
            <a:endParaRPr sz="3600" dirty="0">
              <a:solidFill>
                <a:schemeClr val="dk1"/>
              </a:solidFill>
              <a:latin typeface="Calibri"/>
              <a:ea typeface="Calibri"/>
              <a:cs typeface="Calibri"/>
              <a:sym typeface="Calibri"/>
            </a:endParaRPr>
          </a:p>
        </p:txBody>
      </p:sp>
      <p:sp>
        <p:nvSpPr>
          <p:cNvPr id="137" name="Google Shape;137;p5"/>
          <p:cNvSpPr txBox="1">
            <a:spLocks noGrp="1"/>
          </p:cNvSpPr>
          <p:nvPr>
            <p:ph type="body" idx="1"/>
          </p:nvPr>
        </p:nvSpPr>
        <p:spPr>
          <a:xfrm>
            <a:off x="970934" y="1665517"/>
            <a:ext cx="7202129" cy="4248473"/>
          </a:xfrm>
          <a:prstGeom prst="rect">
            <a:avLst/>
          </a:prstGeom>
          <a:noFill/>
          <a:ln>
            <a:noFill/>
          </a:ln>
        </p:spPr>
        <p:txBody>
          <a:bodyPr spcFirstLastPara="1" wrap="square" lIns="91425" tIns="45700" rIns="91425" bIns="45700" anchor="ctr" anchorCtr="0">
            <a:normAutofit/>
          </a:bodyPr>
          <a:lstStyle/>
          <a:p>
            <a:pPr marL="457200" lvl="0" indent="-381000" algn="just" rtl="0">
              <a:lnSpc>
                <a:spcPct val="90000"/>
              </a:lnSpc>
              <a:spcBef>
                <a:spcPts val="440"/>
              </a:spcBef>
              <a:spcAft>
                <a:spcPts val="0"/>
              </a:spcAft>
              <a:buSzPts val="2400"/>
              <a:buFont typeface="Times New Roman"/>
              <a:buAutoNum type="arabicPeriod"/>
            </a:pPr>
            <a:r>
              <a:rPr lang="en-US" sz="2400" dirty="0">
                <a:latin typeface="Times New Roman"/>
                <a:ea typeface="Times New Roman"/>
                <a:cs typeface="Times New Roman"/>
                <a:sym typeface="Times New Roman"/>
              </a:rPr>
              <a:t>To develop a cost-effective, modular prosthetic arm for easy repairs and maintenance.</a:t>
            </a:r>
          </a:p>
          <a:p>
            <a:pPr marL="457200" lvl="0" indent="-381000" algn="just" rtl="0">
              <a:lnSpc>
                <a:spcPct val="90000"/>
              </a:lnSpc>
              <a:spcBef>
                <a:spcPts val="440"/>
              </a:spcBef>
              <a:spcAft>
                <a:spcPts val="0"/>
              </a:spcAft>
              <a:buSzPts val="2400"/>
              <a:buFont typeface="Times New Roman"/>
              <a:buAutoNum type="arabicPeriod"/>
            </a:pPr>
            <a:endParaRPr lang="en-US" sz="2400" dirty="0">
              <a:latin typeface="Times New Roman"/>
              <a:ea typeface="Times New Roman"/>
              <a:cs typeface="Times New Roman"/>
              <a:sym typeface="Times New Roman"/>
            </a:endParaRPr>
          </a:p>
          <a:p>
            <a:pPr marL="457200" lvl="0" indent="-381000" algn="just" rtl="0">
              <a:lnSpc>
                <a:spcPct val="90000"/>
              </a:lnSpc>
              <a:spcBef>
                <a:spcPts val="440"/>
              </a:spcBef>
              <a:spcAft>
                <a:spcPts val="0"/>
              </a:spcAft>
              <a:buSzPts val="2400"/>
              <a:buFont typeface="Times New Roman"/>
              <a:buAutoNum type="arabicPeriod"/>
            </a:pPr>
            <a:r>
              <a:rPr lang="en-US" sz="2400" dirty="0">
                <a:latin typeface="Times New Roman"/>
                <a:ea typeface="Times New Roman"/>
                <a:cs typeface="Times New Roman"/>
                <a:sym typeface="Times New Roman"/>
              </a:rPr>
              <a:t>To integrate sensors to improve grip strength detection and joint movement control for better functionality.</a:t>
            </a:r>
          </a:p>
          <a:p>
            <a:pPr marL="457200" lvl="0" indent="-381000" algn="just" rtl="0">
              <a:lnSpc>
                <a:spcPct val="90000"/>
              </a:lnSpc>
              <a:spcBef>
                <a:spcPts val="440"/>
              </a:spcBef>
              <a:spcAft>
                <a:spcPts val="0"/>
              </a:spcAft>
              <a:buSzPts val="2400"/>
              <a:buFont typeface="Times New Roman"/>
              <a:buAutoNum type="arabicPeriod"/>
            </a:pPr>
            <a:endParaRPr lang="en-US" sz="2400" dirty="0">
              <a:latin typeface="Times New Roman"/>
              <a:ea typeface="Times New Roman"/>
              <a:cs typeface="Times New Roman"/>
              <a:sym typeface="Times New Roman"/>
            </a:endParaRPr>
          </a:p>
          <a:p>
            <a:pPr marL="457200" lvl="0" indent="-381000" algn="just" rtl="0">
              <a:lnSpc>
                <a:spcPct val="90000"/>
              </a:lnSpc>
              <a:spcBef>
                <a:spcPts val="440"/>
              </a:spcBef>
              <a:spcAft>
                <a:spcPts val="0"/>
              </a:spcAft>
              <a:buSzPts val="2400"/>
              <a:buFont typeface="Times New Roman"/>
              <a:buAutoNum type="arabicPeriod"/>
            </a:pPr>
            <a:r>
              <a:rPr lang="en-US" sz="2400" dirty="0">
                <a:latin typeface="Times New Roman"/>
                <a:ea typeface="Times New Roman"/>
                <a:cs typeface="Times New Roman"/>
                <a:sym typeface="Times New Roman"/>
              </a:rPr>
              <a:t>To design a prototype of a prosthetic arm.</a:t>
            </a:r>
            <a:endParaRPr sz="2400" dirty="0">
              <a:latin typeface="Times New Roman"/>
              <a:ea typeface="Times New Roman"/>
              <a:cs typeface="Times New Roman"/>
              <a:sym typeface="Times New Roman"/>
            </a:endParaRPr>
          </a:p>
          <a:p>
            <a:pPr marL="0" lvl="0" indent="0" algn="just" rtl="0">
              <a:lnSpc>
                <a:spcPct val="90000"/>
              </a:lnSpc>
              <a:spcBef>
                <a:spcPts val="440"/>
              </a:spcBef>
              <a:spcAft>
                <a:spcPts val="0"/>
              </a:spcAft>
              <a:buNone/>
            </a:pPr>
            <a:endParaRPr sz="2400" dirty="0">
              <a:latin typeface="Times New Roman"/>
              <a:ea typeface="Times New Roman"/>
              <a:cs typeface="Times New Roman"/>
              <a:sym typeface="Times New Roman"/>
            </a:endParaRPr>
          </a:p>
          <a:p>
            <a:pPr marL="0" lvl="0" indent="0" algn="just" rtl="0">
              <a:lnSpc>
                <a:spcPct val="90000"/>
              </a:lnSpc>
              <a:spcBef>
                <a:spcPts val="440"/>
              </a:spcBef>
              <a:spcAft>
                <a:spcPts val="0"/>
              </a:spcAft>
              <a:buNone/>
            </a:pPr>
            <a:endParaRPr sz="2400" dirty="0">
              <a:latin typeface="Times New Roman"/>
              <a:ea typeface="Times New Roman"/>
              <a:cs typeface="Times New Roman"/>
              <a:sym typeface="Times New Roman"/>
            </a:endParaRPr>
          </a:p>
        </p:txBody>
      </p:sp>
      <p:sp>
        <p:nvSpPr>
          <p:cNvPr id="138" name="Google Shape;138;p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13-Mar-25</a:t>
            </a:r>
            <a:endParaRPr/>
          </a:p>
        </p:txBody>
      </p:sp>
      <p:sp>
        <p:nvSpPr>
          <p:cNvPr id="139" name="Google Shape;139;p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Dept. of ECE, Vemana IT</a:t>
            </a:r>
            <a:endParaRPr/>
          </a:p>
        </p:txBody>
      </p:sp>
      <p:sp>
        <p:nvSpPr>
          <p:cNvPr id="140" name="Google Shape;140;p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a:t>
            </a:fld>
            <a:endParaRPr/>
          </a:p>
        </p:txBody>
      </p:sp>
    </p:spTree>
  </p:cSld>
  <p:clrMapOvr>
    <a:masterClrMapping/>
  </p:clrMapOvr>
  <p:transition spd="slow">
    <p:wipe dir="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6608" y="115154"/>
            <a:ext cx="9144000" cy="707886"/>
          </a:xfrm>
          <a:prstGeom prst="rect">
            <a:avLst/>
          </a:prstGeom>
          <a:noFill/>
        </p:spPr>
        <p:txBody>
          <a:bodyPr wrap="square" rtlCol="0">
            <a:spAutoFit/>
          </a:bodyPr>
          <a:lstStyle/>
          <a:p>
            <a:pPr algn="ctr"/>
            <a:r>
              <a:rPr lang="en-US" sz="4000" b="1" dirty="0">
                <a:latin typeface="Times New Roman" pitchFamily="18" charset="0"/>
                <a:cs typeface="Times New Roman" pitchFamily="18" charset="0"/>
              </a:rPr>
              <a:t>Reference 1:</a:t>
            </a:r>
            <a:endParaRPr lang="en-IN" sz="3600" dirty="0"/>
          </a:p>
        </p:txBody>
      </p:sp>
      <p:sp>
        <p:nvSpPr>
          <p:cNvPr id="6" name="Content Placeholder 5"/>
          <p:cNvSpPr>
            <a:spLocks noGrp="1"/>
          </p:cNvSpPr>
          <p:nvPr>
            <p:ph idx="1"/>
          </p:nvPr>
        </p:nvSpPr>
        <p:spPr>
          <a:xfrm>
            <a:off x="323528" y="1385465"/>
            <a:ext cx="8496944" cy="5289451"/>
          </a:xfrm>
        </p:spPr>
        <p:txBody>
          <a:bodyPr>
            <a:normAutofit/>
          </a:bodyPr>
          <a:lstStyle/>
          <a:p>
            <a:pPr marL="342900" lvl="0" indent="-342900">
              <a:lnSpc>
                <a:spcPct val="107000"/>
              </a:lnSpc>
              <a:buSzPts val="1000"/>
              <a:buFont typeface="Symbol" panose="05050102010706020507" pitchFamily="18" charset="2"/>
              <a:buChar char=""/>
              <a:tabLst>
                <a:tab pos="457200" algn="l"/>
              </a:tabLst>
            </a:pPr>
            <a:r>
              <a:rPr lang="en-IN" sz="1800" b="1" kern="100" dirty="0">
                <a:effectLst/>
                <a:latin typeface="Times New Roman" panose="02020603050405020304" pitchFamily="18" charset="0"/>
                <a:ea typeface="Calibri" panose="020F0502020204030204" pitchFamily="34" charset="0"/>
                <a:cs typeface="Times New Roman" panose="02020603050405020304" pitchFamily="18" charset="0"/>
              </a:rPr>
              <a:t>Problem:</a:t>
            </a:r>
            <a:r>
              <a:rPr lang="en-IN" sz="1800" kern="100" dirty="0">
                <a:effectLst/>
                <a:latin typeface="Times New Roman" panose="02020603050405020304" pitchFamily="18" charset="0"/>
                <a:ea typeface="Calibri" panose="020F0502020204030204" pitchFamily="34" charset="0"/>
                <a:cs typeface="Times New Roman" panose="02020603050405020304" pitchFamily="18" charset="0"/>
              </a:rPr>
              <a:t> Myoelectric prosthetic hands have high rejection rates due to limited functionality and anthropomorphic design constraints.</a:t>
            </a:r>
          </a:p>
          <a:p>
            <a:pPr marL="342900" lvl="0" indent="-342900">
              <a:lnSpc>
                <a:spcPct val="107000"/>
              </a:lnSpc>
              <a:spcAft>
                <a:spcPts val="800"/>
              </a:spcAft>
              <a:buSzPts val="1000"/>
              <a:buFont typeface="Symbol" panose="05050102010706020507" pitchFamily="18" charset="2"/>
              <a:buChar char=""/>
              <a:tabLst>
                <a:tab pos="457200" algn="l"/>
              </a:tabLst>
            </a:pPr>
            <a:r>
              <a:rPr lang="en-IN" sz="1800" b="1" kern="100" dirty="0">
                <a:effectLst/>
                <a:latin typeface="Times New Roman" panose="02020603050405020304" pitchFamily="18" charset="0"/>
                <a:ea typeface="Calibri" panose="020F0502020204030204" pitchFamily="34" charset="0"/>
                <a:cs typeface="Times New Roman" panose="02020603050405020304" pitchFamily="18" charset="0"/>
              </a:rPr>
              <a:t>Solution:</a:t>
            </a:r>
            <a:r>
              <a:rPr lang="en-IN" sz="1800" kern="100" dirty="0">
                <a:effectLst/>
                <a:latin typeface="Times New Roman" panose="02020603050405020304" pitchFamily="18" charset="0"/>
                <a:ea typeface="Calibri" panose="020F0502020204030204" pitchFamily="34" charset="0"/>
                <a:cs typeface="Times New Roman" panose="02020603050405020304" pitchFamily="18" charset="0"/>
              </a:rPr>
              <a:t> Develop and evaluate modular, non-humanoid terminal devices tailored for specific tasks.</a:t>
            </a:r>
          </a:p>
          <a:p>
            <a:pPr marL="342900" lvl="0" indent="-342900">
              <a:lnSpc>
                <a:spcPct val="107000"/>
              </a:lnSpc>
              <a:buSzPts val="1000"/>
              <a:buFont typeface="Symbol" panose="05050102010706020507" pitchFamily="18" charset="2"/>
              <a:buChar char=""/>
              <a:tabLst>
                <a:tab pos="457200" algn="l"/>
              </a:tabLst>
            </a:pPr>
            <a:r>
              <a:rPr lang="en-IN" sz="1800" b="1" kern="100" dirty="0">
                <a:effectLst/>
                <a:latin typeface="Times New Roman" panose="02020603050405020304" pitchFamily="18" charset="0"/>
                <a:ea typeface="Calibri" panose="020F0502020204030204" pitchFamily="34" charset="0"/>
                <a:cs typeface="Times New Roman" panose="02020603050405020304" pitchFamily="18" charset="0"/>
              </a:rPr>
              <a:t>Methodology:</a:t>
            </a:r>
            <a:r>
              <a:rPr lang="en-IN" sz="1800" kern="100" dirty="0">
                <a:effectLst/>
                <a:latin typeface="Times New Roman" panose="02020603050405020304" pitchFamily="18" charset="0"/>
                <a:ea typeface="Calibri" panose="020F0502020204030204" pitchFamily="34" charset="0"/>
                <a:cs typeface="Times New Roman" panose="02020603050405020304" pitchFamily="18" charset="0"/>
              </a:rPr>
              <a:t> A control group study with participants without ULD compared non-humanoid devices against a humanoid prosthesis, measuring task performance, compensatory motion, and perceived task load. Case studies with two participants with ULD were also conducted.</a:t>
            </a:r>
          </a:p>
          <a:p>
            <a:pPr marL="342900" lvl="0" indent="-342900">
              <a:lnSpc>
                <a:spcPct val="107000"/>
              </a:lnSpc>
              <a:buSzPts val="1000"/>
              <a:buFont typeface="Symbol" panose="05050102010706020507" pitchFamily="18" charset="2"/>
              <a:buChar char=""/>
              <a:tabLst>
                <a:tab pos="457200" algn="l"/>
              </a:tabLst>
            </a:pPr>
            <a:r>
              <a:rPr lang="en-IN" sz="1800" b="1" kern="100" dirty="0">
                <a:effectLst/>
                <a:latin typeface="Times New Roman" panose="02020603050405020304" pitchFamily="18" charset="0"/>
                <a:ea typeface="Calibri" panose="020F0502020204030204" pitchFamily="34" charset="0"/>
                <a:cs typeface="Times New Roman" panose="02020603050405020304" pitchFamily="18" charset="0"/>
              </a:rPr>
              <a:t>Results:</a:t>
            </a:r>
            <a:r>
              <a:rPr lang="en-IN" sz="1800" kern="100" dirty="0">
                <a:effectLst/>
                <a:latin typeface="Times New Roman" panose="02020603050405020304" pitchFamily="18" charset="0"/>
                <a:ea typeface="Calibri" panose="020F0502020204030204" pitchFamily="34" charset="0"/>
                <a:cs typeface="Times New Roman" panose="02020603050405020304" pitchFamily="18" charset="0"/>
              </a:rPr>
              <a:t> Non-humanoid devices significantly improved task performance, reduced compensatory movement, and decreased task load compared to the humanoid prosthesis.</a:t>
            </a:r>
          </a:p>
          <a:p>
            <a:pPr marL="342900" lvl="0" indent="-342900">
              <a:lnSpc>
                <a:spcPct val="107000"/>
              </a:lnSpc>
              <a:spcAft>
                <a:spcPts val="800"/>
              </a:spcAft>
              <a:buSzPts val="1000"/>
              <a:buFont typeface="Symbol" panose="05050102010706020507" pitchFamily="18" charset="2"/>
              <a:buChar char=""/>
              <a:tabLst>
                <a:tab pos="457200" algn="l"/>
              </a:tabLst>
            </a:pPr>
            <a:r>
              <a:rPr lang="en-IN" sz="1800" b="1" kern="100" dirty="0">
                <a:effectLst/>
                <a:latin typeface="Times New Roman" panose="02020603050405020304" pitchFamily="18" charset="0"/>
                <a:ea typeface="Calibri" panose="020F0502020204030204" pitchFamily="34" charset="0"/>
                <a:cs typeface="Times New Roman" panose="02020603050405020304" pitchFamily="18" charset="0"/>
              </a:rPr>
              <a:t>Conclusion:</a:t>
            </a:r>
            <a:r>
              <a:rPr lang="en-IN" sz="1800" kern="100" dirty="0">
                <a:effectLst/>
                <a:latin typeface="Times New Roman" panose="02020603050405020304" pitchFamily="18" charset="0"/>
                <a:ea typeface="Calibri" panose="020F0502020204030204" pitchFamily="34" charset="0"/>
                <a:cs typeface="Times New Roman" panose="02020603050405020304" pitchFamily="18" charset="0"/>
              </a:rPr>
              <a:t> Task-specific, non-humanoid terminal devices offer a promising approach to enhance prosthetic hand functionality and user satisfaction. They may also improve quality of life by facilitating social interactions.</a:t>
            </a:r>
          </a:p>
          <a:p>
            <a:pPr marL="342900" lvl="0" indent="-342900">
              <a:lnSpc>
                <a:spcPct val="107000"/>
              </a:lnSpc>
              <a:spcAft>
                <a:spcPts val="800"/>
              </a:spcAft>
              <a:buSzPts val="1000"/>
              <a:buFont typeface="Symbol" panose="05050102010706020507" pitchFamily="18" charset="2"/>
              <a:buChar char=""/>
              <a:tabLst>
                <a:tab pos="457200" algn="l"/>
              </a:tabLst>
            </a:pPr>
            <a:endParaRPr lang="en-IN" sz="1800" kern="1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9" name="Date Placeholder 8"/>
          <p:cNvSpPr>
            <a:spLocks noGrp="1"/>
          </p:cNvSpPr>
          <p:nvPr>
            <p:ph type="dt" sz="half" idx="10"/>
          </p:nvPr>
        </p:nvSpPr>
        <p:spPr/>
        <p:txBody>
          <a:bodyPr/>
          <a:lstStyle/>
          <a:p>
            <a:fld id="{86C11761-8B92-4C9A-AE4A-98F2845B6207}" type="datetime5">
              <a:rPr lang="en-US"/>
              <a:t>6-May-25</a:t>
            </a:fld>
            <a:endParaRPr lang="en-IN" dirty="0"/>
          </a:p>
        </p:txBody>
      </p:sp>
      <p:sp>
        <p:nvSpPr>
          <p:cNvPr id="10" name="Footer Placeholder 9"/>
          <p:cNvSpPr>
            <a:spLocks noGrp="1"/>
          </p:cNvSpPr>
          <p:nvPr>
            <p:ph type="ftr" sz="quarter" idx="11"/>
          </p:nvPr>
        </p:nvSpPr>
        <p:spPr/>
        <p:txBody>
          <a:bodyPr/>
          <a:lstStyle/>
          <a:p>
            <a:r>
              <a:rPr lang="en-IN"/>
              <a:t>Dept. of ECE, Vemana IT</a:t>
            </a:r>
          </a:p>
        </p:txBody>
      </p:sp>
      <p:sp>
        <p:nvSpPr>
          <p:cNvPr id="11" name="Slide Number Placeholder 10"/>
          <p:cNvSpPr>
            <a:spLocks noGrp="1"/>
          </p:cNvSpPr>
          <p:nvPr>
            <p:ph type="sldNum" sz="quarter" idx="12"/>
          </p:nvPr>
        </p:nvSpPr>
        <p:spPr/>
        <p:txBody>
          <a:bodyPr/>
          <a:lstStyle/>
          <a:p>
            <a:fld id="{25E424CE-D6BC-4AC3-8E72-FD46834FA053}" type="slidenum">
              <a:rPr lang="en-IN"/>
              <a:pPr/>
              <a:t>5</a:t>
            </a:fld>
            <a:endParaRPr lang="en-IN"/>
          </a:p>
        </p:txBody>
      </p:sp>
      <p:sp>
        <p:nvSpPr>
          <p:cNvPr id="3" name="TextBox 2">
            <a:extLst>
              <a:ext uri="{FF2B5EF4-FFF2-40B4-BE49-F238E27FC236}">
                <a16:creationId xmlns:a16="http://schemas.microsoft.com/office/drawing/2014/main" id="{47243431-009D-EC4C-AE7D-D095D872D75C}"/>
              </a:ext>
            </a:extLst>
          </p:cNvPr>
          <p:cNvSpPr txBox="1"/>
          <p:nvPr/>
        </p:nvSpPr>
        <p:spPr>
          <a:xfrm>
            <a:off x="323528" y="739134"/>
            <a:ext cx="8496944" cy="646331"/>
          </a:xfrm>
          <a:prstGeom prst="rect">
            <a:avLst/>
          </a:prstGeom>
          <a:noFill/>
        </p:spPr>
        <p:txBody>
          <a:bodyPr wrap="square">
            <a:spAutoFit/>
          </a:bodyPr>
          <a:lstStyle/>
          <a:p>
            <a:pPr algn="ctr"/>
            <a:r>
              <a:rPr lang="en-US" sz="1800" b="1" dirty="0">
                <a:effectLst/>
                <a:latin typeface="Calibri" panose="020F0502020204030204" pitchFamily="34" charset="0"/>
                <a:ea typeface="Calibri" panose="020F0502020204030204" pitchFamily="34" charset="0"/>
                <a:cs typeface="Times New Roman" panose="02020603050405020304" pitchFamily="18" charset="0"/>
              </a:rPr>
              <a:t>Beyond Humanoid Prosthetic Hands: Modular Terminal Devices That Improve User Performance</a:t>
            </a:r>
          </a:p>
        </p:txBody>
      </p:sp>
    </p:spTree>
    <p:extLst>
      <p:ext uri="{BB962C8B-B14F-4D97-AF65-F5344CB8AC3E}">
        <p14:creationId xmlns:p14="http://schemas.microsoft.com/office/powerpoint/2010/main" val="3339976399"/>
      </p:ext>
    </p:extLst>
  </p:cSld>
  <p:clrMapOvr>
    <a:masterClrMapping/>
  </p:clrMapOvr>
  <p:transition spd="slow">
    <p:wipe dir="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6608" y="115154"/>
            <a:ext cx="9144000" cy="707886"/>
          </a:xfrm>
          <a:prstGeom prst="rect">
            <a:avLst/>
          </a:prstGeom>
          <a:noFill/>
        </p:spPr>
        <p:txBody>
          <a:bodyPr wrap="square" rtlCol="0">
            <a:spAutoFit/>
          </a:bodyPr>
          <a:lstStyle/>
          <a:p>
            <a:pPr algn="ctr"/>
            <a:r>
              <a:rPr lang="en-US" sz="4000" b="1" dirty="0">
                <a:latin typeface="Times New Roman" pitchFamily="18" charset="0"/>
                <a:cs typeface="Times New Roman" pitchFamily="18" charset="0"/>
              </a:rPr>
              <a:t>Reference 2:</a:t>
            </a:r>
            <a:endParaRPr lang="en-IN" sz="3600" dirty="0"/>
          </a:p>
        </p:txBody>
      </p:sp>
      <p:sp>
        <p:nvSpPr>
          <p:cNvPr id="6" name="Content Placeholder 5"/>
          <p:cNvSpPr>
            <a:spLocks noGrp="1"/>
          </p:cNvSpPr>
          <p:nvPr>
            <p:ph idx="1"/>
          </p:nvPr>
        </p:nvSpPr>
        <p:spPr>
          <a:xfrm>
            <a:off x="323528" y="1385465"/>
            <a:ext cx="8496944" cy="5289451"/>
          </a:xfrm>
        </p:spPr>
        <p:txBody>
          <a:bodyPr>
            <a:normAutofit/>
          </a:bodyPr>
          <a:lstStyle/>
          <a:p>
            <a:pPr marL="342900" lvl="0" indent="-342900">
              <a:lnSpc>
                <a:spcPct val="107000"/>
              </a:lnSpc>
              <a:buSzPts val="1000"/>
              <a:buFont typeface="Symbol" panose="05050102010706020507" pitchFamily="18" charset="2"/>
              <a:buChar char=""/>
              <a:tabLst>
                <a:tab pos="457200" algn="l"/>
              </a:tabLst>
            </a:pPr>
            <a:r>
              <a:rPr lang="en-US" sz="1800" b="1" kern="100" dirty="0">
                <a:effectLst/>
                <a:latin typeface="Times New Roman" panose="02020603050405020304" pitchFamily="18" charset="0"/>
                <a:ea typeface="Calibri" panose="020F0502020204030204" pitchFamily="34" charset="0"/>
                <a:cs typeface="Times New Roman" panose="02020603050405020304" pitchFamily="18" charset="0"/>
              </a:rPr>
              <a:t>Problem</a:t>
            </a: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 Conventional socket-based prosthetic attachments often cause discomfort, skin damage, and high abandonment rates. While osseointegration offers skeletal fixation, it poses significant infection risks due to skin penetration.</a:t>
            </a:r>
          </a:p>
          <a:p>
            <a:pPr marL="342900" lvl="0" indent="-342900">
              <a:lnSpc>
                <a:spcPct val="107000"/>
              </a:lnSpc>
              <a:buSzPts val="1000"/>
              <a:buFont typeface="Symbol" panose="05050102010706020507" pitchFamily="18" charset="2"/>
              <a:buChar char=""/>
              <a:tabLst>
                <a:tab pos="457200" algn="l"/>
              </a:tabLst>
            </a:pPr>
            <a:r>
              <a:rPr lang="en-US" sz="1800" b="1" kern="100" dirty="0">
                <a:effectLst/>
                <a:latin typeface="Times New Roman" panose="02020603050405020304" pitchFamily="18" charset="0"/>
                <a:ea typeface="Calibri" panose="020F0502020204030204" pitchFamily="34" charset="0"/>
                <a:cs typeface="Times New Roman" panose="02020603050405020304" pitchFamily="18" charset="0"/>
              </a:rPr>
              <a:t>Solution</a:t>
            </a: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 Develop a prosthetic suspension system using electromagnetic attraction between a subcutaneous ferromagnetic implant in the residual bone and an external electromagnet in the socket, enabling secure, non-invasive load transfer.</a:t>
            </a:r>
          </a:p>
          <a:p>
            <a:pPr marL="342900" lvl="0" indent="-342900">
              <a:lnSpc>
                <a:spcPct val="107000"/>
              </a:lnSpc>
              <a:buSzPts val="1000"/>
              <a:buFont typeface="Symbol" panose="05050102010706020507" pitchFamily="18" charset="2"/>
              <a:buChar char=""/>
              <a:tabLst>
                <a:tab pos="457200" algn="l"/>
              </a:tabLst>
            </a:pPr>
            <a:r>
              <a:rPr lang="en-US" sz="1800" b="1" kern="100" dirty="0">
                <a:effectLst/>
                <a:latin typeface="Times New Roman" panose="02020603050405020304" pitchFamily="18" charset="0"/>
                <a:ea typeface="Calibri" panose="020F0502020204030204" pitchFamily="34" charset="0"/>
                <a:cs typeface="Times New Roman" panose="02020603050405020304" pitchFamily="18" charset="0"/>
              </a:rPr>
              <a:t>Methodology </a:t>
            </a: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:The approach involved biomechanical analysis of gait forces, cadaveric dissections for implant design, electromagnetic modeling to optimize performance, and benchtop testing to assess power use and heat generation.</a:t>
            </a:r>
          </a:p>
          <a:p>
            <a:pPr marL="342900" lvl="0" indent="-342900">
              <a:lnSpc>
                <a:spcPct val="107000"/>
              </a:lnSpc>
              <a:buSzPts val="1000"/>
              <a:buFont typeface="Symbol" panose="05050102010706020507" pitchFamily="18" charset="2"/>
              <a:buChar char=""/>
              <a:tabLst>
                <a:tab pos="457200" algn="l"/>
              </a:tabLst>
            </a:pPr>
            <a:r>
              <a:rPr lang="en-US" sz="1800" b="1" kern="100" dirty="0">
                <a:effectLst/>
                <a:latin typeface="Times New Roman" panose="02020603050405020304" pitchFamily="18" charset="0"/>
                <a:ea typeface="Calibri" panose="020F0502020204030204" pitchFamily="34" charset="0"/>
                <a:cs typeface="Times New Roman" panose="02020603050405020304" pitchFamily="18" charset="0"/>
              </a:rPr>
              <a:t>Results </a:t>
            </a: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:Simulations closely matched physical tests (4.2% error). Average power use was 33W during walking. Simulated skin temperature increased by 2.3°C after 200 steps and 15.4°C after 1000 steps, indicating a need for thermal control.</a:t>
            </a:r>
          </a:p>
          <a:p>
            <a:pPr marL="342900" lvl="0" indent="-342900">
              <a:lnSpc>
                <a:spcPct val="107000"/>
              </a:lnSpc>
              <a:buSzPts val="1000"/>
              <a:buFont typeface="Symbol" panose="05050102010706020507" pitchFamily="18" charset="2"/>
              <a:buChar char=""/>
              <a:tabLst>
                <a:tab pos="457200" algn="l"/>
              </a:tabLst>
            </a:pPr>
            <a:r>
              <a:rPr lang="en-US" sz="1800" b="1" kern="100" dirty="0">
                <a:effectLst/>
                <a:latin typeface="Times New Roman" panose="02020603050405020304" pitchFamily="18" charset="0"/>
                <a:ea typeface="Calibri" panose="020F0502020204030204" pitchFamily="34" charset="0"/>
                <a:cs typeface="Times New Roman" panose="02020603050405020304" pitchFamily="18" charset="0"/>
              </a:rPr>
              <a:t>Conclusion </a:t>
            </a: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:This electromagnetic system shows promise as a comfortable, sealed-skin alternative to sockets and osseointegration. It may improve limb health, reduce complications, and support personalized prosthetic designs with further refinement.</a:t>
            </a:r>
            <a:endParaRPr lang="en-IN" sz="1800" kern="1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9" name="Date Placeholder 8"/>
          <p:cNvSpPr>
            <a:spLocks noGrp="1"/>
          </p:cNvSpPr>
          <p:nvPr>
            <p:ph type="dt" sz="half" idx="10"/>
          </p:nvPr>
        </p:nvSpPr>
        <p:spPr/>
        <p:txBody>
          <a:bodyPr/>
          <a:lstStyle/>
          <a:p>
            <a:fld id="{86C11761-8B92-4C9A-AE4A-98F2845B6207}" type="datetime5">
              <a:rPr lang="en-US"/>
              <a:t>6-May-25</a:t>
            </a:fld>
            <a:endParaRPr lang="en-IN" dirty="0"/>
          </a:p>
        </p:txBody>
      </p:sp>
      <p:sp>
        <p:nvSpPr>
          <p:cNvPr id="10" name="Footer Placeholder 9"/>
          <p:cNvSpPr>
            <a:spLocks noGrp="1"/>
          </p:cNvSpPr>
          <p:nvPr>
            <p:ph type="ftr" sz="quarter" idx="11"/>
          </p:nvPr>
        </p:nvSpPr>
        <p:spPr/>
        <p:txBody>
          <a:bodyPr/>
          <a:lstStyle/>
          <a:p>
            <a:r>
              <a:rPr lang="en-IN"/>
              <a:t>Dept. of ECE, Vemana IT</a:t>
            </a:r>
          </a:p>
        </p:txBody>
      </p:sp>
      <p:sp>
        <p:nvSpPr>
          <p:cNvPr id="11" name="Slide Number Placeholder 10"/>
          <p:cNvSpPr>
            <a:spLocks noGrp="1"/>
          </p:cNvSpPr>
          <p:nvPr>
            <p:ph type="sldNum" sz="quarter" idx="12"/>
          </p:nvPr>
        </p:nvSpPr>
        <p:spPr/>
        <p:txBody>
          <a:bodyPr/>
          <a:lstStyle/>
          <a:p>
            <a:fld id="{25E424CE-D6BC-4AC3-8E72-FD46834FA053}" type="slidenum">
              <a:rPr lang="en-IN"/>
              <a:pPr/>
              <a:t>6</a:t>
            </a:fld>
            <a:endParaRPr lang="en-IN"/>
          </a:p>
        </p:txBody>
      </p:sp>
      <p:sp>
        <p:nvSpPr>
          <p:cNvPr id="3" name="TextBox 2">
            <a:extLst>
              <a:ext uri="{FF2B5EF4-FFF2-40B4-BE49-F238E27FC236}">
                <a16:creationId xmlns:a16="http://schemas.microsoft.com/office/drawing/2014/main" id="{47243431-009D-EC4C-AE7D-D095D872D75C}"/>
              </a:ext>
            </a:extLst>
          </p:cNvPr>
          <p:cNvSpPr txBox="1"/>
          <p:nvPr/>
        </p:nvSpPr>
        <p:spPr>
          <a:xfrm>
            <a:off x="323528" y="739134"/>
            <a:ext cx="8496944" cy="646331"/>
          </a:xfrm>
          <a:prstGeom prst="rect">
            <a:avLst/>
          </a:prstGeom>
          <a:noFill/>
        </p:spPr>
        <p:txBody>
          <a:bodyPr wrap="square">
            <a:spAutoFit/>
          </a:bodyPr>
          <a:lstStyle/>
          <a:p>
            <a:pPr algn="ctr"/>
            <a:r>
              <a:rPr lang="en-IN" sz="1800" b="1" dirty="0">
                <a:effectLst/>
                <a:latin typeface="Calibri" panose="020F0502020204030204" pitchFamily="34" charset="0"/>
                <a:ea typeface="Calibri" panose="020F0502020204030204" pitchFamily="34" charset="0"/>
                <a:cs typeface="Times New Roman" panose="02020603050405020304" pitchFamily="18" charset="0"/>
              </a:rPr>
              <a:t>Prosthetic Limb Attachment via Electromagnetic Attraction Through a Closed Skin Envelope</a:t>
            </a:r>
            <a:endParaRPr lang="en-IN" sz="1600" dirty="0"/>
          </a:p>
        </p:txBody>
      </p:sp>
    </p:spTree>
    <p:extLst>
      <p:ext uri="{BB962C8B-B14F-4D97-AF65-F5344CB8AC3E}">
        <p14:creationId xmlns:p14="http://schemas.microsoft.com/office/powerpoint/2010/main" val="2203790900"/>
      </p:ext>
    </p:extLst>
  </p:cSld>
  <p:clrMapOvr>
    <a:masterClrMapping/>
  </p:clrMapOvr>
  <p:transition spd="slow">
    <p:wipe dir="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6608" y="115154"/>
            <a:ext cx="9144000" cy="707886"/>
          </a:xfrm>
          <a:prstGeom prst="rect">
            <a:avLst/>
          </a:prstGeom>
          <a:noFill/>
        </p:spPr>
        <p:txBody>
          <a:bodyPr wrap="square" rtlCol="0">
            <a:spAutoFit/>
          </a:bodyPr>
          <a:lstStyle/>
          <a:p>
            <a:pPr algn="ctr"/>
            <a:r>
              <a:rPr lang="en-US" sz="4000" b="1" dirty="0">
                <a:latin typeface="Times New Roman" pitchFamily="18" charset="0"/>
                <a:cs typeface="Times New Roman" pitchFamily="18" charset="0"/>
              </a:rPr>
              <a:t>Reference 3:</a:t>
            </a:r>
            <a:endParaRPr lang="en-IN" sz="3600" dirty="0"/>
          </a:p>
        </p:txBody>
      </p:sp>
      <p:sp>
        <p:nvSpPr>
          <p:cNvPr id="6" name="Content Placeholder 5"/>
          <p:cNvSpPr>
            <a:spLocks noGrp="1"/>
          </p:cNvSpPr>
          <p:nvPr>
            <p:ph idx="1"/>
          </p:nvPr>
        </p:nvSpPr>
        <p:spPr>
          <a:xfrm>
            <a:off x="323528" y="1385465"/>
            <a:ext cx="8496944" cy="4970885"/>
          </a:xfrm>
        </p:spPr>
        <p:txBody>
          <a:bodyPr>
            <a:noAutofit/>
          </a:bodyPr>
          <a:lstStyle/>
          <a:p>
            <a:pPr marL="342900" lvl="0" indent="-342900">
              <a:lnSpc>
                <a:spcPct val="107000"/>
              </a:lnSpc>
              <a:buSzPts val="1000"/>
              <a:buFont typeface="Symbol" panose="05050102010706020507" pitchFamily="18" charset="2"/>
              <a:buChar char=""/>
              <a:tabLst>
                <a:tab pos="457200" algn="l"/>
              </a:tabLst>
            </a:pPr>
            <a:r>
              <a:rPr lang="en-US" sz="1800" b="1" kern="100" dirty="0">
                <a:effectLst/>
                <a:latin typeface="Times New Roman" panose="02020603050405020304" pitchFamily="18" charset="0"/>
                <a:ea typeface="Calibri" panose="020F0502020204030204" pitchFamily="34" charset="0"/>
                <a:cs typeface="Times New Roman" panose="02020603050405020304" pitchFamily="18" charset="0"/>
              </a:rPr>
              <a:t>Problem </a:t>
            </a: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:Advanced prosthetic hands need intuitive control, but real-time, energy-efficient systems to localize implanted magnets for </a:t>
            </a:r>
            <a:r>
              <a:rPr lang="en-US" sz="1800" kern="100" dirty="0" err="1">
                <a:effectLst/>
                <a:latin typeface="Times New Roman" panose="02020603050405020304" pitchFamily="18" charset="0"/>
                <a:ea typeface="Calibri" panose="020F0502020204030204" pitchFamily="34" charset="0"/>
                <a:cs typeface="Times New Roman" panose="02020603050405020304" pitchFamily="18" charset="0"/>
              </a:rPr>
              <a:t>myokinetic</a:t>
            </a: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 control haven't been fully developed.</a:t>
            </a:r>
          </a:p>
          <a:p>
            <a:pPr marL="342900" lvl="0" indent="-342900">
              <a:lnSpc>
                <a:spcPct val="107000"/>
              </a:lnSpc>
              <a:buSzPts val="1000"/>
              <a:buFont typeface="Symbol" panose="05050102010706020507" pitchFamily="18" charset="2"/>
              <a:buChar char=""/>
              <a:tabLst>
                <a:tab pos="457200" algn="l"/>
              </a:tabLst>
            </a:pPr>
            <a:r>
              <a:rPr lang="en-US" sz="1800" b="1" kern="100" dirty="0">
                <a:effectLst/>
                <a:latin typeface="Times New Roman" panose="02020603050405020304" pitchFamily="18" charset="0"/>
                <a:ea typeface="Calibri" panose="020F0502020204030204" pitchFamily="34" charset="0"/>
                <a:cs typeface="Times New Roman" panose="02020603050405020304" pitchFamily="18" charset="0"/>
              </a:rPr>
              <a:t>Solution </a:t>
            </a: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:The authors propose a Transcutaneous Magnet Localizer (TML), a modular system that uses multi-sensor acquisition and real-time processing to accurately localize implanted magnets for prosthetic control.</a:t>
            </a:r>
          </a:p>
          <a:p>
            <a:pPr marL="342900" lvl="0" indent="-342900">
              <a:lnSpc>
                <a:spcPct val="107000"/>
              </a:lnSpc>
              <a:buSzPts val="1000"/>
              <a:buFont typeface="Symbol" panose="05050102010706020507" pitchFamily="18" charset="2"/>
              <a:buChar char=""/>
              <a:tabLst>
                <a:tab pos="457200" algn="l"/>
              </a:tabLst>
            </a:pPr>
            <a:r>
              <a:rPr lang="en-US" sz="1800" b="1" kern="100" dirty="0">
                <a:effectLst/>
                <a:latin typeface="Times New Roman" panose="02020603050405020304" pitchFamily="18" charset="0"/>
                <a:ea typeface="Calibri" panose="020F0502020204030204" pitchFamily="34" charset="0"/>
                <a:cs typeface="Times New Roman" panose="02020603050405020304" pitchFamily="18" charset="0"/>
              </a:rPr>
              <a:t>Methodology </a:t>
            </a: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:The TML system includes 8 Acquisition Units (AUs) with 20 sensors and a Computation Unit (CU) using an ARM M7 processor. Tests were conducted on a forearm mockup to assess localization accuracy, power consumption, and latency.</a:t>
            </a:r>
          </a:p>
          <a:p>
            <a:pPr marL="342900" lvl="0" indent="-342900">
              <a:lnSpc>
                <a:spcPct val="107000"/>
              </a:lnSpc>
              <a:buSzPts val="1000"/>
              <a:buFont typeface="Symbol" panose="05050102010706020507" pitchFamily="18" charset="2"/>
              <a:buChar char=""/>
              <a:tabLst>
                <a:tab pos="457200" algn="l"/>
              </a:tabLst>
            </a:pPr>
            <a:r>
              <a:rPr lang="en-US" sz="1800" b="1" kern="100" dirty="0">
                <a:effectLst/>
                <a:latin typeface="Times New Roman" panose="02020603050405020304" pitchFamily="18" charset="0"/>
                <a:ea typeface="Calibri" panose="020F0502020204030204" pitchFamily="34" charset="0"/>
                <a:cs typeface="Times New Roman" panose="02020603050405020304" pitchFamily="18" charset="0"/>
              </a:rPr>
              <a:t>Results </a:t>
            </a: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:The system localized up to 8 magnets with &lt;1 mm error, 0.5 mm precision, and &lt;60 ms latency. Power consumption was 0.6-1.2 W, suitable for prosthetic use.</a:t>
            </a:r>
          </a:p>
          <a:p>
            <a:pPr marL="342900" lvl="0" indent="-342900">
              <a:lnSpc>
                <a:spcPct val="107000"/>
              </a:lnSpc>
              <a:buSzPts val="1000"/>
              <a:buFont typeface="Symbol" panose="05050102010706020507" pitchFamily="18" charset="2"/>
              <a:buChar char=""/>
              <a:tabLst>
                <a:tab pos="457200" algn="l"/>
              </a:tabLst>
            </a:pPr>
            <a:r>
              <a:rPr lang="en-US" sz="1800" b="1" kern="100" dirty="0">
                <a:effectLst/>
                <a:latin typeface="Times New Roman" panose="02020603050405020304" pitchFamily="18" charset="0"/>
                <a:ea typeface="Calibri" panose="020F0502020204030204" pitchFamily="34" charset="0"/>
                <a:cs typeface="Times New Roman" panose="02020603050405020304" pitchFamily="18" charset="0"/>
              </a:rPr>
              <a:t>Conclusion </a:t>
            </a: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:The TML offers real-time, accurate localization for </a:t>
            </a:r>
            <a:r>
              <a:rPr lang="en-US" sz="1800" kern="100" dirty="0" err="1">
                <a:effectLst/>
                <a:latin typeface="Times New Roman" panose="02020603050405020304" pitchFamily="18" charset="0"/>
                <a:ea typeface="Calibri" panose="020F0502020204030204" pitchFamily="34" charset="0"/>
                <a:cs typeface="Times New Roman" panose="02020603050405020304" pitchFamily="18" charset="0"/>
              </a:rPr>
              <a:t>myokinetic</a:t>
            </a: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 prosthetic hands, enabling natural control and supporting broader clinical adoption of magnet-based control interfaces.</a:t>
            </a:r>
            <a:endParaRPr lang="en-IN" sz="1800" kern="100" dirty="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9" name="Date Placeholder 8"/>
          <p:cNvSpPr>
            <a:spLocks noGrp="1"/>
          </p:cNvSpPr>
          <p:nvPr>
            <p:ph type="dt" sz="half" idx="10"/>
          </p:nvPr>
        </p:nvSpPr>
        <p:spPr/>
        <p:txBody>
          <a:bodyPr/>
          <a:lstStyle/>
          <a:p>
            <a:fld id="{86C11761-8B92-4C9A-AE4A-98F2845B6207}" type="datetime5">
              <a:rPr lang="en-US"/>
              <a:t>6-May-25</a:t>
            </a:fld>
            <a:endParaRPr lang="en-IN" dirty="0"/>
          </a:p>
        </p:txBody>
      </p:sp>
      <p:sp>
        <p:nvSpPr>
          <p:cNvPr id="10" name="Footer Placeholder 9"/>
          <p:cNvSpPr>
            <a:spLocks noGrp="1"/>
          </p:cNvSpPr>
          <p:nvPr>
            <p:ph type="ftr" sz="quarter" idx="11"/>
          </p:nvPr>
        </p:nvSpPr>
        <p:spPr/>
        <p:txBody>
          <a:bodyPr/>
          <a:lstStyle/>
          <a:p>
            <a:r>
              <a:rPr lang="en-IN"/>
              <a:t>Dept. of ECE, Vemana IT</a:t>
            </a:r>
          </a:p>
        </p:txBody>
      </p:sp>
      <p:sp>
        <p:nvSpPr>
          <p:cNvPr id="11" name="Slide Number Placeholder 10"/>
          <p:cNvSpPr>
            <a:spLocks noGrp="1"/>
          </p:cNvSpPr>
          <p:nvPr>
            <p:ph type="sldNum" sz="quarter" idx="12"/>
          </p:nvPr>
        </p:nvSpPr>
        <p:spPr/>
        <p:txBody>
          <a:bodyPr/>
          <a:lstStyle/>
          <a:p>
            <a:fld id="{25E424CE-D6BC-4AC3-8E72-FD46834FA053}" type="slidenum">
              <a:rPr lang="en-IN"/>
              <a:pPr/>
              <a:t>7</a:t>
            </a:fld>
            <a:endParaRPr lang="en-IN"/>
          </a:p>
        </p:txBody>
      </p:sp>
      <p:sp>
        <p:nvSpPr>
          <p:cNvPr id="3" name="TextBox 2">
            <a:extLst>
              <a:ext uri="{FF2B5EF4-FFF2-40B4-BE49-F238E27FC236}">
                <a16:creationId xmlns:a16="http://schemas.microsoft.com/office/drawing/2014/main" id="{47243431-009D-EC4C-AE7D-D095D872D75C}"/>
              </a:ext>
            </a:extLst>
          </p:cNvPr>
          <p:cNvSpPr txBox="1"/>
          <p:nvPr/>
        </p:nvSpPr>
        <p:spPr>
          <a:xfrm>
            <a:off x="323528" y="739134"/>
            <a:ext cx="8496944" cy="369332"/>
          </a:xfrm>
          <a:prstGeom prst="rect">
            <a:avLst/>
          </a:prstGeom>
          <a:noFill/>
        </p:spPr>
        <p:txBody>
          <a:bodyPr wrap="square">
            <a:spAutoFit/>
          </a:bodyPr>
          <a:lstStyle/>
          <a:p>
            <a:pPr algn="ctr"/>
            <a:r>
              <a:rPr lang="en-US" sz="1800" b="1" dirty="0">
                <a:latin typeface="Times New Roman"/>
                <a:cs typeface="Times New Roman"/>
              </a:rPr>
              <a:t>Transcutaneous</a:t>
            </a:r>
            <a:r>
              <a:rPr lang="en-US" sz="1800" b="1" spc="-55" dirty="0">
                <a:latin typeface="Times New Roman"/>
                <a:cs typeface="Times New Roman"/>
              </a:rPr>
              <a:t> </a:t>
            </a:r>
            <a:r>
              <a:rPr lang="en-US" sz="1800" b="1" dirty="0">
                <a:latin typeface="Times New Roman"/>
                <a:cs typeface="Times New Roman"/>
              </a:rPr>
              <a:t>Magnet</a:t>
            </a:r>
            <a:r>
              <a:rPr lang="en-US" sz="1800" b="1" spc="-75" dirty="0">
                <a:latin typeface="Times New Roman"/>
                <a:cs typeface="Times New Roman"/>
              </a:rPr>
              <a:t> </a:t>
            </a:r>
            <a:r>
              <a:rPr lang="en-US" sz="1800" b="1" dirty="0">
                <a:latin typeface="Times New Roman"/>
                <a:cs typeface="Times New Roman"/>
              </a:rPr>
              <a:t>Localizer</a:t>
            </a:r>
            <a:r>
              <a:rPr lang="en-US" sz="1800" b="1" spc="-70" dirty="0">
                <a:latin typeface="Times New Roman"/>
                <a:cs typeface="Times New Roman"/>
              </a:rPr>
              <a:t> </a:t>
            </a:r>
            <a:r>
              <a:rPr lang="en-US" sz="1800" b="1" dirty="0">
                <a:latin typeface="Times New Roman"/>
                <a:cs typeface="Times New Roman"/>
              </a:rPr>
              <a:t>for</a:t>
            </a:r>
            <a:r>
              <a:rPr lang="en-US" sz="1800" b="1" spc="-50" dirty="0">
                <a:latin typeface="Times New Roman"/>
                <a:cs typeface="Times New Roman"/>
              </a:rPr>
              <a:t> </a:t>
            </a:r>
            <a:r>
              <a:rPr lang="en-US" sz="1800" b="1" dirty="0">
                <a:latin typeface="Times New Roman"/>
                <a:cs typeface="Times New Roman"/>
              </a:rPr>
              <a:t>a</a:t>
            </a:r>
            <a:r>
              <a:rPr lang="en-US" sz="1800" b="1" spc="-60" dirty="0">
                <a:latin typeface="Times New Roman"/>
                <a:cs typeface="Times New Roman"/>
              </a:rPr>
              <a:t> </a:t>
            </a:r>
            <a:r>
              <a:rPr lang="en-US" sz="1800" b="1" spc="-10" dirty="0">
                <a:latin typeface="Times New Roman"/>
                <a:cs typeface="Times New Roman"/>
              </a:rPr>
              <a:t>Self- </a:t>
            </a:r>
            <a:r>
              <a:rPr lang="en-US" sz="1800" b="1" dirty="0">
                <a:latin typeface="Times New Roman"/>
                <a:cs typeface="Times New Roman"/>
              </a:rPr>
              <a:t>Contained</a:t>
            </a:r>
            <a:r>
              <a:rPr lang="en-US" sz="1800" b="1" spc="-105" dirty="0">
                <a:latin typeface="Times New Roman"/>
                <a:cs typeface="Times New Roman"/>
              </a:rPr>
              <a:t> </a:t>
            </a:r>
            <a:r>
              <a:rPr lang="en-US" sz="1800" b="1" dirty="0">
                <a:latin typeface="Times New Roman"/>
                <a:cs typeface="Times New Roman"/>
              </a:rPr>
              <a:t>Myokinetic</a:t>
            </a:r>
            <a:r>
              <a:rPr lang="en-US" sz="1800" b="1" spc="-100" dirty="0">
                <a:latin typeface="Times New Roman"/>
                <a:cs typeface="Times New Roman"/>
              </a:rPr>
              <a:t> </a:t>
            </a:r>
            <a:r>
              <a:rPr lang="en-US" sz="1800" b="1" dirty="0">
                <a:latin typeface="Times New Roman"/>
                <a:cs typeface="Times New Roman"/>
              </a:rPr>
              <a:t>Prosthetic</a:t>
            </a:r>
            <a:r>
              <a:rPr lang="en-US" sz="1800" b="1" spc="-85" dirty="0">
                <a:latin typeface="Times New Roman"/>
                <a:cs typeface="Times New Roman"/>
              </a:rPr>
              <a:t> </a:t>
            </a:r>
            <a:r>
              <a:rPr lang="en-US" sz="1800" b="1" spc="-10" dirty="0">
                <a:latin typeface="Times New Roman"/>
                <a:cs typeface="Times New Roman"/>
              </a:rPr>
              <a:t>Hand</a:t>
            </a:r>
            <a:endParaRPr lang="en-IN" sz="1600" dirty="0"/>
          </a:p>
        </p:txBody>
      </p:sp>
    </p:spTree>
    <p:extLst>
      <p:ext uri="{BB962C8B-B14F-4D97-AF65-F5344CB8AC3E}">
        <p14:creationId xmlns:p14="http://schemas.microsoft.com/office/powerpoint/2010/main" val="2303911590"/>
      </p:ext>
    </p:extLst>
  </p:cSld>
  <p:clrMapOvr>
    <a:masterClrMapping/>
  </p:clrMapOvr>
  <p:transition spd="slow">
    <p:wipe dir="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6608" y="115154"/>
            <a:ext cx="9144000" cy="707886"/>
          </a:xfrm>
          <a:prstGeom prst="rect">
            <a:avLst/>
          </a:prstGeom>
          <a:noFill/>
        </p:spPr>
        <p:txBody>
          <a:bodyPr wrap="square" rtlCol="0">
            <a:spAutoFit/>
          </a:bodyPr>
          <a:lstStyle/>
          <a:p>
            <a:pPr algn="ctr"/>
            <a:r>
              <a:rPr lang="en-US" sz="4000" b="1" dirty="0">
                <a:latin typeface="Times New Roman" pitchFamily="18" charset="0"/>
                <a:cs typeface="Times New Roman" pitchFamily="18" charset="0"/>
              </a:rPr>
              <a:t>Reference 4:</a:t>
            </a:r>
            <a:endParaRPr lang="en-IN" sz="3600" dirty="0"/>
          </a:p>
        </p:txBody>
      </p:sp>
      <p:sp>
        <p:nvSpPr>
          <p:cNvPr id="9" name="Date Placeholder 8"/>
          <p:cNvSpPr>
            <a:spLocks noGrp="1"/>
          </p:cNvSpPr>
          <p:nvPr>
            <p:ph type="dt" sz="half" idx="10"/>
          </p:nvPr>
        </p:nvSpPr>
        <p:spPr/>
        <p:txBody>
          <a:bodyPr/>
          <a:lstStyle/>
          <a:p>
            <a:fld id="{86C11761-8B92-4C9A-AE4A-98F2845B6207}" type="datetime5">
              <a:rPr lang="en-US"/>
              <a:t>6-May-25</a:t>
            </a:fld>
            <a:endParaRPr lang="en-IN" dirty="0"/>
          </a:p>
        </p:txBody>
      </p:sp>
      <p:sp>
        <p:nvSpPr>
          <p:cNvPr id="10" name="Footer Placeholder 9"/>
          <p:cNvSpPr>
            <a:spLocks noGrp="1"/>
          </p:cNvSpPr>
          <p:nvPr>
            <p:ph type="ftr" sz="quarter" idx="11"/>
          </p:nvPr>
        </p:nvSpPr>
        <p:spPr/>
        <p:txBody>
          <a:bodyPr/>
          <a:lstStyle/>
          <a:p>
            <a:r>
              <a:rPr lang="en-IN"/>
              <a:t>Dept. of ECE, Vemana IT</a:t>
            </a:r>
          </a:p>
        </p:txBody>
      </p:sp>
      <p:sp>
        <p:nvSpPr>
          <p:cNvPr id="11" name="Slide Number Placeholder 10"/>
          <p:cNvSpPr>
            <a:spLocks noGrp="1"/>
          </p:cNvSpPr>
          <p:nvPr>
            <p:ph type="sldNum" sz="quarter" idx="12"/>
          </p:nvPr>
        </p:nvSpPr>
        <p:spPr/>
        <p:txBody>
          <a:bodyPr/>
          <a:lstStyle/>
          <a:p>
            <a:fld id="{25E424CE-D6BC-4AC3-8E72-FD46834FA053}" type="slidenum">
              <a:rPr lang="en-IN"/>
              <a:pPr/>
              <a:t>8</a:t>
            </a:fld>
            <a:endParaRPr lang="en-IN"/>
          </a:p>
        </p:txBody>
      </p:sp>
      <p:sp>
        <p:nvSpPr>
          <p:cNvPr id="3" name="TextBox 2">
            <a:extLst>
              <a:ext uri="{FF2B5EF4-FFF2-40B4-BE49-F238E27FC236}">
                <a16:creationId xmlns:a16="http://schemas.microsoft.com/office/drawing/2014/main" id="{47243431-009D-EC4C-AE7D-D095D872D75C}"/>
              </a:ext>
            </a:extLst>
          </p:cNvPr>
          <p:cNvSpPr txBox="1"/>
          <p:nvPr/>
        </p:nvSpPr>
        <p:spPr>
          <a:xfrm>
            <a:off x="323528" y="739134"/>
            <a:ext cx="8496944" cy="646331"/>
          </a:xfrm>
          <a:prstGeom prst="rect">
            <a:avLst/>
          </a:prstGeom>
          <a:noFill/>
        </p:spPr>
        <p:txBody>
          <a:bodyPr wrap="square">
            <a:spAutoFit/>
          </a:bodyPr>
          <a:lstStyle/>
          <a:p>
            <a:pPr algn="ctr"/>
            <a:r>
              <a:rPr lang="en-US" sz="1800" b="1" dirty="0">
                <a:latin typeface="Times New Roman"/>
                <a:cs typeface="Times New Roman"/>
              </a:rPr>
              <a:t>Neural</a:t>
            </a:r>
            <a:r>
              <a:rPr lang="en-US" sz="1800" b="1" spc="-45" dirty="0">
                <a:latin typeface="Times New Roman"/>
                <a:cs typeface="Times New Roman"/>
              </a:rPr>
              <a:t> </a:t>
            </a:r>
            <a:r>
              <a:rPr lang="en-US" sz="1800" b="1" spc="-10" dirty="0">
                <a:latin typeface="Times New Roman"/>
                <a:cs typeface="Times New Roman"/>
              </a:rPr>
              <a:t>Network-</a:t>
            </a:r>
            <a:r>
              <a:rPr lang="en-US" sz="1800" b="1" dirty="0">
                <a:latin typeface="Times New Roman"/>
                <a:cs typeface="Times New Roman"/>
              </a:rPr>
              <a:t>Based</a:t>
            </a:r>
            <a:r>
              <a:rPr lang="en-US" sz="1800" b="1" spc="-35" dirty="0">
                <a:latin typeface="Times New Roman"/>
                <a:cs typeface="Times New Roman"/>
              </a:rPr>
              <a:t> </a:t>
            </a:r>
            <a:r>
              <a:rPr lang="en-US" sz="1800" b="1" spc="-10" dirty="0">
                <a:latin typeface="Times New Roman"/>
                <a:cs typeface="Times New Roman"/>
              </a:rPr>
              <a:t>Lower </a:t>
            </a:r>
            <a:r>
              <a:rPr lang="en-US" sz="1800" b="1" dirty="0">
                <a:latin typeface="Times New Roman"/>
                <a:cs typeface="Times New Roman"/>
              </a:rPr>
              <a:t>Limb</a:t>
            </a:r>
            <a:r>
              <a:rPr lang="en-US" sz="1800" b="1" spc="-65" dirty="0">
                <a:latin typeface="Times New Roman"/>
                <a:cs typeface="Times New Roman"/>
              </a:rPr>
              <a:t> </a:t>
            </a:r>
            <a:r>
              <a:rPr lang="en-US" sz="1800" b="1" dirty="0">
                <a:latin typeface="Times New Roman"/>
                <a:cs typeface="Times New Roman"/>
              </a:rPr>
              <a:t>Prostheses</a:t>
            </a:r>
            <a:r>
              <a:rPr lang="en-US" sz="1800" b="1" spc="-50" dirty="0">
                <a:latin typeface="Times New Roman"/>
                <a:cs typeface="Times New Roman"/>
              </a:rPr>
              <a:t> </a:t>
            </a:r>
            <a:r>
              <a:rPr lang="en-US" sz="1800" b="1" dirty="0">
                <a:latin typeface="Times New Roman"/>
                <a:cs typeface="Times New Roman"/>
              </a:rPr>
              <a:t>Control</a:t>
            </a:r>
            <a:r>
              <a:rPr lang="en-US" sz="1800" b="1" spc="-55" dirty="0">
                <a:latin typeface="Times New Roman"/>
                <a:cs typeface="Times New Roman"/>
              </a:rPr>
              <a:t> </a:t>
            </a:r>
            <a:r>
              <a:rPr lang="en-US" sz="1800" b="1" dirty="0">
                <a:latin typeface="Times New Roman"/>
                <a:cs typeface="Times New Roman"/>
              </a:rPr>
              <a:t>Using</a:t>
            </a:r>
            <a:r>
              <a:rPr lang="en-US" sz="1800" b="1" spc="-55" dirty="0">
                <a:latin typeface="Times New Roman"/>
                <a:cs typeface="Times New Roman"/>
              </a:rPr>
              <a:t> </a:t>
            </a:r>
            <a:r>
              <a:rPr lang="en-US" sz="1800" b="1" dirty="0">
                <a:latin typeface="Times New Roman"/>
                <a:cs typeface="Times New Roman"/>
              </a:rPr>
              <a:t>Super</a:t>
            </a:r>
            <a:r>
              <a:rPr lang="en-US" sz="1800" b="1" spc="-55" dirty="0">
                <a:latin typeface="Times New Roman"/>
                <a:cs typeface="Times New Roman"/>
              </a:rPr>
              <a:t> </a:t>
            </a:r>
            <a:r>
              <a:rPr lang="en-US" sz="1800" b="1" spc="-10" dirty="0">
                <a:latin typeface="Times New Roman"/>
                <a:cs typeface="Times New Roman"/>
              </a:rPr>
              <a:t>Twisting </a:t>
            </a:r>
            <a:r>
              <a:rPr lang="en-US" sz="1800" b="1" dirty="0">
                <a:latin typeface="Times New Roman"/>
                <a:cs typeface="Times New Roman"/>
              </a:rPr>
              <a:t>Sliding</a:t>
            </a:r>
            <a:r>
              <a:rPr lang="en-US" sz="1800" b="1" spc="-60" dirty="0">
                <a:latin typeface="Times New Roman"/>
                <a:cs typeface="Times New Roman"/>
              </a:rPr>
              <a:t> </a:t>
            </a:r>
            <a:r>
              <a:rPr lang="en-US" sz="1800" b="1" dirty="0">
                <a:latin typeface="Times New Roman"/>
                <a:cs typeface="Times New Roman"/>
              </a:rPr>
              <a:t>Mode</a:t>
            </a:r>
            <a:r>
              <a:rPr lang="en-US" sz="1800" b="1" spc="-60" dirty="0">
                <a:latin typeface="Times New Roman"/>
                <a:cs typeface="Times New Roman"/>
              </a:rPr>
              <a:t> </a:t>
            </a:r>
            <a:r>
              <a:rPr lang="en-US" sz="1800" b="1" spc="-10" dirty="0">
                <a:latin typeface="Times New Roman"/>
                <a:cs typeface="Times New Roman"/>
              </a:rPr>
              <a:t>Control</a:t>
            </a:r>
            <a:endParaRPr lang="en-IN" sz="1600" dirty="0"/>
          </a:p>
        </p:txBody>
      </p:sp>
      <p:sp>
        <p:nvSpPr>
          <p:cNvPr id="7" name="Content Placeholder 5">
            <a:extLst>
              <a:ext uri="{FF2B5EF4-FFF2-40B4-BE49-F238E27FC236}">
                <a16:creationId xmlns:a16="http://schemas.microsoft.com/office/drawing/2014/main" id="{98E434BB-1616-1788-5154-6527DC3AAD29}"/>
              </a:ext>
            </a:extLst>
          </p:cNvPr>
          <p:cNvSpPr txBox="1">
            <a:spLocks/>
          </p:cNvSpPr>
          <p:nvPr/>
        </p:nvSpPr>
        <p:spPr>
          <a:xfrm>
            <a:off x="323528" y="1447020"/>
            <a:ext cx="8496944" cy="4346905"/>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42900" algn="l" rtl="0">
              <a:lnSpc>
                <a:spcPct val="100000"/>
              </a:lnSpc>
              <a:spcBef>
                <a:spcPts val="360"/>
              </a:spcBef>
              <a:spcAft>
                <a:spcPts val="0"/>
              </a:spcAft>
              <a:buClr>
                <a:schemeClr val="dk1"/>
              </a:buClr>
              <a:buSzPts val="1800"/>
              <a:buFont typeface="Arial"/>
              <a:buChar char="•"/>
              <a:defRPr sz="3200" b="0" i="0" u="none" strike="noStrike" cap="none">
                <a:solidFill>
                  <a:schemeClr val="dk1"/>
                </a:solidFill>
                <a:latin typeface="Calibri"/>
                <a:ea typeface="Calibri"/>
                <a:cs typeface="Calibri"/>
                <a:sym typeface="Calibri"/>
              </a:defRPr>
            </a:lvl1pPr>
            <a:lvl2pPr marL="914400" marR="0" lvl="1" indent="-342900" algn="l" rtl="0">
              <a:lnSpc>
                <a:spcPct val="100000"/>
              </a:lnSpc>
              <a:spcBef>
                <a:spcPts val="360"/>
              </a:spcBef>
              <a:spcAft>
                <a:spcPts val="0"/>
              </a:spcAft>
              <a:buClr>
                <a:schemeClr val="dk1"/>
              </a:buClr>
              <a:buSzPts val="1800"/>
              <a:buFont typeface="Arial"/>
              <a:buChar char="–"/>
              <a:defRPr sz="2800" b="0" i="0" u="none" strike="noStrike" cap="none">
                <a:solidFill>
                  <a:schemeClr val="dk1"/>
                </a:solidFill>
                <a:latin typeface="Calibri"/>
                <a:ea typeface="Calibri"/>
                <a:cs typeface="Calibri"/>
                <a:sym typeface="Calibri"/>
              </a:defRPr>
            </a:lvl2pPr>
            <a:lvl3pPr marL="1371600" marR="0" lvl="2" indent="-342900" algn="l" rtl="0">
              <a:lnSpc>
                <a:spcPct val="100000"/>
              </a:lnSpc>
              <a:spcBef>
                <a:spcPts val="360"/>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3pPr>
            <a:lvl4pPr marL="1828800" marR="0" lvl="3"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4pPr>
            <a:lvl5pPr marL="2286000" marR="0" lvl="4"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9pPr>
          </a:lstStyle>
          <a:p>
            <a:pPr marL="342900">
              <a:lnSpc>
                <a:spcPct val="107000"/>
              </a:lnSpc>
              <a:buSzPts val="1000"/>
              <a:buFont typeface="Symbol" panose="05050102010706020507" pitchFamily="18" charset="2"/>
              <a:buChar char=""/>
              <a:tabLst>
                <a:tab pos="457200" algn="l"/>
              </a:tabLst>
            </a:pPr>
            <a:r>
              <a:rPr lang="en-US" sz="1800" b="1" kern="100" dirty="0">
                <a:latin typeface="Times New Roman" panose="02020603050405020304" pitchFamily="18" charset="0"/>
                <a:ea typeface="Calibri" panose="020F0502020204030204" pitchFamily="34" charset="0"/>
                <a:cs typeface="Times New Roman" panose="02020603050405020304" pitchFamily="18" charset="0"/>
              </a:rPr>
              <a:t>Problem </a:t>
            </a:r>
            <a:r>
              <a:rPr lang="en-US" sz="1800" kern="100" dirty="0">
                <a:latin typeface="Times New Roman" panose="02020603050405020304" pitchFamily="18" charset="0"/>
                <a:ea typeface="Calibri" panose="020F0502020204030204" pitchFamily="34" charset="0"/>
                <a:cs typeface="Times New Roman" panose="02020603050405020304" pitchFamily="18" charset="0"/>
              </a:rPr>
              <a:t>:Controlling lower limb prostheses is challenging due to complex gait, noisy sEMG signals, and disturbances. Traditional methods lack robustness and precision.</a:t>
            </a:r>
          </a:p>
          <a:p>
            <a:pPr marL="342900">
              <a:lnSpc>
                <a:spcPct val="107000"/>
              </a:lnSpc>
              <a:buSzPts val="1000"/>
              <a:buFont typeface="Symbol" panose="05050102010706020507" pitchFamily="18" charset="2"/>
              <a:buChar char=""/>
              <a:tabLst>
                <a:tab pos="457200" algn="l"/>
              </a:tabLst>
            </a:pPr>
            <a:r>
              <a:rPr lang="en-US" sz="1800" b="1" kern="100" dirty="0">
                <a:latin typeface="Times New Roman" panose="02020603050405020304" pitchFamily="18" charset="0"/>
                <a:ea typeface="Calibri" panose="020F0502020204030204" pitchFamily="34" charset="0"/>
                <a:cs typeface="Times New Roman" panose="02020603050405020304" pitchFamily="18" charset="0"/>
              </a:rPr>
              <a:t>Solution </a:t>
            </a:r>
            <a:r>
              <a:rPr lang="en-US" sz="1800" kern="100" dirty="0">
                <a:latin typeface="Times New Roman" panose="02020603050405020304" pitchFamily="18" charset="0"/>
                <a:ea typeface="Calibri" panose="020F0502020204030204" pitchFamily="34" charset="0"/>
                <a:cs typeface="Times New Roman" panose="02020603050405020304" pitchFamily="18" charset="0"/>
              </a:rPr>
              <a:t>:A hybrid approach using Feedforward Neural Networks (FFNN) for sEMG interpretation and Super Twisting Sliding Mode Control (ST-SMC) for robust joint control.</a:t>
            </a:r>
          </a:p>
          <a:p>
            <a:pPr marL="342900">
              <a:lnSpc>
                <a:spcPct val="107000"/>
              </a:lnSpc>
              <a:buSzPts val="1000"/>
              <a:buFont typeface="Symbol" panose="05050102010706020507" pitchFamily="18" charset="2"/>
              <a:buChar char=""/>
              <a:tabLst>
                <a:tab pos="457200" algn="l"/>
              </a:tabLst>
            </a:pPr>
            <a:r>
              <a:rPr lang="en-US" sz="1800" b="1" kern="100" dirty="0">
                <a:latin typeface="Times New Roman" panose="02020603050405020304" pitchFamily="18" charset="0"/>
                <a:ea typeface="Calibri" panose="020F0502020204030204" pitchFamily="34" charset="0"/>
                <a:cs typeface="Times New Roman" panose="02020603050405020304" pitchFamily="18" charset="0"/>
              </a:rPr>
              <a:t>Methodology </a:t>
            </a:r>
            <a:r>
              <a:rPr lang="en-US" sz="1800" kern="100" dirty="0">
                <a:latin typeface="Times New Roman" panose="02020603050405020304" pitchFamily="18" charset="0"/>
                <a:ea typeface="Calibri" panose="020F0502020204030204" pitchFamily="34" charset="0"/>
                <a:cs typeface="Times New Roman" panose="02020603050405020304" pitchFamily="18" charset="0"/>
              </a:rPr>
              <a:t>:sEMG data was processed and used to train FFNNs to predict joint angles. ST-SMC tracked these angles and managed disturbances. Simulations were done using MATLAB/Simulink and compared with conventional SMC.</a:t>
            </a:r>
          </a:p>
          <a:p>
            <a:pPr marL="342900">
              <a:lnSpc>
                <a:spcPct val="107000"/>
              </a:lnSpc>
              <a:buSzPts val="1000"/>
              <a:buFont typeface="Symbol" panose="05050102010706020507" pitchFamily="18" charset="2"/>
              <a:buChar char=""/>
              <a:tabLst>
                <a:tab pos="457200" algn="l"/>
              </a:tabLst>
            </a:pPr>
            <a:r>
              <a:rPr lang="en-US" sz="1800" b="1" kern="100" dirty="0">
                <a:latin typeface="Times New Roman" panose="02020603050405020304" pitchFamily="18" charset="0"/>
                <a:ea typeface="Calibri" panose="020F0502020204030204" pitchFamily="34" charset="0"/>
                <a:cs typeface="Times New Roman" panose="02020603050405020304" pitchFamily="18" charset="0"/>
              </a:rPr>
              <a:t>Results </a:t>
            </a:r>
            <a:r>
              <a:rPr lang="en-US" sz="1800" kern="100" dirty="0">
                <a:latin typeface="Times New Roman" panose="02020603050405020304" pitchFamily="18" charset="0"/>
                <a:ea typeface="Calibri" panose="020F0502020204030204" pitchFamily="34" charset="0"/>
                <a:cs typeface="Times New Roman" panose="02020603050405020304" pitchFamily="18" charset="0"/>
              </a:rPr>
              <a:t>:FFNN accurately predicted joint angles, and ST-SMC provided smoother, more precise control with less chattering. The system showed strong robustness in simulations.</a:t>
            </a:r>
          </a:p>
          <a:p>
            <a:pPr marL="342900">
              <a:lnSpc>
                <a:spcPct val="107000"/>
              </a:lnSpc>
              <a:buSzPts val="1000"/>
              <a:buFont typeface="Symbol" panose="05050102010706020507" pitchFamily="18" charset="2"/>
              <a:buChar char=""/>
              <a:tabLst>
                <a:tab pos="457200" algn="l"/>
              </a:tabLst>
            </a:pPr>
            <a:r>
              <a:rPr lang="en-US" sz="1800" b="1" kern="100" dirty="0">
                <a:latin typeface="Times New Roman" panose="02020603050405020304" pitchFamily="18" charset="0"/>
                <a:ea typeface="Calibri" panose="020F0502020204030204" pitchFamily="34" charset="0"/>
                <a:cs typeface="Times New Roman" panose="02020603050405020304" pitchFamily="18" charset="0"/>
              </a:rPr>
              <a:t>Conclusion </a:t>
            </a:r>
            <a:r>
              <a:rPr lang="en-US" sz="1800" kern="100" dirty="0">
                <a:latin typeface="Times New Roman" panose="02020603050405020304" pitchFamily="18" charset="0"/>
                <a:ea typeface="Calibri" panose="020F0502020204030204" pitchFamily="34" charset="0"/>
                <a:cs typeface="Times New Roman" panose="02020603050405020304" pitchFamily="18" charset="0"/>
              </a:rPr>
              <a:t>:FFNN + ST-SMC provides reliable, adaptive control for prosthetic legs, improving accuracy and stability with potential for real-time clinical use.</a:t>
            </a:r>
            <a:endParaRPr lang="en-IN" sz="1800" kern="100" dirty="0">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250050237"/>
      </p:ext>
    </p:extLst>
  </p:cSld>
  <p:clrMapOvr>
    <a:masterClrMapping/>
  </p:clrMapOvr>
  <p:transition spd="slow">
    <p:wipe dir="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6608" y="115154"/>
            <a:ext cx="9144000" cy="707886"/>
          </a:xfrm>
          <a:prstGeom prst="rect">
            <a:avLst/>
          </a:prstGeom>
          <a:noFill/>
        </p:spPr>
        <p:txBody>
          <a:bodyPr wrap="square" rtlCol="0">
            <a:spAutoFit/>
          </a:bodyPr>
          <a:lstStyle/>
          <a:p>
            <a:pPr algn="ctr"/>
            <a:r>
              <a:rPr lang="en-US" sz="4000" b="1" dirty="0">
                <a:latin typeface="Times New Roman" pitchFamily="18" charset="0"/>
                <a:cs typeface="Times New Roman" pitchFamily="18" charset="0"/>
              </a:rPr>
              <a:t>Reference 5:</a:t>
            </a:r>
            <a:endParaRPr lang="en-IN" sz="3600" dirty="0"/>
          </a:p>
        </p:txBody>
      </p:sp>
      <p:sp>
        <p:nvSpPr>
          <p:cNvPr id="6" name="Content Placeholder 5"/>
          <p:cNvSpPr>
            <a:spLocks noGrp="1"/>
          </p:cNvSpPr>
          <p:nvPr>
            <p:ph idx="1"/>
          </p:nvPr>
        </p:nvSpPr>
        <p:spPr>
          <a:xfrm>
            <a:off x="323528" y="1385465"/>
            <a:ext cx="8496944" cy="4970885"/>
          </a:xfrm>
        </p:spPr>
        <p:txBody>
          <a:bodyPr>
            <a:noAutofit/>
          </a:bodyPr>
          <a:lstStyle/>
          <a:p>
            <a:pPr algn="just"/>
            <a:r>
              <a:rPr lang="en-US" sz="1800" b="1" dirty="0">
                <a:latin typeface="Times New Roman" panose="02020603050405020304" pitchFamily="18" charset="0"/>
                <a:cs typeface="Times New Roman" panose="02020603050405020304" pitchFamily="18" charset="0"/>
              </a:rPr>
              <a:t>Problem:</a:t>
            </a:r>
            <a:r>
              <a:rPr lang="en-US" sz="1800" dirty="0">
                <a:latin typeface="Times New Roman" panose="02020603050405020304" pitchFamily="18" charset="0"/>
                <a:cs typeface="Times New Roman" panose="02020603050405020304" pitchFamily="18" charset="0"/>
              </a:rPr>
              <a:t> Traditional prosthetic arms are expensive, heavy, noisy, and lack real-time responsiveness due to servo motors and limited material efficiency.</a:t>
            </a:r>
          </a:p>
          <a:p>
            <a:pPr algn="just"/>
            <a:r>
              <a:rPr lang="en-US" sz="1800" b="1" dirty="0">
                <a:latin typeface="Times New Roman" panose="02020603050405020304" pitchFamily="18" charset="0"/>
                <a:cs typeface="Times New Roman" panose="02020603050405020304" pitchFamily="18" charset="0"/>
              </a:rPr>
              <a:t>Solution:</a:t>
            </a:r>
            <a:r>
              <a:rPr lang="en-US" sz="1800" dirty="0">
                <a:latin typeface="Times New Roman" panose="02020603050405020304" pitchFamily="18" charset="0"/>
                <a:cs typeface="Times New Roman" panose="02020603050405020304" pitchFamily="18" charset="0"/>
              </a:rPr>
              <a:t> Develop a low-cost, lightweight prosthetic arm with soft elastomer fingers, controlled by EEG signals via CNN and SVM algorithms, eliminating the need for invasive surgery.</a:t>
            </a:r>
          </a:p>
          <a:p>
            <a:pPr algn="just"/>
            <a:r>
              <a:rPr lang="en-US" sz="1800" b="1" dirty="0">
                <a:latin typeface="Times New Roman" panose="02020603050405020304" pitchFamily="18" charset="0"/>
                <a:cs typeface="Times New Roman" panose="02020603050405020304" pitchFamily="18" charset="0"/>
              </a:rPr>
              <a:t>Methodology:</a:t>
            </a:r>
            <a:r>
              <a:rPr lang="en-US" sz="1800" dirty="0">
                <a:latin typeface="Times New Roman" panose="02020603050405020304" pitchFamily="18" charset="0"/>
                <a:cs typeface="Times New Roman" panose="02020603050405020304" pitchFamily="18" charset="0"/>
              </a:rPr>
              <a:t> Constructed with PLA and Dragon Skin elastomer, powered by pneumatic actuators. EEG signals from an OpenBCI headband were processed on a Raspberry Pi 4 and classified using CNN and SVM. ABAQUS was used for FEA simulations; gesture recognition accuracy and performance metrics were experimentally validated.</a:t>
            </a:r>
          </a:p>
          <a:p>
            <a:pPr algn="just"/>
            <a:r>
              <a:rPr lang="en-US" sz="1800" b="1" dirty="0">
                <a:latin typeface="Times New Roman" panose="02020603050405020304" pitchFamily="18" charset="0"/>
                <a:cs typeface="Times New Roman" panose="02020603050405020304" pitchFamily="18" charset="0"/>
              </a:rPr>
              <a:t>Results:</a:t>
            </a:r>
            <a:r>
              <a:rPr lang="en-US" sz="1800" dirty="0">
                <a:latin typeface="Times New Roman" panose="02020603050405020304" pitchFamily="18" charset="0"/>
                <a:cs typeface="Times New Roman" panose="02020603050405020304" pitchFamily="18" charset="0"/>
              </a:rPr>
              <a:t> CNN achieved 48% accuracy (vs. 28% for SVM) with a 17 </a:t>
            </a:r>
            <a:r>
              <a:rPr lang="en-US" sz="1800" dirty="0" err="1">
                <a:latin typeface="Times New Roman" panose="02020603050405020304" pitchFamily="18" charset="0"/>
                <a:cs typeface="Times New Roman" panose="02020603050405020304" pitchFamily="18" charset="0"/>
              </a:rPr>
              <a:t>ms</a:t>
            </a:r>
            <a:r>
              <a:rPr lang="en-US" sz="1800" dirty="0">
                <a:latin typeface="Times New Roman" panose="02020603050405020304" pitchFamily="18" charset="0"/>
                <a:cs typeface="Times New Roman" panose="02020603050405020304" pitchFamily="18" charset="0"/>
              </a:rPr>
              <a:t> inference time. The arm bent 90° at 3.3 Pa pressure, weighed 400g, and cost $700—outperforming traditional models in weight and responsiveness.</a:t>
            </a:r>
          </a:p>
          <a:p>
            <a:pPr algn="just"/>
            <a:r>
              <a:rPr lang="en-US" sz="1800" b="1" dirty="0">
                <a:latin typeface="Times New Roman" panose="02020603050405020304" pitchFamily="18" charset="0"/>
                <a:cs typeface="Times New Roman" panose="02020603050405020304" pitchFamily="18" charset="0"/>
              </a:rPr>
              <a:t>Conclusion:</a:t>
            </a:r>
            <a:r>
              <a:rPr lang="en-US" sz="1800" dirty="0">
                <a:latin typeface="Times New Roman" panose="02020603050405020304" pitchFamily="18" charset="0"/>
                <a:cs typeface="Times New Roman" panose="02020603050405020304" pitchFamily="18" charset="0"/>
              </a:rPr>
              <a:t> The design offers an affordable, lightweight, and responsive prosthetic solution, ideal for children and users with peripheral nerve damage, with future potential for enhanced finger-level control.</a:t>
            </a:r>
          </a:p>
        </p:txBody>
      </p:sp>
      <p:sp>
        <p:nvSpPr>
          <p:cNvPr id="9" name="Date Placeholder 8"/>
          <p:cNvSpPr>
            <a:spLocks noGrp="1"/>
          </p:cNvSpPr>
          <p:nvPr>
            <p:ph type="dt" sz="half" idx="10"/>
          </p:nvPr>
        </p:nvSpPr>
        <p:spPr/>
        <p:txBody>
          <a:bodyPr/>
          <a:lstStyle/>
          <a:p>
            <a:fld id="{86C11761-8B92-4C9A-AE4A-98F2845B6207}" type="datetime5">
              <a:rPr lang="en-US"/>
              <a:t>6-May-25</a:t>
            </a:fld>
            <a:endParaRPr lang="en-IN" dirty="0"/>
          </a:p>
        </p:txBody>
      </p:sp>
      <p:sp>
        <p:nvSpPr>
          <p:cNvPr id="10" name="Footer Placeholder 9"/>
          <p:cNvSpPr>
            <a:spLocks noGrp="1"/>
          </p:cNvSpPr>
          <p:nvPr>
            <p:ph type="ftr" sz="quarter" idx="11"/>
          </p:nvPr>
        </p:nvSpPr>
        <p:spPr/>
        <p:txBody>
          <a:bodyPr/>
          <a:lstStyle/>
          <a:p>
            <a:r>
              <a:rPr lang="en-IN" dirty="0"/>
              <a:t>Dept. of ECE, </a:t>
            </a:r>
            <a:r>
              <a:rPr lang="en-IN" dirty="0" err="1"/>
              <a:t>Vemana</a:t>
            </a:r>
            <a:r>
              <a:rPr lang="en-IN" dirty="0"/>
              <a:t> IT</a:t>
            </a:r>
          </a:p>
        </p:txBody>
      </p:sp>
      <p:sp>
        <p:nvSpPr>
          <p:cNvPr id="11" name="Slide Number Placeholder 10"/>
          <p:cNvSpPr>
            <a:spLocks noGrp="1"/>
          </p:cNvSpPr>
          <p:nvPr>
            <p:ph type="sldNum" sz="quarter" idx="12"/>
          </p:nvPr>
        </p:nvSpPr>
        <p:spPr/>
        <p:txBody>
          <a:bodyPr/>
          <a:lstStyle/>
          <a:p>
            <a:fld id="{25E424CE-D6BC-4AC3-8E72-FD46834FA053}" type="slidenum">
              <a:rPr lang="en-IN"/>
              <a:pPr/>
              <a:t>9</a:t>
            </a:fld>
            <a:endParaRPr lang="en-IN"/>
          </a:p>
        </p:txBody>
      </p:sp>
      <p:sp>
        <p:nvSpPr>
          <p:cNvPr id="3" name="TextBox 2">
            <a:extLst>
              <a:ext uri="{FF2B5EF4-FFF2-40B4-BE49-F238E27FC236}">
                <a16:creationId xmlns:a16="http://schemas.microsoft.com/office/drawing/2014/main" id="{47243431-009D-EC4C-AE7D-D095D872D75C}"/>
              </a:ext>
            </a:extLst>
          </p:cNvPr>
          <p:cNvSpPr txBox="1"/>
          <p:nvPr/>
        </p:nvSpPr>
        <p:spPr>
          <a:xfrm>
            <a:off x="323528" y="739134"/>
            <a:ext cx="8496944" cy="646331"/>
          </a:xfrm>
          <a:prstGeom prst="rect">
            <a:avLst/>
          </a:prstGeom>
          <a:noFill/>
        </p:spPr>
        <p:txBody>
          <a:bodyPr wrap="square">
            <a:spAutoFit/>
          </a:bodyPr>
          <a:lstStyle/>
          <a:p>
            <a:pPr marL="0" indent="0" algn="ctr">
              <a:buNone/>
            </a:pPr>
            <a:r>
              <a:rPr lang="en-US" sz="1800" dirty="0">
                <a:latin typeface="Times New Roman" panose="02020603050405020304" pitchFamily="18" charset="0"/>
                <a:cs typeface="Times New Roman" panose="02020603050405020304" pitchFamily="18" charset="0"/>
              </a:rPr>
              <a:t> </a:t>
            </a:r>
            <a:r>
              <a:rPr lang="en-US" sz="1800" b="1" dirty="0">
                <a:latin typeface="Times New Roman" panose="02020603050405020304" pitchFamily="18" charset="0"/>
                <a:ea typeface="Times New Roman" panose="02000000000000000000" pitchFamily="2" charset="0"/>
                <a:cs typeface="Times New Roman" panose="02020603050405020304" pitchFamily="18" charset="0"/>
              </a:rPr>
              <a:t>A Low-Cost Lightweight Prosthetic Arm with Soft Gripping Fingers Controlled Using CNN</a:t>
            </a:r>
          </a:p>
        </p:txBody>
      </p:sp>
    </p:spTree>
    <p:extLst>
      <p:ext uri="{BB962C8B-B14F-4D97-AF65-F5344CB8AC3E}">
        <p14:creationId xmlns:p14="http://schemas.microsoft.com/office/powerpoint/2010/main" val="3162954702"/>
      </p:ext>
    </p:extLst>
  </p:cSld>
  <p:clrMapOvr>
    <a:masterClrMapping/>
  </p:clrMapOvr>
  <p:transition spd="slow">
    <p:wipe dir="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6608" y="115154"/>
            <a:ext cx="9144000" cy="707886"/>
          </a:xfrm>
          <a:prstGeom prst="rect">
            <a:avLst/>
          </a:prstGeom>
          <a:noFill/>
        </p:spPr>
        <p:txBody>
          <a:bodyPr wrap="square" rtlCol="0">
            <a:spAutoFit/>
          </a:bodyPr>
          <a:lstStyle/>
          <a:p>
            <a:pPr algn="ctr"/>
            <a:r>
              <a:rPr lang="en-US" sz="4000" b="1" dirty="0">
                <a:latin typeface="Times New Roman" pitchFamily="18" charset="0"/>
                <a:cs typeface="Times New Roman" pitchFamily="18" charset="0"/>
              </a:rPr>
              <a:t>Reference 6:</a:t>
            </a:r>
            <a:endParaRPr lang="en-IN" sz="3600" dirty="0"/>
          </a:p>
        </p:txBody>
      </p:sp>
      <p:sp>
        <p:nvSpPr>
          <p:cNvPr id="9" name="Date Placeholder 8"/>
          <p:cNvSpPr>
            <a:spLocks noGrp="1"/>
          </p:cNvSpPr>
          <p:nvPr>
            <p:ph type="dt" sz="half" idx="10"/>
          </p:nvPr>
        </p:nvSpPr>
        <p:spPr/>
        <p:txBody>
          <a:bodyPr/>
          <a:lstStyle/>
          <a:p>
            <a:fld id="{86C11761-8B92-4C9A-AE4A-98F2845B6207}" type="datetime5">
              <a:rPr lang="en-US"/>
              <a:t>6-May-25</a:t>
            </a:fld>
            <a:endParaRPr lang="en-IN" dirty="0"/>
          </a:p>
        </p:txBody>
      </p:sp>
      <p:sp>
        <p:nvSpPr>
          <p:cNvPr id="10" name="Footer Placeholder 9"/>
          <p:cNvSpPr>
            <a:spLocks noGrp="1"/>
          </p:cNvSpPr>
          <p:nvPr>
            <p:ph type="ftr" sz="quarter" idx="11"/>
          </p:nvPr>
        </p:nvSpPr>
        <p:spPr/>
        <p:txBody>
          <a:bodyPr/>
          <a:lstStyle/>
          <a:p>
            <a:r>
              <a:rPr lang="en-IN"/>
              <a:t>Dept. of ECE, Vemana IT</a:t>
            </a:r>
          </a:p>
        </p:txBody>
      </p:sp>
      <p:sp>
        <p:nvSpPr>
          <p:cNvPr id="11" name="Slide Number Placeholder 10"/>
          <p:cNvSpPr>
            <a:spLocks noGrp="1"/>
          </p:cNvSpPr>
          <p:nvPr>
            <p:ph type="sldNum" sz="quarter" idx="12"/>
          </p:nvPr>
        </p:nvSpPr>
        <p:spPr/>
        <p:txBody>
          <a:bodyPr/>
          <a:lstStyle/>
          <a:p>
            <a:fld id="{25E424CE-D6BC-4AC3-8E72-FD46834FA053}" type="slidenum">
              <a:rPr lang="en-IN"/>
              <a:pPr/>
              <a:t>10</a:t>
            </a:fld>
            <a:endParaRPr lang="en-IN"/>
          </a:p>
        </p:txBody>
      </p:sp>
      <p:sp>
        <p:nvSpPr>
          <p:cNvPr id="3" name="TextBox 2">
            <a:extLst>
              <a:ext uri="{FF2B5EF4-FFF2-40B4-BE49-F238E27FC236}">
                <a16:creationId xmlns:a16="http://schemas.microsoft.com/office/drawing/2014/main" id="{47243431-009D-EC4C-AE7D-D095D872D75C}"/>
              </a:ext>
            </a:extLst>
          </p:cNvPr>
          <p:cNvSpPr txBox="1"/>
          <p:nvPr/>
        </p:nvSpPr>
        <p:spPr>
          <a:xfrm>
            <a:off x="323528" y="739134"/>
            <a:ext cx="8496944" cy="369332"/>
          </a:xfrm>
          <a:prstGeom prst="rect">
            <a:avLst/>
          </a:prstGeom>
          <a:noFill/>
        </p:spPr>
        <p:txBody>
          <a:bodyPr wrap="square">
            <a:spAutoFit/>
          </a:bodyPr>
          <a:lstStyle/>
          <a:p>
            <a:pPr marL="0" indent="0" algn="ctr">
              <a:buNone/>
            </a:pPr>
            <a:r>
              <a:rPr lang="en-US" sz="1800" b="1" dirty="0">
                <a:latin typeface="Times New Roman" panose="02020603050405020304" pitchFamily="18" charset="0"/>
                <a:cs typeface="Times New Roman" panose="02020603050405020304" pitchFamily="18" charset="0"/>
              </a:rPr>
              <a:t>Finch: Prosthetic Arm With Three Opposing Fingers Controlled by a Muscle Bulge</a:t>
            </a:r>
          </a:p>
        </p:txBody>
      </p:sp>
      <p:sp>
        <p:nvSpPr>
          <p:cNvPr id="7" name="Content Placeholder 5">
            <a:extLst>
              <a:ext uri="{FF2B5EF4-FFF2-40B4-BE49-F238E27FC236}">
                <a16:creationId xmlns:a16="http://schemas.microsoft.com/office/drawing/2014/main" id="{98E434BB-1616-1788-5154-6527DC3AAD29}"/>
              </a:ext>
            </a:extLst>
          </p:cNvPr>
          <p:cNvSpPr txBox="1">
            <a:spLocks/>
          </p:cNvSpPr>
          <p:nvPr/>
        </p:nvSpPr>
        <p:spPr>
          <a:xfrm>
            <a:off x="323528" y="1447020"/>
            <a:ext cx="8496944" cy="4346905"/>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42900" algn="l" rtl="0">
              <a:lnSpc>
                <a:spcPct val="100000"/>
              </a:lnSpc>
              <a:spcBef>
                <a:spcPts val="360"/>
              </a:spcBef>
              <a:spcAft>
                <a:spcPts val="0"/>
              </a:spcAft>
              <a:buClr>
                <a:schemeClr val="dk1"/>
              </a:buClr>
              <a:buSzPts val="1800"/>
              <a:buFont typeface="Arial"/>
              <a:buChar char="•"/>
              <a:defRPr sz="3200" b="0" i="0" u="none" strike="noStrike" cap="none">
                <a:solidFill>
                  <a:schemeClr val="dk1"/>
                </a:solidFill>
                <a:latin typeface="Calibri"/>
                <a:ea typeface="Calibri"/>
                <a:cs typeface="Calibri"/>
                <a:sym typeface="Calibri"/>
              </a:defRPr>
            </a:lvl1pPr>
            <a:lvl2pPr marL="914400" marR="0" lvl="1" indent="-342900" algn="l" rtl="0">
              <a:lnSpc>
                <a:spcPct val="100000"/>
              </a:lnSpc>
              <a:spcBef>
                <a:spcPts val="360"/>
              </a:spcBef>
              <a:spcAft>
                <a:spcPts val="0"/>
              </a:spcAft>
              <a:buClr>
                <a:schemeClr val="dk1"/>
              </a:buClr>
              <a:buSzPts val="1800"/>
              <a:buFont typeface="Arial"/>
              <a:buChar char="–"/>
              <a:defRPr sz="2800" b="0" i="0" u="none" strike="noStrike" cap="none">
                <a:solidFill>
                  <a:schemeClr val="dk1"/>
                </a:solidFill>
                <a:latin typeface="Calibri"/>
                <a:ea typeface="Calibri"/>
                <a:cs typeface="Calibri"/>
                <a:sym typeface="Calibri"/>
              </a:defRPr>
            </a:lvl2pPr>
            <a:lvl3pPr marL="1371600" marR="0" lvl="2" indent="-342900" algn="l" rtl="0">
              <a:lnSpc>
                <a:spcPct val="100000"/>
              </a:lnSpc>
              <a:spcBef>
                <a:spcPts val="360"/>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3pPr>
            <a:lvl4pPr marL="1828800" marR="0" lvl="3"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4pPr>
            <a:lvl5pPr marL="2286000" marR="0" lvl="4"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9pPr>
          </a:lstStyle>
          <a:p>
            <a:pPr marR="0" algn="just" rtl="0">
              <a:spcBef>
                <a:spcPts val="0"/>
              </a:spcBef>
              <a:spcAft>
                <a:spcPts val="0"/>
              </a:spcAft>
            </a:pPr>
            <a:r>
              <a:rPr lang="en-US" sz="1800" b="1" i="0" dirty="0">
                <a:solidFill>
                  <a:srgbClr val="000000"/>
                </a:solidFill>
                <a:effectLst/>
                <a:latin typeface="Times New Roman" panose="02020603050405020304" pitchFamily="18" charset="0"/>
                <a:ea typeface="Arial" panose="020B0604020202020204" pitchFamily="34" charset="0"/>
                <a:cs typeface="Times New Roman" panose="02020603050405020304" pitchFamily="18" charset="0"/>
              </a:rPr>
              <a:t>Problem:</a:t>
            </a:r>
            <a:r>
              <a:rPr lang="en-US" sz="1800" b="0" i="0" dirty="0">
                <a:solidFill>
                  <a:srgbClr val="000000"/>
                </a:solidFill>
                <a:effectLst/>
                <a:latin typeface="Times New Roman" panose="02020603050405020304" pitchFamily="18" charset="0"/>
                <a:ea typeface="Arial" panose="020B0604020202020204" pitchFamily="34" charset="0"/>
                <a:cs typeface="Times New Roman" panose="02020603050405020304" pitchFamily="18" charset="0"/>
              </a:rPr>
              <a:t> Traditional myoelectric prosthetic hands are heavy, complex, expensive, and difficult to fit or calibrate. Body-powered hooks are functional but unattractive and uncomfortable.</a:t>
            </a:r>
            <a:endParaRPr lang="en-IN" sz="1100" dirty="0">
              <a:effectLst/>
            </a:endParaRPr>
          </a:p>
          <a:p>
            <a:pPr marR="0" algn="just" rtl="0">
              <a:spcBef>
                <a:spcPts val="0"/>
              </a:spcBef>
              <a:spcAft>
                <a:spcPts val="0"/>
              </a:spcAft>
            </a:pPr>
            <a:r>
              <a:rPr lang="en-US" sz="1800" b="1" i="0" dirty="0">
                <a:solidFill>
                  <a:srgbClr val="000000"/>
                </a:solidFill>
                <a:effectLst/>
                <a:latin typeface="Times New Roman" panose="02020603050405020304" pitchFamily="18" charset="0"/>
                <a:ea typeface="Arial" panose="020B0604020202020204" pitchFamily="34" charset="0"/>
                <a:cs typeface="Times New Roman" panose="02020603050405020304" pitchFamily="18" charset="0"/>
              </a:rPr>
              <a:t>Solution:</a:t>
            </a:r>
            <a:r>
              <a:rPr lang="en-US" sz="1800" b="0" i="0" dirty="0">
                <a:solidFill>
                  <a:srgbClr val="000000"/>
                </a:solidFill>
                <a:effectLst/>
                <a:latin typeface="Times New Roman" panose="02020603050405020304" pitchFamily="18" charset="0"/>
                <a:ea typeface="Arial" panose="020B0604020202020204" pitchFamily="34" charset="0"/>
                <a:cs typeface="Times New Roman" panose="02020603050405020304" pitchFamily="18" charset="0"/>
              </a:rPr>
              <a:t> Design a lightweight, low-cost prosthetic arm (“Finch”) with three opposing fingers controlled by a muscle bulge sensor, offering easy wear ability and practical daily use functionality</a:t>
            </a:r>
            <a:endParaRPr lang="en-IN" sz="1100" dirty="0">
              <a:effectLst/>
            </a:endParaRPr>
          </a:p>
          <a:p>
            <a:pPr marR="0" algn="just" rtl="0">
              <a:spcBef>
                <a:spcPts val="0"/>
              </a:spcBef>
              <a:spcAft>
                <a:spcPts val="0"/>
              </a:spcAft>
            </a:pPr>
            <a:r>
              <a:rPr lang="en-US" sz="1800" b="1" i="0" dirty="0">
                <a:solidFill>
                  <a:srgbClr val="000000"/>
                </a:solidFill>
                <a:effectLst/>
                <a:latin typeface="Times New Roman" panose="02020603050405020304" pitchFamily="18" charset="0"/>
                <a:ea typeface="Arial" panose="020B0604020202020204" pitchFamily="34" charset="0"/>
                <a:cs typeface="Times New Roman" panose="02020603050405020304" pitchFamily="18" charset="0"/>
              </a:rPr>
              <a:t>Methodology:</a:t>
            </a:r>
            <a:r>
              <a:rPr lang="en-US" sz="1800" b="0" i="0" dirty="0">
                <a:solidFill>
                  <a:srgbClr val="000000"/>
                </a:solidFill>
                <a:effectLst/>
                <a:latin typeface="Times New Roman" panose="02020603050405020304" pitchFamily="18" charset="0"/>
                <a:ea typeface="Arial" panose="020B0604020202020204" pitchFamily="34" charset="0"/>
                <a:cs typeface="Times New Roman" panose="02020603050405020304" pitchFamily="18" charset="0"/>
              </a:rPr>
              <a:t> The Finch employs a single linear actuator to drive three fingers based on muscle bulge data from a photoelectric sensor embedded in a wearable fabric supporter socket. Functional and user tests (including SHAP) were performed with five forearm amputees.</a:t>
            </a:r>
            <a:endParaRPr lang="en-IN" sz="1100" dirty="0">
              <a:effectLst/>
            </a:endParaRPr>
          </a:p>
          <a:p>
            <a:pPr marR="0" algn="just" rtl="0">
              <a:spcBef>
                <a:spcPts val="0"/>
              </a:spcBef>
              <a:spcAft>
                <a:spcPts val="0"/>
              </a:spcAft>
            </a:pPr>
            <a:r>
              <a:rPr lang="en-US" sz="1800" b="1" i="0" dirty="0">
                <a:solidFill>
                  <a:srgbClr val="000000"/>
                </a:solidFill>
                <a:effectLst/>
                <a:latin typeface="Times New Roman" panose="02020603050405020304" pitchFamily="18" charset="0"/>
                <a:ea typeface="Arial" panose="020B0604020202020204" pitchFamily="34" charset="0"/>
                <a:cs typeface="Times New Roman" panose="02020603050405020304" pitchFamily="18" charset="0"/>
              </a:rPr>
              <a:t>Results:</a:t>
            </a:r>
            <a:r>
              <a:rPr lang="en-US" sz="1800" b="0" i="0" dirty="0">
                <a:solidFill>
                  <a:srgbClr val="000000"/>
                </a:solidFill>
                <a:effectLst/>
                <a:latin typeface="Times New Roman" panose="02020603050405020304" pitchFamily="18" charset="0"/>
                <a:ea typeface="Arial" panose="020B0604020202020204" pitchFamily="34" charset="0"/>
                <a:cs typeface="Times New Roman" panose="02020603050405020304" pitchFamily="18" charset="0"/>
              </a:rPr>
              <a:t> The prosthetic weighs 330g and costs ~$430. Response time was 58 </a:t>
            </a:r>
            <a:r>
              <a:rPr lang="en-US" sz="1800" b="0" i="0" dirty="0" err="1">
                <a:solidFill>
                  <a:srgbClr val="000000"/>
                </a:solidFill>
                <a:effectLst/>
                <a:latin typeface="Times New Roman" panose="02020603050405020304" pitchFamily="18" charset="0"/>
                <a:ea typeface="Arial" panose="020B0604020202020204" pitchFamily="34" charset="0"/>
                <a:cs typeface="Times New Roman" panose="02020603050405020304" pitchFamily="18" charset="0"/>
              </a:rPr>
              <a:t>ms</a:t>
            </a:r>
            <a:r>
              <a:rPr lang="en-US" sz="1800" b="0" i="0" dirty="0">
                <a:solidFill>
                  <a:srgbClr val="000000"/>
                </a:solidFill>
                <a:effectLst/>
                <a:latin typeface="Times New Roman" panose="02020603050405020304" pitchFamily="18" charset="0"/>
                <a:ea typeface="Arial" panose="020B0604020202020204" pitchFamily="34" charset="0"/>
                <a:cs typeface="Times New Roman" panose="02020603050405020304" pitchFamily="18" charset="0"/>
              </a:rPr>
              <a:t> with battery life of 24 hours. Grasping forces ranged from 2.9 N to 12.8 N across object types. In SHAP testing, users completed 12 abstract tasks and 13 ADL tasks (except jug pouring), with </a:t>
            </a:r>
            <a:r>
              <a:rPr lang="en-US" sz="1800" b="0" i="0" dirty="0" err="1">
                <a:solidFill>
                  <a:srgbClr val="000000"/>
                </a:solidFill>
                <a:effectLst/>
                <a:latin typeface="Times New Roman" panose="02020603050405020304" pitchFamily="18" charset="0"/>
                <a:ea typeface="Arial" panose="020B0604020202020204" pitchFamily="34" charset="0"/>
                <a:cs typeface="Times New Roman" panose="02020603050405020304" pitchFamily="18" charset="0"/>
              </a:rPr>
              <a:t>IoF</a:t>
            </a:r>
            <a:r>
              <a:rPr lang="en-US" sz="1800" b="0" i="0" dirty="0">
                <a:solidFill>
                  <a:srgbClr val="000000"/>
                </a:solidFill>
                <a:effectLst/>
                <a:latin typeface="Times New Roman" panose="02020603050405020304" pitchFamily="18" charset="0"/>
                <a:ea typeface="Arial" panose="020B0604020202020204" pitchFamily="34" charset="0"/>
                <a:cs typeface="Times New Roman" panose="02020603050405020304" pitchFamily="18" charset="0"/>
              </a:rPr>
              <a:t> scores of 42–47.</a:t>
            </a:r>
            <a:endParaRPr lang="en-IN" sz="1100" dirty="0">
              <a:effectLst/>
            </a:endParaRPr>
          </a:p>
          <a:p>
            <a:pPr marR="0" algn="just" rtl="0">
              <a:spcBef>
                <a:spcPts val="0"/>
              </a:spcBef>
              <a:spcAft>
                <a:spcPts val="0"/>
              </a:spcAft>
            </a:pPr>
            <a:r>
              <a:rPr lang="en-US" sz="1800" b="1" i="0" dirty="0">
                <a:solidFill>
                  <a:srgbClr val="000000"/>
                </a:solidFill>
                <a:effectLst/>
                <a:latin typeface="Times New Roman" panose="02020603050405020304" pitchFamily="18" charset="0"/>
                <a:ea typeface="Arial" panose="020B0604020202020204" pitchFamily="34" charset="0"/>
                <a:cs typeface="Times New Roman" panose="02020603050405020304" pitchFamily="18" charset="0"/>
              </a:rPr>
              <a:t>Conclusion:</a:t>
            </a:r>
            <a:r>
              <a:rPr lang="en-US" sz="1800" b="0" i="0" dirty="0">
                <a:solidFill>
                  <a:srgbClr val="000000"/>
                </a:solidFill>
                <a:effectLst/>
                <a:latin typeface="Times New Roman" panose="02020603050405020304" pitchFamily="18" charset="0"/>
                <a:ea typeface="Arial" panose="020B0604020202020204" pitchFamily="34" charset="0"/>
                <a:cs typeface="Times New Roman" panose="02020603050405020304" pitchFamily="18" charset="0"/>
              </a:rPr>
              <a:t> Finch offers an affordable, comfortable, and responsive alternative for users seeking simplicity and functionality over high dexterity.</a:t>
            </a:r>
            <a:endParaRPr lang="en-IN" sz="1100" dirty="0">
              <a:effectLst/>
            </a:endParaRPr>
          </a:p>
        </p:txBody>
      </p:sp>
    </p:spTree>
    <p:extLst>
      <p:ext uri="{BB962C8B-B14F-4D97-AF65-F5344CB8AC3E}">
        <p14:creationId xmlns:p14="http://schemas.microsoft.com/office/powerpoint/2010/main" val="843076775"/>
      </p:ext>
    </p:extLst>
  </p:cSld>
  <p:clrMapOvr>
    <a:masterClrMapping/>
  </p:clrMapOvr>
  <p:transition spd="slow">
    <p:wipe dir="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6608" y="115154"/>
            <a:ext cx="9144000" cy="707886"/>
          </a:xfrm>
          <a:prstGeom prst="rect">
            <a:avLst/>
          </a:prstGeom>
          <a:noFill/>
        </p:spPr>
        <p:txBody>
          <a:bodyPr wrap="square" rtlCol="0">
            <a:spAutoFit/>
          </a:bodyPr>
          <a:lstStyle/>
          <a:p>
            <a:pPr algn="ctr"/>
            <a:r>
              <a:rPr lang="en-US" sz="4000" b="1" dirty="0">
                <a:latin typeface="Times New Roman" pitchFamily="18" charset="0"/>
                <a:cs typeface="Times New Roman" pitchFamily="18" charset="0"/>
              </a:rPr>
              <a:t>Reference 7:</a:t>
            </a:r>
            <a:endParaRPr lang="en-IN" sz="3600" dirty="0"/>
          </a:p>
        </p:txBody>
      </p:sp>
      <p:sp>
        <p:nvSpPr>
          <p:cNvPr id="9" name="Date Placeholder 8"/>
          <p:cNvSpPr>
            <a:spLocks noGrp="1"/>
          </p:cNvSpPr>
          <p:nvPr>
            <p:ph type="dt" sz="half" idx="10"/>
          </p:nvPr>
        </p:nvSpPr>
        <p:spPr/>
        <p:txBody>
          <a:bodyPr/>
          <a:lstStyle/>
          <a:p>
            <a:fld id="{86C11761-8B92-4C9A-AE4A-98F2845B6207}" type="datetime5">
              <a:rPr lang="en-US"/>
              <a:t>6-May-25</a:t>
            </a:fld>
            <a:endParaRPr lang="en-IN" dirty="0"/>
          </a:p>
        </p:txBody>
      </p:sp>
      <p:sp>
        <p:nvSpPr>
          <p:cNvPr id="10" name="Footer Placeholder 9"/>
          <p:cNvSpPr>
            <a:spLocks noGrp="1"/>
          </p:cNvSpPr>
          <p:nvPr>
            <p:ph type="ftr" sz="quarter" idx="11"/>
          </p:nvPr>
        </p:nvSpPr>
        <p:spPr/>
        <p:txBody>
          <a:bodyPr/>
          <a:lstStyle/>
          <a:p>
            <a:r>
              <a:rPr lang="en-IN"/>
              <a:t>Dept. of ECE, Vemana IT</a:t>
            </a:r>
          </a:p>
        </p:txBody>
      </p:sp>
      <p:sp>
        <p:nvSpPr>
          <p:cNvPr id="11" name="Slide Number Placeholder 10"/>
          <p:cNvSpPr>
            <a:spLocks noGrp="1"/>
          </p:cNvSpPr>
          <p:nvPr>
            <p:ph type="sldNum" sz="quarter" idx="12"/>
          </p:nvPr>
        </p:nvSpPr>
        <p:spPr/>
        <p:txBody>
          <a:bodyPr/>
          <a:lstStyle/>
          <a:p>
            <a:fld id="{25E424CE-D6BC-4AC3-8E72-FD46834FA053}" type="slidenum">
              <a:rPr lang="en-IN"/>
              <a:pPr/>
              <a:t>11</a:t>
            </a:fld>
            <a:endParaRPr lang="en-IN"/>
          </a:p>
        </p:txBody>
      </p:sp>
      <p:sp>
        <p:nvSpPr>
          <p:cNvPr id="3" name="TextBox 2">
            <a:extLst>
              <a:ext uri="{FF2B5EF4-FFF2-40B4-BE49-F238E27FC236}">
                <a16:creationId xmlns:a16="http://schemas.microsoft.com/office/drawing/2014/main" id="{47243431-009D-EC4C-AE7D-D095D872D75C}"/>
              </a:ext>
            </a:extLst>
          </p:cNvPr>
          <p:cNvSpPr txBox="1"/>
          <p:nvPr/>
        </p:nvSpPr>
        <p:spPr>
          <a:xfrm>
            <a:off x="323528" y="739134"/>
            <a:ext cx="8496944" cy="646331"/>
          </a:xfrm>
          <a:prstGeom prst="rect">
            <a:avLst/>
          </a:prstGeom>
          <a:noFill/>
        </p:spPr>
        <p:txBody>
          <a:bodyPr wrap="square">
            <a:spAutoFit/>
          </a:bodyPr>
          <a:lstStyle/>
          <a:p>
            <a:pPr marL="0" indent="0" algn="ctr">
              <a:buNone/>
            </a:pPr>
            <a:r>
              <a:rPr lang="en-US" sz="1800" b="1" dirty="0">
                <a:latin typeface="Times New Roman" panose="02020603050405020304" pitchFamily="18" charset="0"/>
                <a:cs typeface="Times New Roman" panose="02020603050405020304" pitchFamily="18" charset="0"/>
              </a:rPr>
              <a:t>Development and Testing of a Wearable Vibrotactile Haptic Feedback System for Proprioceptive Rehabilitation</a:t>
            </a:r>
          </a:p>
        </p:txBody>
      </p:sp>
      <p:sp>
        <p:nvSpPr>
          <p:cNvPr id="7" name="Content Placeholder 5">
            <a:extLst>
              <a:ext uri="{FF2B5EF4-FFF2-40B4-BE49-F238E27FC236}">
                <a16:creationId xmlns:a16="http://schemas.microsoft.com/office/drawing/2014/main" id="{98E434BB-1616-1788-5154-6527DC3AAD29}"/>
              </a:ext>
            </a:extLst>
          </p:cNvPr>
          <p:cNvSpPr txBox="1">
            <a:spLocks/>
          </p:cNvSpPr>
          <p:nvPr/>
        </p:nvSpPr>
        <p:spPr>
          <a:xfrm>
            <a:off x="323528" y="1447020"/>
            <a:ext cx="8496944" cy="4346905"/>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42900" algn="l" rtl="0">
              <a:lnSpc>
                <a:spcPct val="100000"/>
              </a:lnSpc>
              <a:spcBef>
                <a:spcPts val="360"/>
              </a:spcBef>
              <a:spcAft>
                <a:spcPts val="0"/>
              </a:spcAft>
              <a:buClr>
                <a:schemeClr val="dk1"/>
              </a:buClr>
              <a:buSzPts val="1800"/>
              <a:buFont typeface="Arial"/>
              <a:buChar char="•"/>
              <a:defRPr sz="3200" b="0" i="0" u="none" strike="noStrike" cap="none">
                <a:solidFill>
                  <a:schemeClr val="dk1"/>
                </a:solidFill>
                <a:latin typeface="Calibri"/>
                <a:ea typeface="Calibri"/>
                <a:cs typeface="Calibri"/>
                <a:sym typeface="Calibri"/>
              </a:defRPr>
            </a:lvl1pPr>
            <a:lvl2pPr marL="914400" marR="0" lvl="1" indent="-342900" algn="l" rtl="0">
              <a:lnSpc>
                <a:spcPct val="100000"/>
              </a:lnSpc>
              <a:spcBef>
                <a:spcPts val="360"/>
              </a:spcBef>
              <a:spcAft>
                <a:spcPts val="0"/>
              </a:spcAft>
              <a:buClr>
                <a:schemeClr val="dk1"/>
              </a:buClr>
              <a:buSzPts val="1800"/>
              <a:buFont typeface="Arial"/>
              <a:buChar char="–"/>
              <a:defRPr sz="2800" b="0" i="0" u="none" strike="noStrike" cap="none">
                <a:solidFill>
                  <a:schemeClr val="dk1"/>
                </a:solidFill>
                <a:latin typeface="Calibri"/>
                <a:ea typeface="Calibri"/>
                <a:cs typeface="Calibri"/>
                <a:sym typeface="Calibri"/>
              </a:defRPr>
            </a:lvl2pPr>
            <a:lvl3pPr marL="1371600" marR="0" lvl="2" indent="-342900" algn="l" rtl="0">
              <a:lnSpc>
                <a:spcPct val="100000"/>
              </a:lnSpc>
              <a:spcBef>
                <a:spcPts val="360"/>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3pPr>
            <a:lvl4pPr marL="1828800" marR="0" lvl="3"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4pPr>
            <a:lvl5pPr marL="2286000" marR="0" lvl="4"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9pPr>
          </a:lstStyle>
          <a:p>
            <a:r>
              <a:rPr lang="en-US" sz="1800" b="1" dirty="0">
                <a:latin typeface="Times New Roman" panose="02020603050405020304" pitchFamily="18" charset="0"/>
                <a:cs typeface="Times New Roman" panose="02020603050405020304" pitchFamily="18" charset="0"/>
              </a:rPr>
              <a:t>Problem: </a:t>
            </a:r>
            <a:r>
              <a:rPr lang="en-US" sz="1800" dirty="0">
                <a:latin typeface="Times New Roman" panose="02020603050405020304" pitchFamily="18" charset="0"/>
                <a:cs typeface="Times New Roman" panose="02020603050405020304" pitchFamily="18" charset="0"/>
              </a:rPr>
              <a:t>Individuals with upper-limb prosthetics often lack proprioception and force feedback, which impairs their ability to control prosthetic devices effectively, especially under distraction or without a phantom hand map.</a:t>
            </a:r>
          </a:p>
          <a:p>
            <a:r>
              <a:rPr lang="en-US" sz="1800" b="1" dirty="0">
                <a:latin typeface="Times New Roman" panose="02020603050405020304" pitchFamily="18" charset="0"/>
                <a:cs typeface="Times New Roman" panose="02020603050405020304" pitchFamily="18" charset="0"/>
              </a:rPr>
              <a:t>Solution: </a:t>
            </a:r>
            <a:r>
              <a:rPr lang="en-US" sz="1800" dirty="0">
                <a:latin typeface="Times New Roman" panose="02020603050405020304" pitchFamily="18" charset="0"/>
                <a:cs typeface="Times New Roman" panose="02020603050405020304" pitchFamily="18" charset="0"/>
              </a:rPr>
              <a:t>Vi-</a:t>
            </a:r>
            <a:r>
              <a:rPr lang="en-US" sz="1800" dirty="0" err="1">
                <a:latin typeface="Times New Roman" panose="02020603050405020304" pitchFamily="18" charset="0"/>
                <a:cs typeface="Times New Roman" panose="02020603050405020304" pitchFamily="18" charset="0"/>
              </a:rPr>
              <a:t>HaB</a:t>
            </a:r>
            <a:r>
              <a:rPr lang="en-US" sz="1800" dirty="0">
                <a:latin typeface="Times New Roman" panose="02020603050405020304" pitchFamily="18" charset="0"/>
                <a:cs typeface="Times New Roman" panose="02020603050405020304" pitchFamily="18" charset="0"/>
              </a:rPr>
              <a:t> is a non-invasive, wearable vibrotactile system that provides individual finger feedback using a mapped array of vibrotactile motors.</a:t>
            </a:r>
          </a:p>
          <a:p>
            <a:r>
              <a:rPr lang="en-US" sz="1800" b="1" dirty="0">
                <a:latin typeface="Times New Roman" panose="02020603050405020304" pitchFamily="18" charset="0"/>
                <a:cs typeface="Times New Roman" panose="02020603050405020304" pitchFamily="18" charset="0"/>
              </a:rPr>
              <a:t>Methodology: </a:t>
            </a:r>
            <a:r>
              <a:rPr lang="en-US" sz="1800" dirty="0">
                <a:latin typeface="Times New Roman" panose="02020603050405020304" pitchFamily="18" charset="0"/>
                <a:cs typeface="Times New Roman" panose="02020603050405020304" pitchFamily="18" charset="0"/>
              </a:rPr>
              <a:t>Five force-sensitive resistors on a dummy hand detect forces, processed by an Arduino Nano, and mapped to an armband’s vibrotactile motors. Tested on 14 disabled individuals through tasks involving finger and force recognition, under distracted and distraction-free settings.</a:t>
            </a:r>
          </a:p>
          <a:p>
            <a:r>
              <a:rPr lang="en-US" sz="1800" b="1" dirty="0">
                <a:latin typeface="Times New Roman" panose="02020603050405020304" pitchFamily="18" charset="0"/>
                <a:cs typeface="Times New Roman" panose="02020603050405020304" pitchFamily="18" charset="0"/>
              </a:rPr>
              <a:t>Results: </a:t>
            </a:r>
            <a:r>
              <a:rPr lang="en-US" sz="1800" dirty="0">
                <a:latin typeface="Times New Roman" panose="02020603050405020304" pitchFamily="18" charset="0"/>
                <a:cs typeface="Times New Roman" panose="02020603050405020304" pitchFamily="18" charset="0"/>
              </a:rPr>
              <a:t>Achieved 82.04% average accuracy across tasks. Performance remained stable or improved under distractions, showing system reliability in real-world conditions.</a:t>
            </a:r>
          </a:p>
          <a:p>
            <a:r>
              <a:rPr lang="en-US" sz="1800" b="1" dirty="0">
                <a:latin typeface="Times New Roman" panose="02020603050405020304" pitchFamily="18" charset="0"/>
                <a:cs typeface="Times New Roman" panose="02020603050405020304" pitchFamily="18" charset="0"/>
              </a:rPr>
              <a:t>Conclusion: </a:t>
            </a:r>
            <a:r>
              <a:rPr lang="en-US" sz="1800" dirty="0">
                <a:latin typeface="Times New Roman" panose="02020603050405020304" pitchFamily="18" charset="0"/>
                <a:cs typeface="Times New Roman" panose="02020603050405020304" pitchFamily="18" charset="0"/>
              </a:rPr>
              <a:t>Vi-</a:t>
            </a:r>
            <a:r>
              <a:rPr lang="en-US" sz="1800" dirty="0" err="1">
                <a:latin typeface="Times New Roman" panose="02020603050405020304" pitchFamily="18" charset="0"/>
                <a:cs typeface="Times New Roman" panose="02020603050405020304" pitchFamily="18" charset="0"/>
              </a:rPr>
              <a:t>HaB</a:t>
            </a:r>
            <a:r>
              <a:rPr lang="en-US" sz="1800" dirty="0">
                <a:latin typeface="Times New Roman" panose="02020603050405020304" pitchFamily="18" charset="0"/>
                <a:cs typeface="Times New Roman" panose="02020603050405020304" pitchFamily="18" charset="0"/>
              </a:rPr>
              <a:t> offers a cost-effective, adaptable, and non-invasive proprioceptive rehabilitation tool with potential applications in prosthetics, VR, and teleoperation.</a:t>
            </a:r>
          </a:p>
        </p:txBody>
      </p:sp>
    </p:spTree>
    <p:extLst>
      <p:ext uri="{BB962C8B-B14F-4D97-AF65-F5344CB8AC3E}">
        <p14:creationId xmlns:p14="http://schemas.microsoft.com/office/powerpoint/2010/main" val="2377555067"/>
      </p:ext>
    </p:extLst>
  </p:cSld>
  <p:clrMapOvr>
    <a:masterClrMapping/>
  </p:clrMapOvr>
  <p:transition spd="slow">
    <p:wipe dir="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6608" y="115154"/>
            <a:ext cx="9144000" cy="707886"/>
          </a:xfrm>
          <a:prstGeom prst="rect">
            <a:avLst/>
          </a:prstGeom>
          <a:noFill/>
        </p:spPr>
        <p:txBody>
          <a:bodyPr wrap="square" rtlCol="0">
            <a:spAutoFit/>
          </a:bodyPr>
          <a:lstStyle/>
          <a:p>
            <a:pPr algn="ctr"/>
            <a:r>
              <a:rPr lang="en-US" sz="4000" b="1" dirty="0">
                <a:latin typeface="Times New Roman" pitchFamily="18" charset="0"/>
                <a:cs typeface="Times New Roman" pitchFamily="18" charset="0"/>
              </a:rPr>
              <a:t>Reference 8:</a:t>
            </a:r>
            <a:endParaRPr lang="en-IN" sz="3600" dirty="0"/>
          </a:p>
        </p:txBody>
      </p:sp>
      <p:sp>
        <p:nvSpPr>
          <p:cNvPr id="9" name="Date Placeholder 8"/>
          <p:cNvSpPr>
            <a:spLocks noGrp="1"/>
          </p:cNvSpPr>
          <p:nvPr>
            <p:ph type="dt" sz="half" idx="10"/>
          </p:nvPr>
        </p:nvSpPr>
        <p:spPr/>
        <p:txBody>
          <a:bodyPr/>
          <a:lstStyle/>
          <a:p>
            <a:fld id="{86C11761-8B92-4C9A-AE4A-98F2845B6207}" type="datetime5">
              <a:rPr lang="en-US"/>
              <a:t>6-May-25</a:t>
            </a:fld>
            <a:endParaRPr lang="en-IN" dirty="0"/>
          </a:p>
        </p:txBody>
      </p:sp>
      <p:sp>
        <p:nvSpPr>
          <p:cNvPr id="10" name="Footer Placeholder 9"/>
          <p:cNvSpPr>
            <a:spLocks noGrp="1"/>
          </p:cNvSpPr>
          <p:nvPr>
            <p:ph type="ftr" sz="quarter" idx="11"/>
          </p:nvPr>
        </p:nvSpPr>
        <p:spPr/>
        <p:txBody>
          <a:bodyPr/>
          <a:lstStyle/>
          <a:p>
            <a:r>
              <a:rPr lang="en-IN"/>
              <a:t>Dept. of ECE, Vemana IT</a:t>
            </a:r>
          </a:p>
        </p:txBody>
      </p:sp>
      <p:sp>
        <p:nvSpPr>
          <p:cNvPr id="11" name="Slide Number Placeholder 10"/>
          <p:cNvSpPr>
            <a:spLocks noGrp="1"/>
          </p:cNvSpPr>
          <p:nvPr>
            <p:ph type="sldNum" sz="quarter" idx="12"/>
          </p:nvPr>
        </p:nvSpPr>
        <p:spPr/>
        <p:txBody>
          <a:bodyPr/>
          <a:lstStyle/>
          <a:p>
            <a:fld id="{25E424CE-D6BC-4AC3-8E72-FD46834FA053}" type="slidenum">
              <a:rPr lang="en-IN"/>
              <a:pPr/>
              <a:t>12</a:t>
            </a:fld>
            <a:endParaRPr lang="en-IN"/>
          </a:p>
        </p:txBody>
      </p:sp>
      <p:sp>
        <p:nvSpPr>
          <p:cNvPr id="3" name="TextBox 2">
            <a:extLst>
              <a:ext uri="{FF2B5EF4-FFF2-40B4-BE49-F238E27FC236}">
                <a16:creationId xmlns:a16="http://schemas.microsoft.com/office/drawing/2014/main" id="{47243431-009D-EC4C-AE7D-D095D872D75C}"/>
              </a:ext>
            </a:extLst>
          </p:cNvPr>
          <p:cNvSpPr txBox="1"/>
          <p:nvPr/>
        </p:nvSpPr>
        <p:spPr>
          <a:xfrm>
            <a:off x="323528" y="739134"/>
            <a:ext cx="8496944" cy="369332"/>
          </a:xfrm>
          <a:prstGeom prst="rect">
            <a:avLst/>
          </a:prstGeom>
          <a:noFill/>
        </p:spPr>
        <p:txBody>
          <a:bodyPr wrap="square">
            <a:spAutoFit/>
          </a:bodyPr>
          <a:lstStyle/>
          <a:p>
            <a:pPr marL="0" indent="0" algn="ctr">
              <a:buNone/>
            </a:pPr>
            <a:r>
              <a:rPr lang="en-US" sz="1800" b="1" dirty="0">
                <a:latin typeface="Times New Roman" panose="02020603050405020304" pitchFamily="18" charset="0"/>
                <a:cs typeface="Times New Roman" panose="02020603050405020304" pitchFamily="18" charset="0"/>
              </a:rPr>
              <a:t>ProACT: An Augmented Reality Testbed for Intelligent Prosthetic Arms</a:t>
            </a:r>
          </a:p>
        </p:txBody>
      </p:sp>
      <p:sp>
        <p:nvSpPr>
          <p:cNvPr id="7" name="Content Placeholder 5">
            <a:extLst>
              <a:ext uri="{FF2B5EF4-FFF2-40B4-BE49-F238E27FC236}">
                <a16:creationId xmlns:a16="http://schemas.microsoft.com/office/drawing/2014/main" id="{98E434BB-1616-1788-5154-6527DC3AAD29}"/>
              </a:ext>
            </a:extLst>
          </p:cNvPr>
          <p:cNvSpPr txBox="1">
            <a:spLocks/>
          </p:cNvSpPr>
          <p:nvPr/>
        </p:nvSpPr>
        <p:spPr>
          <a:xfrm>
            <a:off x="323528" y="1447020"/>
            <a:ext cx="8496944" cy="4346905"/>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42900" algn="l" rtl="0">
              <a:lnSpc>
                <a:spcPct val="100000"/>
              </a:lnSpc>
              <a:spcBef>
                <a:spcPts val="360"/>
              </a:spcBef>
              <a:spcAft>
                <a:spcPts val="0"/>
              </a:spcAft>
              <a:buClr>
                <a:schemeClr val="dk1"/>
              </a:buClr>
              <a:buSzPts val="1800"/>
              <a:buFont typeface="Arial"/>
              <a:buChar char="•"/>
              <a:defRPr sz="3200" b="0" i="0" u="none" strike="noStrike" cap="none">
                <a:solidFill>
                  <a:schemeClr val="dk1"/>
                </a:solidFill>
                <a:latin typeface="Calibri"/>
                <a:ea typeface="Calibri"/>
                <a:cs typeface="Calibri"/>
                <a:sym typeface="Calibri"/>
              </a:defRPr>
            </a:lvl1pPr>
            <a:lvl2pPr marL="914400" marR="0" lvl="1" indent="-342900" algn="l" rtl="0">
              <a:lnSpc>
                <a:spcPct val="100000"/>
              </a:lnSpc>
              <a:spcBef>
                <a:spcPts val="360"/>
              </a:spcBef>
              <a:spcAft>
                <a:spcPts val="0"/>
              </a:spcAft>
              <a:buClr>
                <a:schemeClr val="dk1"/>
              </a:buClr>
              <a:buSzPts val="1800"/>
              <a:buFont typeface="Arial"/>
              <a:buChar char="–"/>
              <a:defRPr sz="2800" b="0" i="0" u="none" strike="noStrike" cap="none">
                <a:solidFill>
                  <a:schemeClr val="dk1"/>
                </a:solidFill>
                <a:latin typeface="Calibri"/>
                <a:ea typeface="Calibri"/>
                <a:cs typeface="Calibri"/>
                <a:sym typeface="Calibri"/>
              </a:defRPr>
            </a:lvl2pPr>
            <a:lvl3pPr marL="1371600" marR="0" lvl="2" indent="-342900" algn="l" rtl="0">
              <a:lnSpc>
                <a:spcPct val="100000"/>
              </a:lnSpc>
              <a:spcBef>
                <a:spcPts val="360"/>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3pPr>
            <a:lvl4pPr marL="1828800" marR="0" lvl="3"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4pPr>
            <a:lvl5pPr marL="2286000" marR="0" lvl="4"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9pPr>
          </a:lstStyle>
          <a:p>
            <a:r>
              <a:rPr lang="en-US" sz="1800" b="1" dirty="0">
                <a:latin typeface="Times New Roman" panose="02020603050405020304" pitchFamily="18" charset="0"/>
                <a:cs typeface="Times New Roman" panose="02020603050405020304" pitchFamily="18" charset="0"/>
              </a:rPr>
              <a:t>Problem: </a:t>
            </a:r>
            <a:r>
              <a:rPr lang="en-US" sz="1800" dirty="0">
                <a:latin typeface="Times New Roman" panose="02020603050405020304" pitchFamily="18" charset="0"/>
                <a:cs typeface="Times New Roman" panose="02020603050405020304" pitchFamily="18" charset="0"/>
              </a:rPr>
              <a:t>High-level amputees face difficulty using prosthetic arms due to limited input from EMG signals. Existing systems are costly and lack tools for testing intelligent, whole-arm control.</a:t>
            </a:r>
          </a:p>
          <a:p>
            <a:r>
              <a:rPr lang="en-US" sz="1800" b="1" dirty="0">
                <a:latin typeface="Times New Roman" panose="02020603050405020304" pitchFamily="18" charset="0"/>
                <a:cs typeface="Times New Roman" panose="02020603050405020304" pitchFamily="18" charset="0"/>
              </a:rPr>
              <a:t>Solution: </a:t>
            </a:r>
            <a:r>
              <a:rPr lang="en-US" sz="1800" dirty="0">
                <a:latin typeface="Times New Roman" panose="02020603050405020304" pitchFamily="18" charset="0"/>
                <a:cs typeface="Times New Roman" panose="02020603050405020304" pitchFamily="18" charset="0"/>
              </a:rPr>
              <a:t>ProACT is an AR-based, immersive testbed integrating ROS, Gazebo, Unity, and Microsoft HoloLens 2 to enable intelligent control testing for prosthetic limbs.</a:t>
            </a:r>
          </a:p>
          <a:p>
            <a:r>
              <a:rPr lang="en-US" sz="1800" b="1" dirty="0">
                <a:latin typeface="Times New Roman" panose="02020603050405020304" pitchFamily="18" charset="0"/>
                <a:cs typeface="Times New Roman" panose="02020603050405020304" pitchFamily="18" charset="0"/>
              </a:rPr>
              <a:t>Methodology:</a:t>
            </a:r>
            <a:r>
              <a:rPr lang="en-US" sz="1800" dirty="0">
                <a:latin typeface="Times New Roman" panose="02020603050405020304" pitchFamily="18" charset="0"/>
                <a:cs typeface="Times New Roman" panose="02020603050405020304" pitchFamily="18" charset="0"/>
              </a:rPr>
              <a:t> Utilizes an EMG armband and eye-tracking for input, testing four control strategies—direct joint, end-effector, gaze-assisted, and context-assisted—on a Modular Prosthetic Limb. Evaluated via user studies using a Box-and-Blocks test with non-amputees.</a:t>
            </a:r>
          </a:p>
          <a:p>
            <a:r>
              <a:rPr lang="en-US" sz="1800" b="1" dirty="0">
                <a:latin typeface="Times New Roman" panose="02020603050405020304" pitchFamily="18" charset="0"/>
                <a:cs typeface="Times New Roman" panose="02020603050405020304" pitchFamily="18" charset="0"/>
              </a:rPr>
              <a:t>Results: </a:t>
            </a:r>
            <a:r>
              <a:rPr lang="en-US" sz="1800" dirty="0">
                <a:latin typeface="Times New Roman" panose="02020603050405020304" pitchFamily="18" charset="0"/>
                <a:cs typeface="Times New Roman" panose="02020603050405020304" pitchFamily="18" charset="0"/>
              </a:rPr>
              <a:t>Gaze-assisted methods outperformed traditional ones in speed, success, and user satisfaction. Context-assisted control further improved intent prediction.</a:t>
            </a:r>
          </a:p>
          <a:p>
            <a:r>
              <a:rPr lang="en-US" sz="1800" b="1" dirty="0">
                <a:latin typeface="Times New Roman" panose="02020603050405020304" pitchFamily="18" charset="0"/>
                <a:cs typeface="Times New Roman" panose="02020603050405020304" pitchFamily="18" charset="0"/>
              </a:rPr>
              <a:t>Conclusion: </a:t>
            </a:r>
            <a:r>
              <a:rPr lang="en-US" sz="1800" dirty="0">
                <a:latin typeface="Times New Roman" panose="02020603050405020304" pitchFamily="18" charset="0"/>
                <a:cs typeface="Times New Roman" panose="02020603050405020304" pitchFamily="18" charset="0"/>
              </a:rPr>
              <a:t>ProACT is a robust, open-source simulation tool for developing and evaluating intelligent prosthetic control strategies, supporting user-centered design improvements.</a:t>
            </a:r>
          </a:p>
        </p:txBody>
      </p:sp>
    </p:spTree>
    <p:extLst>
      <p:ext uri="{BB962C8B-B14F-4D97-AF65-F5344CB8AC3E}">
        <p14:creationId xmlns:p14="http://schemas.microsoft.com/office/powerpoint/2010/main" val="3038145905"/>
      </p:ext>
    </p:extLst>
  </p:cSld>
  <p:clrMapOvr>
    <a:masterClrMapping/>
  </p:clrMapOvr>
  <p:transition spd="slow">
    <p:wipe dir="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sp>
        <p:nvSpPr>
          <p:cNvPr id="146" name="Google Shape;146;g33f40e27c4d_0_8"/>
          <p:cNvSpPr txBox="1">
            <a:spLocks noGrp="1"/>
          </p:cNvSpPr>
          <p:nvPr>
            <p:ph type="title"/>
          </p:nvPr>
        </p:nvSpPr>
        <p:spPr>
          <a:xfrm>
            <a:off x="457200" y="437536"/>
            <a:ext cx="8229600" cy="1143000"/>
          </a:xfrm>
          <a:prstGeom prst="rect">
            <a:avLst/>
          </a:prstGeom>
        </p:spPr>
        <p:txBody>
          <a:bodyPr spcFirstLastPara="1" wrap="square" lIns="91425" tIns="45700" rIns="91425" bIns="45700" anchor="ctr" anchorCtr="0">
            <a:normAutofit/>
          </a:bodyPr>
          <a:lstStyle/>
          <a:p>
            <a:pPr marL="0" lvl="0" indent="0" algn="ctr" rtl="0">
              <a:spcBef>
                <a:spcPts val="0"/>
              </a:spcBef>
              <a:spcAft>
                <a:spcPts val="0"/>
              </a:spcAft>
              <a:buNone/>
            </a:pPr>
            <a:r>
              <a:rPr lang="en-US" sz="4000" b="1" dirty="0">
                <a:latin typeface="Times New Roman"/>
                <a:ea typeface="Times New Roman"/>
                <a:cs typeface="Times New Roman"/>
                <a:sym typeface="Times New Roman"/>
              </a:rPr>
              <a:t>APPLICATIONS</a:t>
            </a:r>
            <a:endParaRPr sz="4000" b="1" dirty="0">
              <a:latin typeface="Times New Roman"/>
              <a:ea typeface="Times New Roman"/>
              <a:cs typeface="Times New Roman"/>
              <a:sym typeface="Times New Roman"/>
            </a:endParaRPr>
          </a:p>
        </p:txBody>
      </p:sp>
      <p:sp>
        <p:nvSpPr>
          <p:cNvPr id="147" name="Google Shape;147;g33f40e27c4d_0_8"/>
          <p:cNvSpPr txBox="1">
            <a:spLocks noGrp="1"/>
          </p:cNvSpPr>
          <p:nvPr>
            <p:ph type="body" idx="1"/>
          </p:nvPr>
        </p:nvSpPr>
        <p:spPr>
          <a:xfrm>
            <a:off x="809932" y="1568246"/>
            <a:ext cx="7524135" cy="4526100"/>
          </a:xfrm>
          <a:prstGeom prst="rect">
            <a:avLst/>
          </a:prstGeom>
        </p:spPr>
        <p:txBody>
          <a:bodyPr spcFirstLastPara="1" wrap="square" lIns="91425" tIns="45700" rIns="91425" bIns="45700" anchor="t" anchorCtr="0">
            <a:normAutofit lnSpcReduction="10000"/>
          </a:bodyPr>
          <a:lstStyle/>
          <a:p>
            <a:pPr marL="457200" lvl="0" indent="-381000" algn="just" rtl="0">
              <a:lnSpc>
                <a:spcPct val="80000"/>
              </a:lnSpc>
              <a:spcBef>
                <a:spcPts val="360"/>
              </a:spcBef>
              <a:spcAft>
                <a:spcPts val="0"/>
              </a:spcAft>
              <a:buSzPts val="2400"/>
              <a:buChar char="•"/>
            </a:pPr>
            <a:r>
              <a:rPr lang="en-US" sz="2400" b="1" dirty="0">
                <a:latin typeface="Times New Roman"/>
                <a:ea typeface="Times New Roman"/>
                <a:cs typeface="Times New Roman"/>
                <a:sym typeface="Times New Roman"/>
              </a:rPr>
              <a:t>Daily Life Assistance: </a:t>
            </a:r>
            <a:r>
              <a:rPr lang="en-US" sz="2400" dirty="0">
                <a:latin typeface="Times New Roman"/>
                <a:ea typeface="Times New Roman"/>
                <a:cs typeface="Times New Roman"/>
                <a:sym typeface="Times New Roman"/>
              </a:rPr>
              <a:t>Enabling users to perform everyday tasks such as eating, writing, and personal care, improving their quality of life.</a:t>
            </a:r>
          </a:p>
          <a:p>
            <a:pPr marL="76200" lvl="0" indent="0" algn="just" rtl="0">
              <a:lnSpc>
                <a:spcPct val="80000"/>
              </a:lnSpc>
              <a:spcBef>
                <a:spcPts val="360"/>
              </a:spcBef>
              <a:spcAft>
                <a:spcPts val="0"/>
              </a:spcAft>
              <a:buSzPts val="2400"/>
              <a:buNone/>
            </a:pPr>
            <a:endParaRPr sz="2400" dirty="0">
              <a:latin typeface="Times New Roman"/>
              <a:ea typeface="Times New Roman"/>
              <a:cs typeface="Times New Roman"/>
              <a:sym typeface="Times New Roman"/>
            </a:endParaRPr>
          </a:p>
          <a:p>
            <a:pPr marL="457200" lvl="0" indent="-381000" algn="just" rtl="0">
              <a:lnSpc>
                <a:spcPct val="80000"/>
              </a:lnSpc>
              <a:spcBef>
                <a:spcPts val="0"/>
              </a:spcBef>
              <a:spcAft>
                <a:spcPts val="0"/>
              </a:spcAft>
              <a:buSzPts val="2400"/>
              <a:buChar char="•"/>
            </a:pPr>
            <a:r>
              <a:rPr lang="en-US" sz="2400" b="1" dirty="0">
                <a:latin typeface="Times New Roman"/>
                <a:ea typeface="Times New Roman"/>
                <a:cs typeface="Times New Roman"/>
                <a:sym typeface="Times New Roman"/>
              </a:rPr>
              <a:t>Affordable Prosthetic Solutions:</a:t>
            </a:r>
            <a:r>
              <a:rPr lang="en-US" sz="2400" dirty="0">
                <a:latin typeface="Times New Roman"/>
                <a:ea typeface="Times New Roman"/>
                <a:cs typeface="Times New Roman"/>
                <a:sym typeface="Times New Roman"/>
              </a:rPr>
              <a:t> Providing an affordable, locally-made prosthetic arm, making it affordable for individuals in low-income or underserved areas.</a:t>
            </a:r>
          </a:p>
          <a:p>
            <a:pPr marL="76200" lvl="0" indent="0" algn="just" rtl="0">
              <a:lnSpc>
                <a:spcPct val="80000"/>
              </a:lnSpc>
              <a:spcBef>
                <a:spcPts val="0"/>
              </a:spcBef>
              <a:spcAft>
                <a:spcPts val="0"/>
              </a:spcAft>
              <a:buSzPts val="2400"/>
              <a:buNone/>
            </a:pPr>
            <a:endParaRPr sz="2400" dirty="0">
              <a:latin typeface="Times New Roman"/>
              <a:ea typeface="Times New Roman"/>
              <a:cs typeface="Times New Roman"/>
              <a:sym typeface="Times New Roman"/>
            </a:endParaRPr>
          </a:p>
          <a:p>
            <a:pPr marL="457200" lvl="0" indent="-381000" algn="just" rtl="0">
              <a:lnSpc>
                <a:spcPct val="80000"/>
              </a:lnSpc>
              <a:spcBef>
                <a:spcPts val="0"/>
              </a:spcBef>
              <a:spcAft>
                <a:spcPts val="0"/>
              </a:spcAft>
              <a:buSzPts val="2400"/>
              <a:buChar char="•"/>
            </a:pPr>
            <a:r>
              <a:rPr lang="en-US" sz="2400" b="1" dirty="0">
                <a:latin typeface="Times New Roman"/>
                <a:ea typeface="Times New Roman"/>
                <a:cs typeface="Times New Roman"/>
                <a:sym typeface="Times New Roman"/>
              </a:rPr>
              <a:t>Ease of Repair and Maintenance: </a:t>
            </a:r>
            <a:r>
              <a:rPr lang="en-US" sz="2400" dirty="0">
                <a:latin typeface="Times New Roman"/>
                <a:ea typeface="Times New Roman"/>
                <a:cs typeface="Times New Roman"/>
                <a:sym typeface="Times New Roman"/>
              </a:rPr>
              <a:t>The modular structure enables easy and rapid repair, reducing downtime and enhancing the user experience.</a:t>
            </a:r>
          </a:p>
          <a:p>
            <a:pPr marL="76200" lvl="0" indent="0" algn="just" rtl="0">
              <a:lnSpc>
                <a:spcPct val="80000"/>
              </a:lnSpc>
              <a:spcBef>
                <a:spcPts val="0"/>
              </a:spcBef>
              <a:spcAft>
                <a:spcPts val="0"/>
              </a:spcAft>
              <a:buSzPts val="2400"/>
              <a:buNone/>
            </a:pPr>
            <a:endParaRPr sz="2400" dirty="0">
              <a:latin typeface="Times New Roman"/>
              <a:ea typeface="Times New Roman"/>
              <a:cs typeface="Times New Roman"/>
              <a:sym typeface="Times New Roman"/>
            </a:endParaRPr>
          </a:p>
          <a:p>
            <a:pPr marL="457200" lvl="0" indent="-381000" algn="just" rtl="0">
              <a:lnSpc>
                <a:spcPct val="80000"/>
              </a:lnSpc>
              <a:spcBef>
                <a:spcPts val="0"/>
              </a:spcBef>
              <a:spcAft>
                <a:spcPts val="0"/>
              </a:spcAft>
              <a:buSzPts val="2400"/>
              <a:buChar char="•"/>
            </a:pPr>
            <a:r>
              <a:rPr lang="en-US" sz="2400" b="1" dirty="0">
                <a:latin typeface="Times New Roman"/>
                <a:ea typeface="Times New Roman"/>
                <a:cs typeface="Times New Roman"/>
                <a:sym typeface="Times New Roman"/>
              </a:rPr>
              <a:t>Disaster Relief and Emergency Assistance: </a:t>
            </a:r>
            <a:r>
              <a:rPr lang="en-US" sz="2400" dirty="0">
                <a:latin typeface="Times New Roman"/>
                <a:ea typeface="Times New Roman"/>
                <a:cs typeface="Times New Roman"/>
                <a:sym typeface="Times New Roman"/>
              </a:rPr>
              <a:t>Offering low-cost prosthetics to victims of accidents or natural disasters, enabling them to regain their independence.</a:t>
            </a:r>
            <a:endParaRPr sz="2400" dirty="0">
              <a:latin typeface="Times New Roman"/>
              <a:ea typeface="Times New Roman"/>
              <a:cs typeface="Times New Roman"/>
              <a:sym typeface="Times New Roman"/>
            </a:endParaRPr>
          </a:p>
          <a:p>
            <a:pPr marL="457200" lvl="0" indent="0" algn="just" rtl="0">
              <a:lnSpc>
                <a:spcPct val="80000"/>
              </a:lnSpc>
              <a:spcBef>
                <a:spcPts val="360"/>
              </a:spcBef>
              <a:spcAft>
                <a:spcPts val="0"/>
              </a:spcAft>
              <a:buSzPts val="852"/>
              <a:buNone/>
            </a:pPr>
            <a:endParaRPr sz="2400" dirty="0">
              <a:latin typeface="Times New Roman"/>
              <a:ea typeface="Times New Roman"/>
              <a:cs typeface="Times New Roman"/>
              <a:sym typeface="Times New Roman"/>
            </a:endParaRPr>
          </a:p>
        </p:txBody>
      </p:sp>
      <p:sp>
        <p:nvSpPr>
          <p:cNvPr id="148" name="Google Shape;148;g33f40e27c4d_0_8"/>
          <p:cNvSpPr txBox="1">
            <a:spLocks noGrp="1"/>
          </p:cNvSpPr>
          <p:nvPr>
            <p:ph type="sldNum" idx="12"/>
          </p:nvPr>
        </p:nvSpPr>
        <p:spPr>
          <a:xfrm>
            <a:off x="6553200" y="6356350"/>
            <a:ext cx="21336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pPr>
            <a:fld id="{00000000-1234-1234-1234-123412341234}" type="slidenum">
              <a:rPr lang="en-US"/>
              <a:t>13</a:t>
            </a:fld>
            <a:endParaRPr/>
          </a:p>
        </p:txBody>
      </p:sp>
      <p:sp>
        <p:nvSpPr>
          <p:cNvPr id="149" name="Google Shape;149;g33f40e27c4d_0_8"/>
          <p:cNvSpPr txBox="1">
            <a:spLocks noGrp="1"/>
          </p:cNvSpPr>
          <p:nvPr>
            <p:ph type="dt" idx="10"/>
          </p:nvPr>
        </p:nvSpPr>
        <p:spPr>
          <a:xfrm>
            <a:off x="457200" y="6356350"/>
            <a:ext cx="2133600" cy="3651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13-Mar-25</a:t>
            </a:r>
            <a:endParaRPr/>
          </a:p>
        </p:txBody>
      </p:sp>
      <p:sp>
        <p:nvSpPr>
          <p:cNvPr id="150" name="Google Shape;150;g33f40e27c4d_0_8"/>
          <p:cNvSpPr txBox="1">
            <a:spLocks noGrp="1"/>
          </p:cNvSpPr>
          <p:nvPr>
            <p:ph type="ftr" idx="11"/>
          </p:nvPr>
        </p:nvSpPr>
        <p:spPr>
          <a:xfrm>
            <a:off x="3124200" y="6356350"/>
            <a:ext cx="2895600" cy="3651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Dept. of ECE, Vemana IT</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sp>
        <p:nvSpPr>
          <p:cNvPr id="155" name="Google Shape;155;p12"/>
          <p:cNvSpPr txBox="1">
            <a:spLocks noGrp="1"/>
          </p:cNvSpPr>
          <p:nvPr>
            <p:ph type="title"/>
          </p:nvPr>
        </p:nvSpPr>
        <p:spPr>
          <a:xfrm>
            <a:off x="394950" y="293841"/>
            <a:ext cx="8354100" cy="9624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000"/>
              <a:buFont typeface="Times New Roman"/>
              <a:buNone/>
            </a:pPr>
            <a:r>
              <a:rPr lang="en-US" sz="4000" b="1" dirty="0">
                <a:latin typeface="Times New Roman"/>
                <a:ea typeface="Times New Roman"/>
                <a:cs typeface="Times New Roman"/>
                <a:sym typeface="Times New Roman"/>
              </a:rPr>
              <a:t>  References</a:t>
            </a:r>
            <a:endParaRPr sz="4000" b="1" dirty="0">
              <a:latin typeface="Times New Roman"/>
              <a:ea typeface="Times New Roman"/>
              <a:cs typeface="Times New Roman"/>
              <a:sym typeface="Times New Roman"/>
            </a:endParaRPr>
          </a:p>
        </p:txBody>
      </p:sp>
      <p:sp>
        <p:nvSpPr>
          <p:cNvPr id="156" name="Google Shape;156;p1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13-Mar-25</a:t>
            </a:r>
            <a:endParaRPr/>
          </a:p>
        </p:txBody>
      </p:sp>
      <p:sp>
        <p:nvSpPr>
          <p:cNvPr id="157" name="Google Shape;157;p1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Dept. of ECE, Vemana IT</a:t>
            </a:r>
            <a:endParaRPr/>
          </a:p>
        </p:txBody>
      </p:sp>
      <p:sp>
        <p:nvSpPr>
          <p:cNvPr id="158" name="Google Shape;158;p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14</a:t>
            </a:fld>
            <a:endParaRPr/>
          </a:p>
        </p:txBody>
      </p:sp>
      <p:sp>
        <p:nvSpPr>
          <p:cNvPr id="4" name="object 3">
            <a:extLst>
              <a:ext uri="{FF2B5EF4-FFF2-40B4-BE49-F238E27FC236}">
                <a16:creationId xmlns:a16="http://schemas.microsoft.com/office/drawing/2014/main" id="{AF44D0A2-5A5C-39DD-9AE6-761ABDC0F97C}"/>
              </a:ext>
            </a:extLst>
          </p:cNvPr>
          <p:cNvSpPr txBox="1"/>
          <p:nvPr/>
        </p:nvSpPr>
        <p:spPr>
          <a:xfrm>
            <a:off x="695070" y="1295400"/>
            <a:ext cx="7747000" cy="4645245"/>
          </a:xfrm>
          <a:prstGeom prst="rect">
            <a:avLst/>
          </a:prstGeom>
        </p:spPr>
        <p:txBody>
          <a:bodyPr vert="horz" wrap="square" lIns="0" tIns="14604" rIns="0" bIns="0" rtlCol="0">
            <a:spAutoFit/>
          </a:bodyPr>
          <a:lstStyle/>
          <a:p>
            <a:pPr marL="467359" marR="8890" indent="-455295" algn="just">
              <a:lnSpc>
                <a:spcPct val="99500"/>
              </a:lnSpc>
              <a:spcBef>
                <a:spcPts val="114"/>
              </a:spcBef>
              <a:buAutoNum type="arabicPeriod"/>
              <a:tabLst>
                <a:tab pos="469900" algn="l"/>
              </a:tabLst>
            </a:pPr>
            <a:r>
              <a:rPr sz="2000" dirty="0">
                <a:latin typeface="Times New Roman"/>
                <a:cs typeface="Times New Roman"/>
              </a:rPr>
              <a:t>D.</a:t>
            </a:r>
            <a:r>
              <a:rPr sz="2000" spc="350" dirty="0">
                <a:latin typeface="Times New Roman"/>
                <a:cs typeface="Times New Roman"/>
              </a:rPr>
              <a:t> </a:t>
            </a:r>
            <a:r>
              <a:rPr sz="2000" dirty="0">
                <a:latin typeface="Times New Roman"/>
                <a:cs typeface="Times New Roman"/>
              </a:rPr>
              <a:t>Chappell,</a:t>
            </a:r>
            <a:r>
              <a:rPr sz="2000" spc="340" dirty="0">
                <a:latin typeface="Times New Roman"/>
                <a:cs typeface="Times New Roman"/>
              </a:rPr>
              <a:t> </a:t>
            </a:r>
            <a:r>
              <a:rPr sz="2000" dirty="0">
                <a:latin typeface="Times New Roman"/>
                <a:cs typeface="Times New Roman"/>
              </a:rPr>
              <a:t>B.</a:t>
            </a:r>
            <a:r>
              <a:rPr sz="2000" spc="340" dirty="0">
                <a:latin typeface="Times New Roman"/>
                <a:cs typeface="Times New Roman"/>
              </a:rPr>
              <a:t> </a:t>
            </a:r>
            <a:r>
              <a:rPr sz="2000" dirty="0">
                <a:latin typeface="Times New Roman"/>
                <a:cs typeface="Times New Roman"/>
              </a:rPr>
              <a:t>Mulvey,</a:t>
            </a:r>
            <a:r>
              <a:rPr sz="2000" spc="355" dirty="0">
                <a:latin typeface="Times New Roman"/>
                <a:cs typeface="Times New Roman"/>
              </a:rPr>
              <a:t> </a:t>
            </a:r>
            <a:r>
              <a:rPr sz="2000" dirty="0">
                <a:latin typeface="Times New Roman"/>
                <a:cs typeface="Times New Roman"/>
              </a:rPr>
              <a:t>S.</a:t>
            </a:r>
            <a:r>
              <a:rPr sz="2000" spc="340" dirty="0">
                <a:latin typeface="Times New Roman"/>
                <a:cs typeface="Times New Roman"/>
              </a:rPr>
              <a:t> </a:t>
            </a:r>
            <a:r>
              <a:rPr sz="2000" dirty="0">
                <a:latin typeface="Times New Roman"/>
                <a:cs typeface="Times New Roman"/>
              </a:rPr>
              <a:t>Perera,</a:t>
            </a:r>
            <a:r>
              <a:rPr sz="2000" spc="350" dirty="0">
                <a:latin typeface="Times New Roman"/>
                <a:cs typeface="Times New Roman"/>
              </a:rPr>
              <a:t> </a:t>
            </a:r>
            <a:r>
              <a:rPr sz="2000" dirty="0">
                <a:latin typeface="Times New Roman"/>
                <a:cs typeface="Times New Roman"/>
              </a:rPr>
              <a:t>F.</a:t>
            </a:r>
            <a:r>
              <a:rPr sz="2000" spc="340" dirty="0">
                <a:latin typeface="Times New Roman"/>
                <a:cs typeface="Times New Roman"/>
              </a:rPr>
              <a:t> </a:t>
            </a:r>
            <a:r>
              <a:rPr sz="2000" dirty="0">
                <a:latin typeface="Times New Roman"/>
                <a:cs typeface="Times New Roman"/>
              </a:rPr>
              <a:t>Bello,</a:t>
            </a:r>
            <a:r>
              <a:rPr sz="2000" spc="350" dirty="0">
                <a:latin typeface="Times New Roman"/>
                <a:cs typeface="Times New Roman"/>
              </a:rPr>
              <a:t> </a:t>
            </a:r>
            <a:r>
              <a:rPr sz="2000" dirty="0">
                <a:latin typeface="Times New Roman"/>
                <a:cs typeface="Times New Roman"/>
              </a:rPr>
              <a:t>P.</a:t>
            </a:r>
            <a:r>
              <a:rPr sz="2000" spc="370" dirty="0">
                <a:latin typeface="Times New Roman"/>
                <a:cs typeface="Times New Roman"/>
              </a:rPr>
              <a:t> </a:t>
            </a:r>
            <a:r>
              <a:rPr sz="2000" dirty="0">
                <a:latin typeface="Times New Roman"/>
                <a:cs typeface="Times New Roman"/>
              </a:rPr>
              <a:t>Kormushev</a:t>
            </a:r>
            <a:r>
              <a:rPr sz="2000" spc="345" dirty="0">
                <a:latin typeface="Times New Roman"/>
                <a:cs typeface="Times New Roman"/>
              </a:rPr>
              <a:t> </a:t>
            </a:r>
            <a:r>
              <a:rPr sz="2000" dirty="0">
                <a:latin typeface="Times New Roman"/>
                <a:cs typeface="Times New Roman"/>
              </a:rPr>
              <a:t>and</a:t>
            </a:r>
            <a:r>
              <a:rPr sz="2000" spc="340" dirty="0">
                <a:latin typeface="Times New Roman"/>
                <a:cs typeface="Times New Roman"/>
              </a:rPr>
              <a:t> </a:t>
            </a:r>
            <a:r>
              <a:rPr sz="2000" spc="-25" dirty="0">
                <a:latin typeface="Times New Roman"/>
                <a:cs typeface="Times New Roman"/>
              </a:rPr>
              <a:t>N. 	</a:t>
            </a:r>
            <a:r>
              <a:rPr sz="2000" dirty="0">
                <a:latin typeface="Times New Roman"/>
                <a:cs typeface="Times New Roman"/>
              </a:rPr>
              <a:t>Rojas,</a:t>
            </a:r>
            <a:r>
              <a:rPr sz="2000" spc="215" dirty="0">
                <a:latin typeface="Times New Roman"/>
                <a:cs typeface="Times New Roman"/>
              </a:rPr>
              <a:t>  </a:t>
            </a:r>
            <a:r>
              <a:rPr sz="2000" dirty="0">
                <a:latin typeface="Times New Roman"/>
                <a:cs typeface="Times New Roman"/>
              </a:rPr>
              <a:t>"Beyond</a:t>
            </a:r>
            <a:r>
              <a:rPr sz="2000" spc="210" dirty="0">
                <a:latin typeface="Times New Roman"/>
                <a:cs typeface="Times New Roman"/>
              </a:rPr>
              <a:t>  </a:t>
            </a:r>
            <a:r>
              <a:rPr sz="2000" dirty="0">
                <a:latin typeface="Times New Roman"/>
                <a:cs typeface="Times New Roman"/>
              </a:rPr>
              <a:t>Humanoid</a:t>
            </a:r>
            <a:r>
              <a:rPr sz="2000" spc="215" dirty="0">
                <a:latin typeface="Times New Roman"/>
                <a:cs typeface="Times New Roman"/>
              </a:rPr>
              <a:t>  </a:t>
            </a:r>
            <a:r>
              <a:rPr sz="2000" dirty="0">
                <a:latin typeface="Times New Roman"/>
                <a:cs typeface="Times New Roman"/>
              </a:rPr>
              <a:t>Prosthetic</a:t>
            </a:r>
            <a:r>
              <a:rPr sz="2000" spc="210" dirty="0">
                <a:latin typeface="Times New Roman"/>
                <a:cs typeface="Times New Roman"/>
              </a:rPr>
              <a:t>  </a:t>
            </a:r>
            <a:r>
              <a:rPr sz="2000" dirty="0">
                <a:latin typeface="Times New Roman"/>
                <a:cs typeface="Times New Roman"/>
              </a:rPr>
              <a:t>Hands:</a:t>
            </a:r>
            <a:r>
              <a:rPr sz="2000" spc="215" dirty="0">
                <a:latin typeface="Times New Roman"/>
                <a:cs typeface="Times New Roman"/>
              </a:rPr>
              <a:t>  </a:t>
            </a:r>
            <a:r>
              <a:rPr sz="2000" dirty="0">
                <a:latin typeface="Times New Roman"/>
                <a:cs typeface="Times New Roman"/>
              </a:rPr>
              <a:t>Modular</a:t>
            </a:r>
            <a:r>
              <a:rPr sz="2000" spc="220" dirty="0">
                <a:latin typeface="Times New Roman"/>
                <a:cs typeface="Times New Roman"/>
              </a:rPr>
              <a:t>  </a:t>
            </a:r>
            <a:r>
              <a:rPr sz="2000" spc="-10" dirty="0">
                <a:latin typeface="Times New Roman"/>
                <a:cs typeface="Times New Roman"/>
              </a:rPr>
              <a:t>Terminal 	</a:t>
            </a:r>
            <a:r>
              <a:rPr sz="2000" dirty="0">
                <a:latin typeface="Times New Roman"/>
                <a:cs typeface="Times New Roman"/>
              </a:rPr>
              <a:t>Devices</a:t>
            </a:r>
            <a:r>
              <a:rPr sz="2000" spc="325" dirty="0">
                <a:latin typeface="Times New Roman"/>
                <a:cs typeface="Times New Roman"/>
              </a:rPr>
              <a:t> </a:t>
            </a:r>
            <a:r>
              <a:rPr sz="2000" dirty="0">
                <a:latin typeface="Times New Roman"/>
                <a:cs typeface="Times New Roman"/>
              </a:rPr>
              <a:t>That</a:t>
            </a:r>
            <a:r>
              <a:rPr sz="2000" spc="330" dirty="0">
                <a:latin typeface="Times New Roman"/>
                <a:cs typeface="Times New Roman"/>
              </a:rPr>
              <a:t> </a:t>
            </a:r>
            <a:r>
              <a:rPr sz="2000" dirty="0">
                <a:latin typeface="Times New Roman"/>
                <a:cs typeface="Times New Roman"/>
              </a:rPr>
              <a:t>Improve</a:t>
            </a:r>
            <a:r>
              <a:rPr sz="2000" spc="320" dirty="0">
                <a:latin typeface="Times New Roman"/>
                <a:cs typeface="Times New Roman"/>
              </a:rPr>
              <a:t> </a:t>
            </a:r>
            <a:r>
              <a:rPr sz="2000" dirty="0">
                <a:latin typeface="Times New Roman"/>
                <a:cs typeface="Times New Roman"/>
              </a:rPr>
              <a:t>User</a:t>
            </a:r>
            <a:r>
              <a:rPr sz="2000" spc="330" dirty="0">
                <a:latin typeface="Times New Roman"/>
                <a:cs typeface="Times New Roman"/>
              </a:rPr>
              <a:t> </a:t>
            </a:r>
            <a:r>
              <a:rPr sz="2000" dirty="0">
                <a:latin typeface="Times New Roman"/>
                <a:cs typeface="Times New Roman"/>
              </a:rPr>
              <a:t>Performance,"</a:t>
            </a:r>
            <a:r>
              <a:rPr sz="2000" spc="335" dirty="0">
                <a:latin typeface="Times New Roman"/>
                <a:cs typeface="Times New Roman"/>
              </a:rPr>
              <a:t> </a:t>
            </a:r>
            <a:r>
              <a:rPr sz="2000" dirty="0">
                <a:latin typeface="Times New Roman"/>
                <a:cs typeface="Times New Roman"/>
              </a:rPr>
              <a:t>in</a:t>
            </a:r>
            <a:r>
              <a:rPr sz="2000" spc="330" dirty="0">
                <a:latin typeface="Times New Roman"/>
                <a:cs typeface="Times New Roman"/>
              </a:rPr>
              <a:t> </a:t>
            </a:r>
            <a:r>
              <a:rPr sz="2000" dirty="0">
                <a:latin typeface="Times New Roman"/>
                <a:cs typeface="Times New Roman"/>
              </a:rPr>
              <a:t>IEEE</a:t>
            </a:r>
            <a:r>
              <a:rPr sz="2000" spc="330" dirty="0">
                <a:latin typeface="Times New Roman"/>
                <a:cs typeface="Times New Roman"/>
              </a:rPr>
              <a:t> </a:t>
            </a:r>
            <a:r>
              <a:rPr sz="2000" dirty="0">
                <a:latin typeface="Times New Roman"/>
                <a:cs typeface="Times New Roman"/>
              </a:rPr>
              <a:t>Transactions</a:t>
            </a:r>
            <a:r>
              <a:rPr sz="2000" spc="330" dirty="0">
                <a:latin typeface="Times New Roman"/>
                <a:cs typeface="Times New Roman"/>
              </a:rPr>
              <a:t> </a:t>
            </a:r>
            <a:r>
              <a:rPr sz="2000" spc="-25" dirty="0">
                <a:latin typeface="Times New Roman"/>
                <a:cs typeface="Times New Roman"/>
              </a:rPr>
              <a:t>on 	</a:t>
            </a:r>
            <a:r>
              <a:rPr sz="2000" dirty="0">
                <a:latin typeface="Times New Roman"/>
                <a:cs typeface="Times New Roman"/>
              </a:rPr>
              <a:t>Neural</a:t>
            </a:r>
            <a:r>
              <a:rPr sz="2000" spc="150" dirty="0">
                <a:latin typeface="Times New Roman"/>
                <a:cs typeface="Times New Roman"/>
              </a:rPr>
              <a:t> </a:t>
            </a:r>
            <a:r>
              <a:rPr sz="2000" dirty="0">
                <a:latin typeface="Times New Roman"/>
                <a:cs typeface="Times New Roman"/>
              </a:rPr>
              <a:t>Systems</a:t>
            </a:r>
            <a:r>
              <a:rPr sz="2000" spc="155" dirty="0">
                <a:latin typeface="Times New Roman"/>
                <a:cs typeface="Times New Roman"/>
              </a:rPr>
              <a:t> </a:t>
            </a:r>
            <a:r>
              <a:rPr sz="2000" dirty="0">
                <a:latin typeface="Times New Roman"/>
                <a:cs typeface="Times New Roman"/>
              </a:rPr>
              <a:t>and</a:t>
            </a:r>
            <a:r>
              <a:rPr sz="2000" spc="145" dirty="0">
                <a:latin typeface="Times New Roman"/>
                <a:cs typeface="Times New Roman"/>
              </a:rPr>
              <a:t> </a:t>
            </a:r>
            <a:r>
              <a:rPr sz="2000" dirty="0">
                <a:latin typeface="Times New Roman"/>
                <a:cs typeface="Times New Roman"/>
              </a:rPr>
              <a:t>Rehabilitation</a:t>
            </a:r>
            <a:r>
              <a:rPr sz="2000" spc="160" dirty="0">
                <a:latin typeface="Times New Roman"/>
                <a:cs typeface="Times New Roman"/>
              </a:rPr>
              <a:t> </a:t>
            </a:r>
            <a:r>
              <a:rPr sz="2000" dirty="0">
                <a:latin typeface="Times New Roman"/>
                <a:cs typeface="Times New Roman"/>
              </a:rPr>
              <a:t>Engineering,</a:t>
            </a:r>
            <a:r>
              <a:rPr sz="2000" spc="150" dirty="0">
                <a:latin typeface="Times New Roman"/>
                <a:cs typeface="Times New Roman"/>
              </a:rPr>
              <a:t> </a:t>
            </a:r>
            <a:r>
              <a:rPr sz="2000" dirty="0">
                <a:latin typeface="Times New Roman"/>
                <a:cs typeface="Times New Roman"/>
              </a:rPr>
              <a:t>vol.</a:t>
            </a:r>
            <a:r>
              <a:rPr sz="2000" spc="140" dirty="0">
                <a:latin typeface="Times New Roman"/>
                <a:cs typeface="Times New Roman"/>
              </a:rPr>
              <a:t> </a:t>
            </a:r>
            <a:r>
              <a:rPr sz="2000" dirty="0">
                <a:latin typeface="Times New Roman"/>
                <a:cs typeface="Times New Roman"/>
              </a:rPr>
              <a:t>33,</a:t>
            </a:r>
            <a:r>
              <a:rPr sz="2000" spc="145" dirty="0">
                <a:latin typeface="Times New Roman"/>
                <a:cs typeface="Times New Roman"/>
              </a:rPr>
              <a:t> </a:t>
            </a:r>
            <a:r>
              <a:rPr sz="2000" dirty="0">
                <a:latin typeface="Times New Roman"/>
                <a:cs typeface="Times New Roman"/>
              </a:rPr>
              <a:t>pp.</a:t>
            </a:r>
            <a:r>
              <a:rPr sz="2000" spc="145" dirty="0">
                <a:latin typeface="Times New Roman"/>
                <a:cs typeface="Times New Roman"/>
              </a:rPr>
              <a:t> </a:t>
            </a:r>
            <a:r>
              <a:rPr sz="2000" dirty="0">
                <a:latin typeface="Times New Roman"/>
                <a:cs typeface="Times New Roman"/>
              </a:rPr>
              <a:t>466-</a:t>
            </a:r>
            <a:r>
              <a:rPr sz="2000" spc="-20" dirty="0">
                <a:latin typeface="Times New Roman"/>
                <a:cs typeface="Times New Roman"/>
              </a:rPr>
              <a:t>475, 	</a:t>
            </a:r>
            <a:r>
              <a:rPr sz="2000" dirty="0">
                <a:latin typeface="Times New Roman"/>
                <a:cs typeface="Times New Roman"/>
              </a:rPr>
              <a:t>2025,</a:t>
            </a:r>
            <a:r>
              <a:rPr sz="2000" spc="-10" dirty="0">
                <a:latin typeface="Times New Roman"/>
                <a:cs typeface="Times New Roman"/>
              </a:rPr>
              <a:t> </a:t>
            </a:r>
            <a:r>
              <a:rPr sz="2000" dirty="0">
                <a:latin typeface="Times New Roman"/>
                <a:cs typeface="Times New Roman"/>
              </a:rPr>
              <a:t>doi:</a:t>
            </a:r>
            <a:r>
              <a:rPr sz="2000" spc="-5" dirty="0">
                <a:latin typeface="Times New Roman"/>
                <a:cs typeface="Times New Roman"/>
              </a:rPr>
              <a:t> </a:t>
            </a:r>
            <a:r>
              <a:rPr sz="2000" spc="-10" dirty="0">
                <a:latin typeface="Times New Roman"/>
                <a:cs typeface="Times New Roman"/>
              </a:rPr>
              <a:t>10.1109/TNSRE.2025.3528725.</a:t>
            </a:r>
            <a:endParaRPr sz="2000" dirty="0">
              <a:latin typeface="Times New Roman"/>
              <a:cs typeface="Times New Roman"/>
            </a:endParaRPr>
          </a:p>
          <a:p>
            <a:pPr algn="just">
              <a:lnSpc>
                <a:spcPct val="100000"/>
              </a:lnSpc>
              <a:spcBef>
                <a:spcPts val="155"/>
              </a:spcBef>
              <a:buFont typeface="Times New Roman"/>
              <a:buAutoNum type="arabicPeriod"/>
            </a:pPr>
            <a:endParaRPr sz="2000" dirty="0">
              <a:latin typeface="Times New Roman"/>
              <a:cs typeface="Times New Roman"/>
            </a:endParaRPr>
          </a:p>
          <a:p>
            <a:pPr marL="467359" marR="5080" indent="-455295" algn="just">
              <a:lnSpc>
                <a:spcPct val="99300"/>
              </a:lnSpc>
              <a:buAutoNum type="arabicPeriod"/>
              <a:tabLst>
                <a:tab pos="469900" algn="l"/>
              </a:tabLst>
            </a:pPr>
            <a:r>
              <a:rPr sz="2000" dirty="0">
                <a:latin typeface="Times New Roman"/>
                <a:cs typeface="Times New Roman"/>
              </a:rPr>
              <a:t>W.</a:t>
            </a:r>
            <a:r>
              <a:rPr sz="2000" spc="175" dirty="0">
                <a:latin typeface="Times New Roman"/>
                <a:cs typeface="Times New Roman"/>
              </a:rPr>
              <a:t> </a:t>
            </a:r>
            <a:r>
              <a:rPr sz="2000" dirty="0">
                <a:latin typeface="Times New Roman"/>
                <a:cs typeface="Times New Roman"/>
              </a:rPr>
              <a:t>Flanagan</a:t>
            </a:r>
            <a:r>
              <a:rPr sz="2000" spc="180" dirty="0">
                <a:latin typeface="Times New Roman"/>
                <a:cs typeface="Times New Roman"/>
              </a:rPr>
              <a:t> </a:t>
            </a:r>
            <a:r>
              <a:rPr sz="2000" dirty="0">
                <a:latin typeface="Times New Roman"/>
                <a:cs typeface="Times New Roman"/>
              </a:rPr>
              <a:t>et</a:t>
            </a:r>
            <a:r>
              <a:rPr sz="2000" spc="170" dirty="0">
                <a:latin typeface="Times New Roman"/>
                <a:cs typeface="Times New Roman"/>
              </a:rPr>
              <a:t> </a:t>
            </a:r>
            <a:r>
              <a:rPr sz="2000" dirty="0">
                <a:latin typeface="Times New Roman"/>
                <a:cs typeface="Times New Roman"/>
              </a:rPr>
              <a:t>al.,</a:t>
            </a:r>
            <a:r>
              <a:rPr sz="2000" spc="180" dirty="0">
                <a:latin typeface="Times New Roman"/>
                <a:cs typeface="Times New Roman"/>
              </a:rPr>
              <a:t> </a:t>
            </a:r>
            <a:r>
              <a:rPr sz="2000" dirty="0">
                <a:latin typeface="Times New Roman"/>
                <a:cs typeface="Times New Roman"/>
              </a:rPr>
              <a:t>"Prosthetic</a:t>
            </a:r>
            <a:r>
              <a:rPr sz="2000" spc="170" dirty="0">
                <a:latin typeface="Times New Roman"/>
                <a:cs typeface="Times New Roman"/>
              </a:rPr>
              <a:t> </a:t>
            </a:r>
            <a:r>
              <a:rPr sz="2000" dirty="0">
                <a:latin typeface="Times New Roman"/>
                <a:cs typeface="Times New Roman"/>
              </a:rPr>
              <a:t>Limb</a:t>
            </a:r>
            <a:r>
              <a:rPr sz="2000" spc="180" dirty="0">
                <a:latin typeface="Times New Roman"/>
                <a:cs typeface="Times New Roman"/>
              </a:rPr>
              <a:t> </a:t>
            </a:r>
            <a:r>
              <a:rPr sz="2000" dirty="0">
                <a:latin typeface="Times New Roman"/>
                <a:cs typeface="Times New Roman"/>
              </a:rPr>
              <a:t>Attachment</a:t>
            </a:r>
            <a:r>
              <a:rPr sz="2000" spc="175" dirty="0">
                <a:latin typeface="Times New Roman"/>
                <a:cs typeface="Times New Roman"/>
              </a:rPr>
              <a:t> </a:t>
            </a:r>
            <a:r>
              <a:rPr sz="2000" dirty="0">
                <a:latin typeface="Times New Roman"/>
                <a:cs typeface="Times New Roman"/>
              </a:rPr>
              <a:t>via</a:t>
            </a:r>
            <a:r>
              <a:rPr sz="2000" spc="175" dirty="0">
                <a:latin typeface="Times New Roman"/>
                <a:cs typeface="Times New Roman"/>
              </a:rPr>
              <a:t> </a:t>
            </a:r>
            <a:r>
              <a:rPr sz="2000" spc="-10" dirty="0">
                <a:latin typeface="Times New Roman"/>
                <a:cs typeface="Times New Roman"/>
              </a:rPr>
              <a:t>Electromagnetic 	</a:t>
            </a:r>
            <a:r>
              <a:rPr sz="2000" dirty="0">
                <a:latin typeface="Times New Roman"/>
                <a:cs typeface="Times New Roman"/>
              </a:rPr>
              <a:t>Attraction</a:t>
            </a:r>
            <a:r>
              <a:rPr sz="2000" spc="45" dirty="0">
                <a:latin typeface="Times New Roman"/>
                <a:cs typeface="Times New Roman"/>
              </a:rPr>
              <a:t> </a:t>
            </a:r>
            <a:r>
              <a:rPr sz="2000" dirty="0">
                <a:latin typeface="Times New Roman"/>
                <a:cs typeface="Times New Roman"/>
              </a:rPr>
              <a:t>Through</a:t>
            </a:r>
            <a:r>
              <a:rPr sz="2000" spc="55" dirty="0">
                <a:latin typeface="Times New Roman"/>
                <a:cs typeface="Times New Roman"/>
              </a:rPr>
              <a:t> </a:t>
            </a:r>
            <a:r>
              <a:rPr sz="2000" dirty="0">
                <a:latin typeface="Times New Roman"/>
                <a:cs typeface="Times New Roman"/>
              </a:rPr>
              <a:t>a</a:t>
            </a:r>
            <a:r>
              <a:rPr sz="2000" spc="35" dirty="0">
                <a:latin typeface="Times New Roman"/>
                <a:cs typeface="Times New Roman"/>
              </a:rPr>
              <a:t> </a:t>
            </a:r>
            <a:r>
              <a:rPr sz="2000" dirty="0">
                <a:latin typeface="Times New Roman"/>
                <a:cs typeface="Times New Roman"/>
              </a:rPr>
              <a:t>Closed</a:t>
            </a:r>
            <a:r>
              <a:rPr sz="2000" spc="35" dirty="0">
                <a:latin typeface="Times New Roman"/>
                <a:cs typeface="Times New Roman"/>
              </a:rPr>
              <a:t> </a:t>
            </a:r>
            <a:r>
              <a:rPr sz="2000" dirty="0">
                <a:latin typeface="Times New Roman"/>
                <a:cs typeface="Times New Roman"/>
              </a:rPr>
              <a:t>Skin</a:t>
            </a:r>
            <a:r>
              <a:rPr sz="2000" spc="40" dirty="0">
                <a:latin typeface="Times New Roman"/>
                <a:cs typeface="Times New Roman"/>
              </a:rPr>
              <a:t> </a:t>
            </a:r>
            <a:r>
              <a:rPr sz="2000" dirty="0">
                <a:latin typeface="Times New Roman"/>
                <a:cs typeface="Times New Roman"/>
              </a:rPr>
              <a:t>Envelope,"</a:t>
            </a:r>
            <a:r>
              <a:rPr sz="2000" spc="55" dirty="0">
                <a:latin typeface="Times New Roman"/>
                <a:cs typeface="Times New Roman"/>
              </a:rPr>
              <a:t> </a:t>
            </a:r>
            <a:r>
              <a:rPr sz="2000" dirty="0">
                <a:latin typeface="Times New Roman"/>
                <a:cs typeface="Times New Roman"/>
              </a:rPr>
              <a:t>in</a:t>
            </a:r>
            <a:r>
              <a:rPr sz="2000" spc="25" dirty="0">
                <a:latin typeface="Times New Roman"/>
                <a:cs typeface="Times New Roman"/>
              </a:rPr>
              <a:t> </a:t>
            </a:r>
            <a:r>
              <a:rPr sz="2000" dirty="0">
                <a:latin typeface="Times New Roman"/>
                <a:cs typeface="Times New Roman"/>
              </a:rPr>
              <a:t>IEEE</a:t>
            </a:r>
            <a:r>
              <a:rPr sz="2000" spc="45" dirty="0">
                <a:latin typeface="Times New Roman"/>
                <a:cs typeface="Times New Roman"/>
              </a:rPr>
              <a:t> </a:t>
            </a:r>
            <a:r>
              <a:rPr sz="2000" dirty="0">
                <a:latin typeface="Times New Roman"/>
                <a:cs typeface="Times New Roman"/>
              </a:rPr>
              <a:t>Transactions</a:t>
            </a:r>
            <a:r>
              <a:rPr sz="2000" spc="45" dirty="0">
                <a:latin typeface="Times New Roman"/>
                <a:cs typeface="Times New Roman"/>
              </a:rPr>
              <a:t> </a:t>
            </a:r>
            <a:r>
              <a:rPr sz="2000" spc="-25" dirty="0">
                <a:latin typeface="Times New Roman"/>
                <a:cs typeface="Times New Roman"/>
              </a:rPr>
              <a:t>on 	</a:t>
            </a:r>
            <a:r>
              <a:rPr sz="2000" dirty="0">
                <a:latin typeface="Times New Roman"/>
                <a:cs typeface="Times New Roman"/>
              </a:rPr>
              <a:t>Biomedical Engineering,</a:t>
            </a:r>
            <a:r>
              <a:rPr sz="2000" spc="15" dirty="0">
                <a:latin typeface="Times New Roman"/>
                <a:cs typeface="Times New Roman"/>
              </a:rPr>
              <a:t> </a:t>
            </a:r>
            <a:r>
              <a:rPr sz="2000" dirty="0">
                <a:latin typeface="Times New Roman"/>
                <a:cs typeface="Times New Roman"/>
              </a:rPr>
              <a:t>vol.</a:t>
            </a:r>
            <a:r>
              <a:rPr sz="2000" spc="5" dirty="0">
                <a:latin typeface="Times New Roman"/>
                <a:cs typeface="Times New Roman"/>
              </a:rPr>
              <a:t> </a:t>
            </a:r>
            <a:r>
              <a:rPr sz="2000" dirty="0">
                <a:latin typeface="Times New Roman"/>
                <a:cs typeface="Times New Roman"/>
              </a:rPr>
              <a:t>71,</a:t>
            </a:r>
            <a:r>
              <a:rPr sz="2000" spc="15" dirty="0">
                <a:latin typeface="Times New Roman"/>
                <a:cs typeface="Times New Roman"/>
              </a:rPr>
              <a:t> </a:t>
            </a:r>
            <a:r>
              <a:rPr sz="2000" dirty="0">
                <a:latin typeface="Times New Roman"/>
                <a:cs typeface="Times New Roman"/>
              </a:rPr>
              <a:t>no.</a:t>
            </a:r>
            <a:r>
              <a:rPr sz="2000" spc="35" dirty="0">
                <a:latin typeface="Times New Roman"/>
                <a:cs typeface="Times New Roman"/>
              </a:rPr>
              <a:t> </a:t>
            </a:r>
            <a:r>
              <a:rPr sz="2000" dirty="0">
                <a:latin typeface="Times New Roman"/>
                <a:cs typeface="Times New Roman"/>
              </a:rPr>
              <a:t>5,</a:t>
            </a:r>
            <a:r>
              <a:rPr sz="2000" spc="10" dirty="0">
                <a:latin typeface="Times New Roman"/>
                <a:cs typeface="Times New Roman"/>
              </a:rPr>
              <a:t> </a:t>
            </a:r>
            <a:r>
              <a:rPr sz="2000" dirty="0">
                <a:latin typeface="Times New Roman"/>
                <a:cs typeface="Times New Roman"/>
              </a:rPr>
              <a:t>pp.</a:t>
            </a:r>
            <a:r>
              <a:rPr sz="2000" spc="5" dirty="0">
                <a:latin typeface="Times New Roman"/>
                <a:cs typeface="Times New Roman"/>
              </a:rPr>
              <a:t> </a:t>
            </a:r>
            <a:r>
              <a:rPr sz="2000" spc="-10" dirty="0">
                <a:latin typeface="Times New Roman"/>
                <a:cs typeface="Times New Roman"/>
              </a:rPr>
              <a:t>1552-</a:t>
            </a:r>
            <a:r>
              <a:rPr sz="2000" dirty="0">
                <a:latin typeface="Times New Roman"/>
                <a:cs typeface="Times New Roman"/>
              </a:rPr>
              <a:t>1564,</a:t>
            </a:r>
            <a:r>
              <a:rPr sz="2000" spc="10" dirty="0">
                <a:latin typeface="Times New Roman"/>
                <a:cs typeface="Times New Roman"/>
              </a:rPr>
              <a:t> </a:t>
            </a:r>
            <a:r>
              <a:rPr sz="2000" dirty="0">
                <a:latin typeface="Times New Roman"/>
                <a:cs typeface="Times New Roman"/>
              </a:rPr>
              <a:t>May 2024,</a:t>
            </a:r>
            <a:r>
              <a:rPr sz="2000" spc="5" dirty="0">
                <a:latin typeface="Times New Roman"/>
                <a:cs typeface="Times New Roman"/>
              </a:rPr>
              <a:t> </a:t>
            </a:r>
            <a:r>
              <a:rPr sz="2000" spc="-20" dirty="0">
                <a:latin typeface="Times New Roman"/>
                <a:cs typeface="Times New Roman"/>
              </a:rPr>
              <a:t>doi: 	</a:t>
            </a:r>
            <a:r>
              <a:rPr sz="2000" spc="-10" dirty="0">
                <a:latin typeface="Times New Roman"/>
                <a:cs typeface="Times New Roman"/>
              </a:rPr>
              <a:t>10.1109/TBME.2023.3342652.</a:t>
            </a:r>
            <a:endParaRPr sz="2000" dirty="0">
              <a:latin typeface="Times New Roman"/>
              <a:cs typeface="Times New Roman"/>
            </a:endParaRPr>
          </a:p>
          <a:p>
            <a:pPr algn="just">
              <a:lnSpc>
                <a:spcPct val="100000"/>
              </a:lnSpc>
              <a:spcBef>
                <a:spcPts val="140"/>
              </a:spcBef>
              <a:buFont typeface="Times New Roman"/>
              <a:buAutoNum type="arabicPeriod"/>
            </a:pPr>
            <a:endParaRPr sz="2000" dirty="0">
              <a:latin typeface="Times New Roman"/>
              <a:cs typeface="Times New Roman"/>
            </a:endParaRPr>
          </a:p>
          <a:p>
            <a:pPr marL="467359" marR="5080" indent="-455295" algn="just">
              <a:lnSpc>
                <a:spcPct val="99400"/>
              </a:lnSpc>
              <a:buAutoNum type="arabicPeriod"/>
              <a:tabLst>
                <a:tab pos="469900" algn="l"/>
              </a:tabLst>
            </a:pPr>
            <a:r>
              <a:rPr sz="2000" dirty="0">
                <a:latin typeface="Times New Roman"/>
                <a:cs typeface="Times New Roman"/>
              </a:rPr>
              <a:t>V.</a:t>
            </a:r>
            <a:r>
              <a:rPr sz="2000" spc="-30" dirty="0">
                <a:latin typeface="Times New Roman"/>
                <a:cs typeface="Times New Roman"/>
              </a:rPr>
              <a:t> </a:t>
            </a:r>
            <a:r>
              <a:rPr sz="2000" dirty="0">
                <a:latin typeface="Times New Roman"/>
                <a:cs typeface="Times New Roman"/>
              </a:rPr>
              <a:t>Ianniciello,</a:t>
            </a:r>
            <a:r>
              <a:rPr sz="2000" spc="-25" dirty="0">
                <a:latin typeface="Times New Roman"/>
                <a:cs typeface="Times New Roman"/>
              </a:rPr>
              <a:t> </a:t>
            </a:r>
            <a:r>
              <a:rPr sz="2000" dirty="0">
                <a:latin typeface="Times New Roman"/>
                <a:cs typeface="Times New Roman"/>
              </a:rPr>
              <a:t>M.</a:t>
            </a:r>
            <a:r>
              <a:rPr sz="2000" spc="-25" dirty="0">
                <a:latin typeface="Times New Roman"/>
                <a:cs typeface="Times New Roman"/>
              </a:rPr>
              <a:t> </a:t>
            </a:r>
            <a:r>
              <a:rPr sz="2000" dirty="0">
                <a:latin typeface="Times New Roman"/>
                <a:cs typeface="Times New Roman"/>
              </a:rPr>
              <a:t>Gherardini</a:t>
            </a:r>
            <a:r>
              <a:rPr sz="2000" spc="-25" dirty="0">
                <a:latin typeface="Times New Roman"/>
                <a:cs typeface="Times New Roman"/>
              </a:rPr>
              <a:t> </a:t>
            </a:r>
            <a:r>
              <a:rPr sz="2000" dirty="0">
                <a:latin typeface="Times New Roman"/>
                <a:cs typeface="Times New Roman"/>
              </a:rPr>
              <a:t>and</a:t>
            </a:r>
            <a:r>
              <a:rPr sz="2000" spc="-20" dirty="0">
                <a:latin typeface="Times New Roman"/>
                <a:cs typeface="Times New Roman"/>
              </a:rPr>
              <a:t> </a:t>
            </a:r>
            <a:r>
              <a:rPr sz="2000" dirty="0">
                <a:latin typeface="Times New Roman"/>
                <a:cs typeface="Times New Roman"/>
              </a:rPr>
              <a:t>C.</a:t>
            </a:r>
            <a:r>
              <a:rPr sz="2000" spc="-20" dirty="0">
                <a:latin typeface="Times New Roman"/>
                <a:cs typeface="Times New Roman"/>
              </a:rPr>
              <a:t> </a:t>
            </a:r>
            <a:r>
              <a:rPr sz="2000" dirty="0">
                <a:latin typeface="Times New Roman"/>
                <a:cs typeface="Times New Roman"/>
              </a:rPr>
              <a:t>Cipriani,</a:t>
            </a:r>
            <a:r>
              <a:rPr sz="2000" spc="-10" dirty="0">
                <a:latin typeface="Times New Roman"/>
                <a:cs typeface="Times New Roman"/>
              </a:rPr>
              <a:t> </a:t>
            </a:r>
            <a:r>
              <a:rPr sz="2000" dirty="0">
                <a:latin typeface="Times New Roman"/>
                <a:cs typeface="Times New Roman"/>
              </a:rPr>
              <a:t>"Transcutaneous</a:t>
            </a:r>
            <a:r>
              <a:rPr sz="2000" spc="-15" dirty="0">
                <a:latin typeface="Times New Roman"/>
                <a:cs typeface="Times New Roman"/>
              </a:rPr>
              <a:t> </a:t>
            </a:r>
            <a:r>
              <a:rPr sz="2000" spc="-10" dirty="0">
                <a:latin typeface="Times New Roman"/>
                <a:cs typeface="Times New Roman"/>
              </a:rPr>
              <a:t>Magnet 	</a:t>
            </a:r>
            <a:r>
              <a:rPr sz="2000" dirty="0">
                <a:latin typeface="Times New Roman"/>
                <a:cs typeface="Times New Roman"/>
              </a:rPr>
              <a:t>Localizer</a:t>
            </a:r>
            <a:r>
              <a:rPr sz="2000" spc="160" dirty="0">
                <a:latin typeface="Times New Roman"/>
                <a:cs typeface="Times New Roman"/>
              </a:rPr>
              <a:t> </a:t>
            </a:r>
            <a:r>
              <a:rPr sz="2000" dirty="0">
                <a:latin typeface="Times New Roman"/>
                <a:cs typeface="Times New Roman"/>
              </a:rPr>
              <a:t>for</a:t>
            </a:r>
            <a:r>
              <a:rPr sz="2000" spc="175" dirty="0">
                <a:latin typeface="Times New Roman"/>
                <a:cs typeface="Times New Roman"/>
              </a:rPr>
              <a:t> </a:t>
            </a:r>
            <a:r>
              <a:rPr sz="2000" dirty="0">
                <a:latin typeface="Times New Roman"/>
                <a:cs typeface="Times New Roman"/>
              </a:rPr>
              <a:t>a</a:t>
            </a:r>
            <a:r>
              <a:rPr sz="2000" spc="160" dirty="0">
                <a:latin typeface="Times New Roman"/>
                <a:cs typeface="Times New Roman"/>
              </a:rPr>
              <a:t> </a:t>
            </a:r>
            <a:r>
              <a:rPr sz="2000" dirty="0">
                <a:latin typeface="Times New Roman"/>
                <a:cs typeface="Times New Roman"/>
              </a:rPr>
              <a:t>Self-Contained</a:t>
            </a:r>
            <a:r>
              <a:rPr sz="2000" spc="175" dirty="0">
                <a:latin typeface="Times New Roman"/>
                <a:cs typeface="Times New Roman"/>
              </a:rPr>
              <a:t> </a:t>
            </a:r>
            <a:r>
              <a:rPr sz="2000" dirty="0">
                <a:latin typeface="Times New Roman"/>
                <a:cs typeface="Times New Roman"/>
              </a:rPr>
              <a:t>Myokinetic</a:t>
            </a:r>
            <a:r>
              <a:rPr sz="2000" spc="155" dirty="0">
                <a:latin typeface="Times New Roman"/>
                <a:cs typeface="Times New Roman"/>
              </a:rPr>
              <a:t> </a:t>
            </a:r>
            <a:r>
              <a:rPr sz="2000" dirty="0">
                <a:latin typeface="Times New Roman"/>
                <a:cs typeface="Times New Roman"/>
              </a:rPr>
              <a:t>Prosthetic</a:t>
            </a:r>
            <a:r>
              <a:rPr sz="2000" spc="170" dirty="0">
                <a:latin typeface="Times New Roman"/>
                <a:cs typeface="Times New Roman"/>
              </a:rPr>
              <a:t> </a:t>
            </a:r>
            <a:r>
              <a:rPr sz="2000" dirty="0">
                <a:latin typeface="Times New Roman"/>
                <a:cs typeface="Times New Roman"/>
              </a:rPr>
              <a:t>Hand,"</a:t>
            </a:r>
            <a:r>
              <a:rPr sz="2000" spc="175" dirty="0">
                <a:latin typeface="Times New Roman"/>
                <a:cs typeface="Times New Roman"/>
              </a:rPr>
              <a:t> </a:t>
            </a:r>
            <a:r>
              <a:rPr sz="2000" dirty="0">
                <a:latin typeface="Times New Roman"/>
                <a:cs typeface="Times New Roman"/>
              </a:rPr>
              <a:t>in</a:t>
            </a:r>
            <a:r>
              <a:rPr sz="2000" spc="175" dirty="0">
                <a:latin typeface="Times New Roman"/>
                <a:cs typeface="Times New Roman"/>
              </a:rPr>
              <a:t> </a:t>
            </a:r>
            <a:r>
              <a:rPr sz="2000" spc="-20" dirty="0">
                <a:latin typeface="Times New Roman"/>
                <a:cs typeface="Times New Roman"/>
              </a:rPr>
              <a:t>IEEE 	</a:t>
            </a:r>
            <a:r>
              <a:rPr sz="2000" dirty="0">
                <a:latin typeface="Times New Roman"/>
                <a:cs typeface="Times New Roman"/>
              </a:rPr>
              <a:t>Transactions</a:t>
            </a:r>
            <a:r>
              <a:rPr sz="2000" spc="445" dirty="0">
                <a:latin typeface="Times New Roman"/>
                <a:cs typeface="Times New Roman"/>
              </a:rPr>
              <a:t> </a:t>
            </a:r>
            <a:r>
              <a:rPr sz="2000" dirty="0">
                <a:latin typeface="Times New Roman"/>
                <a:cs typeface="Times New Roman"/>
              </a:rPr>
              <a:t>on</a:t>
            </a:r>
            <a:r>
              <a:rPr sz="2000" spc="455" dirty="0">
                <a:latin typeface="Times New Roman"/>
                <a:cs typeface="Times New Roman"/>
              </a:rPr>
              <a:t> </a:t>
            </a:r>
            <a:r>
              <a:rPr sz="2000" dirty="0">
                <a:latin typeface="Times New Roman"/>
                <a:cs typeface="Times New Roman"/>
              </a:rPr>
              <a:t>Biomedical</a:t>
            </a:r>
            <a:r>
              <a:rPr sz="2000" spc="445" dirty="0">
                <a:latin typeface="Times New Roman"/>
                <a:cs typeface="Times New Roman"/>
              </a:rPr>
              <a:t> </a:t>
            </a:r>
            <a:r>
              <a:rPr sz="2000" dirty="0">
                <a:latin typeface="Times New Roman"/>
                <a:cs typeface="Times New Roman"/>
              </a:rPr>
              <a:t>Engineering,</a:t>
            </a:r>
            <a:r>
              <a:rPr sz="2000" spc="450" dirty="0">
                <a:latin typeface="Times New Roman"/>
                <a:cs typeface="Times New Roman"/>
              </a:rPr>
              <a:t> </a:t>
            </a:r>
            <a:r>
              <a:rPr sz="2000" dirty="0">
                <a:latin typeface="Times New Roman"/>
                <a:cs typeface="Times New Roman"/>
              </a:rPr>
              <a:t>vol.</a:t>
            </a:r>
            <a:r>
              <a:rPr sz="2000" spc="459" dirty="0">
                <a:latin typeface="Times New Roman"/>
                <a:cs typeface="Times New Roman"/>
              </a:rPr>
              <a:t> </a:t>
            </a:r>
            <a:r>
              <a:rPr sz="2000" dirty="0">
                <a:latin typeface="Times New Roman"/>
                <a:cs typeface="Times New Roman"/>
              </a:rPr>
              <a:t>71,</a:t>
            </a:r>
            <a:r>
              <a:rPr sz="2000" spc="450" dirty="0">
                <a:latin typeface="Times New Roman"/>
                <a:cs typeface="Times New Roman"/>
              </a:rPr>
              <a:t> </a:t>
            </a:r>
            <a:r>
              <a:rPr sz="2000" dirty="0">
                <a:latin typeface="Times New Roman"/>
                <a:cs typeface="Times New Roman"/>
              </a:rPr>
              <a:t>no.</a:t>
            </a:r>
            <a:r>
              <a:rPr sz="2000" spc="450" dirty="0">
                <a:latin typeface="Times New Roman"/>
                <a:cs typeface="Times New Roman"/>
              </a:rPr>
              <a:t> </a:t>
            </a:r>
            <a:r>
              <a:rPr sz="2000" dirty="0">
                <a:latin typeface="Times New Roman"/>
                <a:cs typeface="Times New Roman"/>
              </a:rPr>
              <a:t>3,</a:t>
            </a:r>
            <a:r>
              <a:rPr sz="2000" spc="455" dirty="0">
                <a:latin typeface="Times New Roman"/>
                <a:cs typeface="Times New Roman"/>
              </a:rPr>
              <a:t> </a:t>
            </a:r>
            <a:r>
              <a:rPr sz="2000" dirty="0">
                <a:latin typeface="Times New Roman"/>
                <a:cs typeface="Times New Roman"/>
              </a:rPr>
              <a:t>pp.</a:t>
            </a:r>
            <a:r>
              <a:rPr sz="2000" spc="455" dirty="0">
                <a:latin typeface="Times New Roman"/>
                <a:cs typeface="Times New Roman"/>
              </a:rPr>
              <a:t> </a:t>
            </a:r>
            <a:r>
              <a:rPr sz="2000" spc="-10" dirty="0">
                <a:latin typeface="Times New Roman"/>
                <a:cs typeface="Times New Roman"/>
              </a:rPr>
              <a:t>1068- 	</a:t>
            </a:r>
            <a:r>
              <a:rPr sz="2000" dirty="0">
                <a:latin typeface="Times New Roman"/>
                <a:cs typeface="Times New Roman"/>
              </a:rPr>
              <a:t>1075,</a:t>
            </a:r>
            <a:r>
              <a:rPr sz="2000" spc="-20" dirty="0">
                <a:latin typeface="Times New Roman"/>
                <a:cs typeface="Times New Roman"/>
              </a:rPr>
              <a:t> </a:t>
            </a:r>
            <a:r>
              <a:rPr sz="2000" dirty="0">
                <a:latin typeface="Times New Roman"/>
                <a:cs typeface="Times New Roman"/>
              </a:rPr>
              <a:t>March</a:t>
            </a:r>
            <a:r>
              <a:rPr sz="2000" spc="-5" dirty="0">
                <a:latin typeface="Times New Roman"/>
                <a:cs typeface="Times New Roman"/>
              </a:rPr>
              <a:t> </a:t>
            </a:r>
            <a:r>
              <a:rPr sz="2000" dirty="0">
                <a:latin typeface="Times New Roman"/>
                <a:cs typeface="Times New Roman"/>
              </a:rPr>
              <a:t>2024,</a:t>
            </a:r>
            <a:r>
              <a:rPr sz="2000" spc="-5" dirty="0">
                <a:latin typeface="Times New Roman"/>
                <a:cs typeface="Times New Roman"/>
              </a:rPr>
              <a:t> </a:t>
            </a:r>
            <a:r>
              <a:rPr sz="2000" dirty="0">
                <a:latin typeface="Times New Roman"/>
                <a:cs typeface="Times New Roman"/>
              </a:rPr>
              <a:t>doi:</a:t>
            </a:r>
            <a:r>
              <a:rPr sz="2000" spc="-15" dirty="0">
                <a:latin typeface="Times New Roman"/>
                <a:cs typeface="Times New Roman"/>
              </a:rPr>
              <a:t> </a:t>
            </a:r>
            <a:r>
              <a:rPr sz="2000" spc="-10" dirty="0">
                <a:latin typeface="Times New Roman"/>
                <a:cs typeface="Times New Roman"/>
              </a:rPr>
              <a:t>10.1109/TBME.2023.3325910.</a:t>
            </a:r>
            <a:endParaRPr sz="2000" dirty="0">
              <a:latin typeface="Times New Roman"/>
              <a:cs typeface="Times New Roman"/>
            </a:endParaRPr>
          </a:p>
        </p:txBody>
      </p:sp>
    </p:spTree>
  </p:cSld>
  <p:clrMapOvr>
    <a:masterClrMapping/>
  </p:clrMapOvr>
  <p:transition spd="slow">
    <p:wipe dir="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sp>
        <p:nvSpPr>
          <p:cNvPr id="155" name="Google Shape;155;p12"/>
          <p:cNvSpPr txBox="1">
            <a:spLocks noGrp="1"/>
          </p:cNvSpPr>
          <p:nvPr>
            <p:ph type="title"/>
          </p:nvPr>
        </p:nvSpPr>
        <p:spPr>
          <a:xfrm>
            <a:off x="394950" y="293841"/>
            <a:ext cx="8354100" cy="9624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000"/>
              <a:buFont typeface="Times New Roman"/>
              <a:buNone/>
            </a:pPr>
            <a:r>
              <a:rPr lang="en-US" sz="4000" b="1" dirty="0">
                <a:latin typeface="Times New Roman"/>
                <a:ea typeface="Times New Roman"/>
                <a:cs typeface="Times New Roman"/>
                <a:sym typeface="Times New Roman"/>
              </a:rPr>
              <a:t>  References</a:t>
            </a:r>
            <a:endParaRPr sz="4000" b="1" dirty="0">
              <a:latin typeface="Times New Roman"/>
              <a:ea typeface="Times New Roman"/>
              <a:cs typeface="Times New Roman"/>
              <a:sym typeface="Times New Roman"/>
            </a:endParaRPr>
          </a:p>
        </p:txBody>
      </p:sp>
      <p:sp>
        <p:nvSpPr>
          <p:cNvPr id="156" name="Google Shape;156;p1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13-Mar-25</a:t>
            </a:r>
            <a:endParaRPr/>
          </a:p>
        </p:txBody>
      </p:sp>
      <p:sp>
        <p:nvSpPr>
          <p:cNvPr id="157" name="Google Shape;157;p1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Dept. of ECE, Vemana IT</a:t>
            </a:r>
            <a:endParaRPr/>
          </a:p>
        </p:txBody>
      </p:sp>
      <p:sp>
        <p:nvSpPr>
          <p:cNvPr id="158" name="Google Shape;158;p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15</a:t>
            </a:fld>
            <a:endParaRPr/>
          </a:p>
        </p:txBody>
      </p:sp>
      <p:sp>
        <p:nvSpPr>
          <p:cNvPr id="4" name="object 3">
            <a:extLst>
              <a:ext uri="{FF2B5EF4-FFF2-40B4-BE49-F238E27FC236}">
                <a16:creationId xmlns:a16="http://schemas.microsoft.com/office/drawing/2014/main" id="{0C308F3B-3B83-64D1-789B-252C758D2548}"/>
              </a:ext>
            </a:extLst>
          </p:cNvPr>
          <p:cNvSpPr txBox="1"/>
          <p:nvPr/>
        </p:nvSpPr>
        <p:spPr>
          <a:xfrm>
            <a:off x="661415" y="1219200"/>
            <a:ext cx="7814309" cy="4642680"/>
          </a:xfrm>
          <a:prstGeom prst="rect">
            <a:avLst/>
          </a:prstGeom>
        </p:spPr>
        <p:txBody>
          <a:bodyPr vert="horz" wrap="square" lIns="0" tIns="14604" rIns="0" bIns="0" rtlCol="0">
            <a:spAutoFit/>
          </a:bodyPr>
          <a:lstStyle/>
          <a:p>
            <a:pPr marL="543560" marR="87630" indent="-455295" algn="just">
              <a:lnSpc>
                <a:spcPct val="99400"/>
              </a:lnSpc>
              <a:spcBef>
                <a:spcPts val="114"/>
              </a:spcBef>
              <a:buAutoNum type="arabicPeriod" startAt="4"/>
              <a:tabLst>
                <a:tab pos="546100" algn="l"/>
              </a:tabLst>
            </a:pPr>
            <a:r>
              <a:rPr lang="en-IN" sz="2000" dirty="0">
                <a:latin typeface="Times New Roman"/>
                <a:cs typeface="Times New Roman"/>
              </a:rPr>
              <a:t>A. T. Demora and C. M. Abdissa, "Neural Network-Based Lower Limb Prostheses Control Using Super Twisting Sliding Mode Control," in IEEE Access, vol. 13, pp. 24929-24953, 2025, doi: 10.1109/ACCESS.2025.3538689.</a:t>
            </a:r>
          </a:p>
          <a:p>
            <a:pPr algn="just">
              <a:lnSpc>
                <a:spcPct val="100000"/>
              </a:lnSpc>
              <a:spcBef>
                <a:spcPts val="155"/>
              </a:spcBef>
              <a:buFont typeface="Times New Roman"/>
              <a:buAutoNum type="arabicPeriod" startAt="4"/>
            </a:pPr>
            <a:endParaRPr sz="2000" dirty="0">
              <a:latin typeface="Times New Roman"/>
              <a:cs typeface="Times New Roman"/>
            </a:endParaRPr>
          </a:p>
          <a:p>
            <a:pPr marL="543560" marR="91440" indent="-455295" algn="just">
              <a:lnSpc>
                <a:spcPct val="99400"/>
              </a:lnSpc>
              <a:buAutoNum type="arabicPeriod" startAt="4"/>
              <a:tabLst>
                <a:tab pos="546100" algn="l"/>
              </a:tabLst>
            </a:pPr>
            <a:r>
              <a:rPr sz="2000" dirty="0">
                <a:latin typeface="Times New Roman"/>
                <a:cs typeface="Times New Roman"/>
              </a:rPr>
              <a:t>A.</a:t>
            </a:r>
            <a:r>
              <a:rPr sz="2000" spc="125" dirty="0">
                <a:latin typeface="Times New Roman"/>
                <a:cs typeface="Times New Roman"/>
              </a:rPr>
              <a:t> </a:t>
            </a:r>
            <a:r>
              <a:rPr sz="2000" dirty="0">
                <a:latin typeface="Times New Roman"/>
                <a:cs typeface="Times New Roman"/>
              </a:rPr>
              <a:t>Sahbel,</a:t>
            </a:r>
            <a:r>
              <a:rPr sz="2000" spc="120" dirty="0">
                <a:latin typeface="Times New Roman"/>
                <a:cs typeface="Times New Roman"/>
              </a:rPr>
              <a:t> </a:t>
            </a:r>
            <a:r>
              <a:rPr sz="2000" dirty="0">
                <a:latin typeface="Times New Roman"/>
                <a:cs typeface="Times New Roman"/>
              </a:rPr>
              <a:t>M.</a:t>
            </a:r>
            <a:r>
              <a:rPr sz="2000" spc="100" dirty="0">
                <a:latin typeface="Times New Roman"/>
                <a:cs typeface="Times New Roman"/>
              </a:rPr>
              <a:t> </a:t>
            </a:r>
            <a:r>
              <a:rPr sz="2000" dirty="0">
                <a:latin typeface="Times New Roman"/>
                <a:cs typeface="Times New Roman"/>
              </a:rPr>
              <a:t>Elaydi,</a:t>
            </a:r>
            <a:r>
              <a:rPr sz="2000" spc="114" dirty="0">
                <a:latin typeface="Times New Roman"/>
                <a:cs typeface="Times New Roman"/>
              </a:rPr>
              <a:t> </a:t>
            </a:r>
            <a:r>
              <a:rPr sz="2000" dirty="0">
                <a:latin typeface="Times New Roman"/>
                <a:cs typeface="Times New Roman"/>
              </a:rPr>
              <a:t>A.</a:t>
            </a:r>
            <a:r>
              <a:rPr sz="2000" spc="130" dirty="0">
                <a:latin typeface="Times New Roman"/>
                <a:cs typeface="Times New Roman"/>
              </a:rPr>
              <a:t> </a:t>
            </a:r>
            <a:r>
              <a:rPr sz="2000" dirty="0">
                <a:latin typeface="Times New Roman"/>
                <a:cs typeface="Times New Roman"/>
              </a:rPr>
              <a:t>Nasif,</a:t>
            </a:r>
            <a:r>
              <a:rPr sz="2000" spc="120" dirty="0">
                <a:latin typeface="Times New Roman"/>
                <a:cs typeface="Times New Roman"/>
              </a:rPr>
              <a:t> </a:t>
            </a:r>
            <a:r>
              <a:rPr sz="2000" dirty="0">
                <a:latin typeface="Times New Roman"/>
                <a:cs typeface="Times New Roman"/>
              </a:rPr>
              <a:t>N.</a:t>
            </a:r>
            <a:r>
              <a:rPr sz="2000" spc="125" dirty="0">
                <a:latin typeface="Times New Roman"/>
                <a:cs typeface="Times New Roman"/>
              </a:rPr>
              <a:t> </a:t>
            </a:r>
            <a:r>
              <a:rPr sz="2000" dirty="0">
                <a:latin typeface="Times New Roman"/>
                <a:cs typeface="Times New Roman"/>
              </a:rPr>
              <a:t>Sobhy,</a:t>
            </a:r>
            <a:r>
              <a:rPr sz="2000" spc="110" dirty="0">
                <a:latin typeface="Times New Roman"/>
                <a:cs typeface="Times New Roman"/>
              </a:rPr>
              <a:t> </a:t>
            </a:r>
            <a:r>
              <a:rPr sz="2000" dirty="0">
                <a:latin typeface="Times New Roman"/>
                <a:cs typeface="Times New Roman"/>
              </a:rPr>
              <a:t>A.</a:t>
            </a:r>
            <a:r>
              <a:rPr sz="2000" spc="125" dirty="0">
                <a:latin typeface="Times New Roman"/>
                <a:cs typeface="Times New Roman"/>
              </a:rPr>
              <a:t> </a:t>
            </a:r>
            <a:r>
              <a:rPr sz="2000" dirty="0">
                <a:latin typeface="Times New Roman"/>
                <a:cs typeface="Times New Roman"/>
              </a:rPr>
              <a:t>Magdy,</a:t>
            </a:r>
            <a:r>
              <a:rPr sz="2000" spc="120" dirty="0">
                <a:latin typeface="Times New Roman"/>
                <a:cs typeface="Times New Roman"/>
              </a:rPr>
              <a:t> </a:t>
            </a:r>
            <a:r>
              <a:rPr sz="2000" dirty="0">
                <a:latin typeface="Times New Roman"/>
                <a:cs typeface="Times New Roman"/>
              </a:rPr>
              <a:t>and</a:t>
            </a:r>
            <a:r>
              <a:rPr sz="2000" spc="120" dirty="0">
                <a:latin typeface="Times New Roman"/>
                <a:cs typeface="Times New Roman"/>
              </a:rPr>
              <a:t> </a:t>
            </a:r>
            <a:r>
              <a:rPr sz="2000" dirty="0">
                <a:latin typeface="Times New Roman"/>
                <a:cs typeface="Times New Roman"/>
              </a:rPr>
              <a:t>A.</a:t>
            </a:r>
            <a:r>
              <a:rPr sz="2000" spc="120" dirty="0">
                <a:latin typeface="Times New Roman"/>
                <a:cs typeface="Times New Roman"/>
              </a:rPr>
              <a:t> </a:t>
            </a:r>
            <a:r>
              <a:rPr sz="2000" spc="-10" dirty="0">
                <a:latin typeface="Times New Roman"/>
                <a:cs typeface="Times New Roman"/>
              </a:rPr>
              <a:t>Abbas, 	</a:t>
            </a:r>
            <a:r>
              <a:rPr sz="2000" dirty="0">
                <a:latin typeface="Times New Roman"/>
                <a:cs typeface="Times New Roman"/>
              </a:rPr>
              <a:t>“A</a:t>
            </a:r>
            <a:r>
              <a:rPr sz="2000" spc="60" dirty="0">
                <a:latin typeface="Times New Roman"/>
                <a:cs typeface="Times New Roman"/>
              </a:rPr>
              <a:t> </a:t>
            </a:r>
            <a:r>
              <a:rPr sz="2000" spc="-20" dirty="0">
                <a:latin typeface="Times New Roman"/>
                <a:cs typeface="Times New Roman"/>
              </a:rPr>
              <a:t>Low-</a:t>
            </a:r>
            <a:r>
              <a:rPr sz="2000" dirty="0">
                <a:latin typeface="Times New Roman"/>
                <a:cs typeface="Times New Roman"/>
              </a:rPr>
              <a:t>Cost</a:t>
            </a:r>
            <a:r>
              <a:rPr sz="2000" spc="45" dirty="0">
                <a:latin typeface="Times New Roman"/>
                <a:cs typeface="Times New Roman"/>
              </a:rPr>
              <a:t> </a:t>
            </a:r>
            <a:r>
              <a:rPr sz="2000" dirty="0">
                <a:latin typeface="Times New Roman"/>
                <a:cs typeface="Times New Roman"/>
              </a:rPr>
              <a:t>Lightweight</a:t>
            </a:r>
            <a:r>
              <a:rPr sz="2000" spc="60" dirty="0">
                <a:latin typeface="Times New Roman"/>
                <a:cs typeface="Times New Roman"/>
              </a:rPr>
              <a:t> </a:t>
            </a:r>
            <a:r>
              <a:rPr sz="2000" dirty="0">
                <a:latin typeface="Times New Roman"/>
                <a:cs typeface="Times New Roman"/>
              </a:rPr>
              <a:t>Prosthetic</a:t>
            </a:r>
            <a:r>
              <a:rPr sz="2000" spc="50" dirty="0">
                <a:latin typeface="Times New Roman"/>
                <a:cs typeface="Times New Roman"/>
              </a:rPr>
              <a:t> </a:t>
            </a:r>
            <a:r>
              <a:rPr sz="2000" dirty="0">
                <a:latin typeface="Times New Roman"/>
                <a:cs typeface="Times New Roman"/>
              </a:rPr>
              <a:t>Arm</a:t>
            </a:r>
            <a:r>
              <a:rPr sz="2000" spc="30" dirty="0">
                <a:latin typeface="Times New Roman"/>
                <a:cs typeface="Times New Roman"/>
              </a:rPr>
              <a:t> </a:t>
            </a:r>
            <a:r>
              <a:rPr sz="2000" dirty="0">
                <a:latin typeface="Times New Roman"/>
                <a:cs typeface="Times New Roman"/>
              </a:rPr>
              <a:t>with</a:t>
            </a:r>
            <a:r>
              <a:rPr sz="2000" spc="50" dirty="0">
                <a:latin typeface="Times New Roman"/>
                <a:cs typeface="Times New Roman"/>
              </a:rPr>
              <a:t> </a:t>
            </a:r>
            <a:r>
              <a:rPr sz="2000" dirty="0">
                <a:latin typeface="Times New Roman"/>
                <a:cs typeface="Times New Roman"/>
              </a:rPr>
              <a:t>Soft</a:t>
            </a:r>
            <a:r>
              <a:rPr sz="2000" spc="40" dirty="0">
                <a:latin typeface="Times New Roman"/>
                <a:cs typeface="Times New Roman"/>
              </a:rPr>
              <a:t> </a:t>
            </a:r>
            <a:r>
              <a:rPr sz="2000" dirty="0">
                <a:latin typeface="Times New Roman"/>
                <a:cs typeface="Times New Roman"/>
              </a:rPr>
              <a:t>Gripping</a:t>
            </a:r>
            <a:r>
              <a:rPr sz="2000" spc="50" dirty="0">
                <a:latin typeface="Times New Roman"/>
                <a:cs typeface="Times New Roman"/>
              </a:rPr>
              <a:t> </a:t>
            </a:r>
            <a:r>
              <a:rPr sz="2000" spc="-10" dirty="0">
                <a:latin typeface="Times New Roman"/>
                <a:cs typeface="Times New Roman"/>
              </a:rPr>
              <a:t>Fingers 	</a:t>
            </a:r>
            <a:r>
              <a:rPr sz="2000" dirty="0">
                <a:latin typeface="Times New Roman"/>
                <a:cs typeface="Times New Roman"/>
              </a:rPr>
              <a:t>Controlled</a:t>
            </a:r>
            <a:r>
              <a:rPr sz="2000" spc="415" dirty="0">
                <a:latin typeface="Times New Roman"/>
                <a:cs typeface="Times New Roman"/>
              </a:rPr>
              <a:t> </a:t>
            </a:r>
            <a:r>
              <a:rPr sz="2000" dirty="0">
                <a:latin typeface="Times New Roman"/>
                <a:cs typeface="Times New Roman"/>
              </a:rPr>
              <a:t>Using</a:t>
            </a:r>
            <a:r>
              <a:rPr sz="2000" spc="425" dirty="0">
                <a:latin typeface="Times New Roman"/>
                <a:cs typeface="Times New Roman"/>
              </a:rPr>
              <a:t> </a:t>
            </a:r>
            <a:r>
              <a:rPr sz="2000" dirty="0">
                <a:latin typeface="Times New Roman"/>
                <a:cs typeface="Times New Roman"/>
              </a:rPr>
              <a:t>CNN,”</a:t>
            </a:r>
            <a:r>
              <a:rPr sz="2000" spc="415" dirty="0">
                <a:latin typeface="Times New Roman"/>
                <a:cs typeface="Times New Roman"/>
              </a:rPr>
              <a:t> </a:t>
            </a:r>
            <a:r>
              <a:rPr sz="2000" dirty="0">
                <a:latin typeface="Times New Roman"/>
                <a:cs typeface="Times New Roman"/>
              </a:rPr>
              <a:t>in</a:t>
            </a:r>
            <a:r>
              <a:rPr sz="2000" spc="420" dirty="0">
                <a:latin typeface="Times New Roman"/>
                <a:cs typeface="Times New Roman"/>
              </a:rPr>
              <a:t> </a:t>
            </a:r>
            <a:r>
              <a:rPr sz="2000" dirty="0">
                <a:latin typeface="Times New Roman"/>
                <a:cs typeface="Times New Roman"/>
              </a:rPr>
              <a:t>2024</a:t>
            </a:r>
            <a:r>
              <a:rPr sz="2000" spc="420" dirty="0">
                <a:latin typeface="Times New Roman"/>
                <a:cs typeface="Times New Roman"/>
              </a:rPr>
              <a:t> </a:t>
            </a:r>
            <a:r>
              <a:rPr sz="2000" dirty="0">
                <a:latin typeface="Times New Roman"/>
                <a:cs typeface="Times New Roman"/>
              </a:rPr>
              <a:t>14</a:t>
            </a:r>
            <a:r>
              <a:rPr sz="2000" baseline="24691" dirty="0">
                <a:latin typeface="Times New Roman"/>
                <a:cs typeface="Times New Roman"/>
              </a:rPr>
              <a:t>th</a:t>
            </a:r>
            <a:r>
              <a:rPr sz="2000" spc="652" baseline="24691" dirty="0">
                <a:latin typeface="Times New Roman"/>
                <a:cs typeface="Times New Roman"/>
              </a:rPr>
              <a:t> </a:t>
            </a:r>
            <a:r>
              <a:rPr sz="2000" dirty="0">
                <a:latin typeface="Times New Roman"/>
                <a:cs typeface="Times New Roman"/>
              </a:rPr>
              <a:t>International</a:t>
            </a:r>
            <a:r>
              <a:rPr sz="2000" spc="425" dirty="0">
                <a:latin typeface="Times New Roman"/>
                <a:cs typeface="Times New Roman"/>
              </a:rPr>
              <a:t> </a:t>
            </a:r>
            <a:r>
              <a:rPr sz="2000" dirty="0">
                <a:latin typeface="Times New Roman"/>
                <a:cs typeface="Times New Roman"/>
              </a:rPr>
              <a:t>Conference</a:t>
            </a:r>
            <a:r>
              <a:rPr sz="2000" spc="400" dirty="0">
                <a:latin typeface="Times New Roman"/>
                <a:cs typeface="Times New Roman"/>
              </a:rPr>
              <a:t> </a:t>
            </a:r>
            <a:r>
              <a:rPr sz="2000" spc="-25" dirty="0">
                <a:latin typeface="Times New Roman"/>
                <a:cs typeface="Times New Roman"/>
              </a:rPr>
              <a:t>on 	</a:t>
            </a:r>
            <a:r>
              <a:rPr sz="2000" dirty="0">
                <a:latin typeface="Times New Roman"/>
                <a:cs typeface="Times New Roman"/>
              </a:rPr>
              <a:t>Electrical</a:t>
            </a:r>
            <a:r>
              <a:rPr sz="2000" spc="490" dirty="0">
                <a:latin typeface="Times New Roman"/>
                <a:cs typeface="Times New Roman"/>
              </a:rPr>
              <a:t>   </a:t>
            </a:r>
            <a:r>
              <a:rPr sz="2000" dirty="0">
                <a:latin typeface="Times New Roman"/>
                <a:cs typeface="Times New Roman"/>
              </a:rPr>
              <a:t>Engineering</a:t>
            </a:r>
            <a:r>
              <a:rPr sz="2000" spc="495" dirty="0">
                <a:latin typeface="Times New Roman"/>
                <a:cs typeface="Times New Roman"/>
              </a:rPr>
              <a:t>   </a:t>
            </a:r>
            <a:r>
              <a:rPr sz="2000" dirty="0">
                <a:latin typeface="Times New Roman"/>
                <a:cs typeface="Times New Roman"/>
              </a:rPr>
              <a:t>(ICEENG),</a:t>
            </a:r>
            <a:r>
              <a:rPr sz="2000" spc="490" dirty="0">
                <a:latin typeface="Times New Roman"/>
                <a:cs typeface="Times New Roman"/>
              </a:rPr>
              <a:t>   </a:t>
            </a:r>
            <a:r>
              <a:rPr sz="2000" dirty="0">
                <a:latin typeface="Times New Roman"/>
                <a:cs typeface="Times New Roman"/>
              </a:rPr>
              <a:t>145-147,</a:t>
            </a:r>
            <a:r>
              <a:rPr sz="2000" spc="495" dirty="0">
                <a:latin typeface="Times New Roman"/>
                <a:cs typeface="Times New Roman"/>
              </a:rPr>
              <a:t>   </a:t>
            </a:r>
            <a:r>
              <a:rPr sz="2000" dirty="0">
                <a:latin typeface="Times New Roman"/>
                <a:cs typeface="Times New Roman"/>
              </a:rPr>
              <a:t>2024,</a:t>
            </a:r>
            <a:r>
              <a:rPr sz="2000" spc="495" dirty="0">
                <a:latin typeface="Times New Roman"/>
                <a:cs typeface="Times New Roman"/>
              </a:rPr>
              <a:t>   </a:t>
            </a:r>
            <a:r>
              <a:rPr sz="2000" spc="-20" dirty="0">
                <a:latin typeface="Times New Roman"/>
                <a:cs typeface="Times New Roman"/>
              </a:rPr>
              <a:t>doi: 	</a:t>
            </a:r>
            <a:r>
              <a:rPr sz="2000" spc="-10" dirty="0">
                <a:latin typeface="Times New Roman"/>
                <a:cs typeface="Times New Roman"/>
              </a:rPr>
              <a:t>10.1109/ICEENG58856.2024.105664.</a:t>
            </a:r>
            <a:endParaRPr sz="2000" dirty="0">
              <a:latin typeface="Times New Roman"/>
              <a:cs typeface="Times New Roman"/>
            </a:endParaRPr>
          </a:p>
          <a:p>
            <a:pPr algn="just">
              <a:lnSpc>
                <a:spcPct val="100000"/>
              </a:lnSpc>
              <a:spcBef>
                <a:spcPts val="150"/>
              </a:spcBef>
              <a:buFont typeface="Times New Roman"/>
              <a:buAutoNum type="arabicPeriod" startAt="4"/>
            </a:pPr>
            <a:endParaRPr sz="2000" dirty="0">
              <a:latin typeface="Times New Roman"/>
              <a:cs typeface="Times New Roman"/>
            </a:endParaRPr>
          </a:p>
          <a:p>
            <a:pPr marL="544830" marR="90170" indent="-456565" algn="just">
              <a:lnSpc>
                <a:spcPct val="99400"/>
              </a:lnSpc>
              <a:buAutoNum type="arabicPeriod" startAt="4"/>
              <a:tabLst>
                <a:tab pos="546100" algn="l"/>
              </a:tabLst>
            </a:pPr>
            <a:r>
              <a:rPr sz="2000" dirty="0">
                <a:latin typeface="Times New Roman"/>
                <a:cs typeface="Times New Roman"/>
              </a:rPr>
              <a:t>M.</a:t>
            </a:r>
            <a:r>
              <a:rPr sz="2000" spc="40" dirty="0">
                <a:latin typeface="Times New Roman"/>
                <a:cs typeface="Times New Roman"/>
              </a:rPr>
              <a:t> </a:t>
            </a:r>
            <a:r>
              <a:rPr sz="2000" dirty="0">
                <a:latin typeface="Times New Roman"/>
                <a:cs typeface="Times New Roman"/>
              </a:rPr>
              <a:t>Yoshikawa,</a:t>
            </a:r>
            <a:r>
              <a:rPr sz="2000" spc="45" dirty="0">
                <a:latin typeface="Times New Roman"/>
                <a:cs typeface="Times New Roman"/>
              </a:rPr>
              <a:t> </a:t>
            </a:r>
            <a:r>
              <a:rPr sz="2000" dirty="0">
                <a:latin typeface="Times New Roman"/>
                <a:cs typeface="Times New Roman"/>
              </a:rPr>
              <a:t>K.</a:t>
            </a:r>
            <a:r>
              <a:rPr sz="2000" spc="35" dirty="0">
                <a:latin typeface="Times New Roman"/>
                <a:cs typeface="Times New Roman"/>
              </a:rPr>
              <a:t> </a:t>
            </a:r>
            <a:r>
              <a:rPr sz="2000" dirty="0">
                <a:latin typeface="Times New Roman"/>
                <a:cs typeface="Times New Roman"/>
              </a:rPr>
              <a:t>Ogawa,</a:t>
            </a:r>
            <a:r>
              <a:rPr sz="2000" spc="45" dirty="0">
                <a:latin typeface="Times New Roman"/>
                <a:cs typeface="Times New Roman"/>
              </a:rPr>
              <a:t> </a:t>
            </a:r>
            <a:r>
              <a:rPr sz="2000" dirty="0">
                <a:latin typeface="Times New Roman"/>
                <a:cs typeface="Times New Roman"/>
              </a:rPr>
              <a:t>S.</a:t>
            </a:r>
            <a:r>
              <a:rPr sz="2000" spc="35" dirty="0">
                <a:latin typeface="Times New Roman"/>
                <a:cs typeface="Times New Roman"/>
              </a:rPr>
              <a:t> </a:t>
            </a:r>
            <a:r>
              <a:rPr sz="2000" dirty="0">
                <a:latin typeface="Times New Roman"/>
                <a:cs typeface="Times New Roman"/>
              </a:rPr>
              <a:t>Yamanaka,</a:t>
            </a:r>
            <a:r>
              <a:rPr sz="2000" spc="30" dirty="0">
                <a:latin typeface="Times New Roman"/>
                <a:cs typeface="Times New Roman"/>
              </a:rPr>
              <a:t> </a:t>
            </a:r>
            <a:r>
              <a:rPr sz="2000" dirty="0">
                <a:latin typeface="Times New Roman"/>
                <a:cs typeface="Times New Roman"/>
              </a:rPr>
              <a:t>and</a:t>
            </a:r>
            <a:r>
              <a:rPr sz="2000" spc="35" dirty="0">
                <a:latin typeface="Times New Roman"/>
                <a:cs typeface="Times New Roman"/>
              </a:rPr>
              <a:t> </a:t>
            </a:r>
            <a:r>
              <a:rPr sz="2000" dirty="0">
                <a:latin typeface="Times New Roman"/>
                <a:cs typeface="Times New Roman"/>
              </a:rPr>
              <a:t>N.</a:t>
            </a:r>
            <a:r>
              <a:rPr sz="2000" spc="40" dirty="0">
                <a:latin typeface="Times New Roman"/>
                <a:cs typeface="Times New Roman"/>
              </a:rPr>
              <a:t> </a:t>
            </a:r>
            <a:r>
              <a:rPr sz="2000" dirty="0">
                <a:latin typeface="Times New Roman"/>
                <a:cs typeface="Times New Roman"/>
              </a:rPr>
              <a:t>Kawashima,</a:t>
            </a:r>
            <a:r>
              <a:rPr sz="2000" spc="45" dirty="0">
                <a:latin typeface="Times New Roman"/>
                <a:cs typeface="Times New Roman"/>
              </a:rPr>
              <a:t> </a:t>
            </a:r>
            <a:r>
              <a:rPr sz="2000" spc="-10" dirty="0">
                <a:latin typeface="Times New Roman"/>
                <a:cs typeface="Times New Roman"/>
              </a:rPr>
              <a:t>“Finch: 	</a:t>
            </a:r>
            <a:r>
              <a:rPr sz="2000" dirty="0">
                <a:latin typeface="Times New Roman"/>
                <a:cs typeface="Times New Roman"/>
              </a:rPr>
              <a:t>Prosthetic</a:t>
            </a:r>
            <a:r>
              <a:rPr sz="2000" spc="25" dirty="0">
                <a:latin typeface="Times New Roman"/>
                <a:cs typeface="Times New Roman"/>
              </a:rPr>
              <a:t> </a:t>
            </a:r>
            <a:r>
              <a:rPr sz="2000" dirty="0">
                <a:latin typeface="Times New Roman"/>
                <a:cs typeface="Times New Roman"/>
              </a:rPr>
              <a:t>Arm</a:t>
            </a:r>
            <a:r>
              <a:rPr sz="2000" spc="25" dirty="0">
                <a:latin typeface="Times New Roman"/>
                <a:cs typeface="Times New Roman"/>
              </a:rPr>
              <a:t> </a:t>
            </a:r>
            <a:r>
              <a:rPr sz="2000" dirty="0">
                <a:latin typeface="Times New Roman"/>
                <a:cs typeface="Times New Roman"/>
              </a:rPr>
              <a:t>With</a:t>
            </a:r>
            <a:r>
              <a:rPr sz="2000" spc="45" dirty="0">
                <a:latin typeface="Times New Roman"/>
                <a:cs typeface="Times New Roman"/>
              </a:rPr>
              <a:t> </a:t>
            </a:r>
            <a:r>
              <a:rPr sz="2000" dirty="0">
                <a:latin typeface="Times New Roman"/>
                <a:cs typeface="Times New Roman"/>
              </a:rPr>
              <a:t>Three</a:t>
            </a:r>
            <a:r>
              <a:rPr sz="2000" spc="30" dirty="0">
                <a:latin typeface="Times New Roman"/>
                <a:cs typeface="Times New Roman"/>
              </a:rPr>
              <a:t> </a:t>
            </a:r>
            <a:r>
              <a:rPr sz="2000" dirty="0">
                <a:latin typeface="Times New Roman"/>
                <a:cs typeface="Times New Roman"/>
              </a:rPr>
              <a:t>Opposing</a:t>
            </a:r>
            <a:r>
              <a:rPr sz="2000" spc="45" dirty="0">
                <a:latin typeface="Times New Roman"/>
                <a:cs typeface="Times New Roman"/>
              </a:rPr>
              <a:t> </a:t>
            </a:r>
            <a:r>
              <a:rPr sz="2000" dirty="0">
                <a:latin typeface="Times New Roman"/>
                <a:cs typeface="Times New Roman"/>
              </a:rPr>
              <a:t>Fingers</a:t>
            </a:r>
            <a:r>
              <a:rPr sz="2000" spc="45" dirty="0">
                <a:latin typeface="Times New Roman"/>
                <a:cs typeface="Times New Roman"/>
              </a:rPr>
              <a:t> </a:t>
            </a:r>
            <a:r>
              <a:rPr sz="2000" dirty="0">
                <a:latin typeface="Times New Roman"/>
                <a:cs typeface="Times New Roman"/>
              </a:rPr>
              <a:t>Controlled</a:t>
            </a:r>
            <a:r>
              <a:rPr sz="2000" spc="35" dirty="0">
                <a:latin typeface="Times New Roman"/>
                <a:cs typeface="Times New Roman"/>
              </a:rPr>
              <a:t> </a:t>
            </a:r>
            <a:r>
              <a:rPr sz="2000" dirty="0">
                <a:latin typeface="Times New Roman"/>
                <a:cs typeface="Times New Roman"/>
              </a:rPr>
              <a:t>by</a:t>
            </a:r>
            <a:r>
              <a:rPr sz="2000" spc="35" dirty="0">
                <a:latin typeface="Times New Roman"/>
                <a:cs typeface="Times New Roman"/>
              </a:rPr>
              <a:t> </a:t>
            </a:r>
            <a:r>
              <a:rPr sz="2000" dirty="0">
                <a:latin typeface="Times New Roman"/>
                <a:cs typeface="Times New Roman"/>
              </a:rPr>
              <a:t>a</a:t>
            </a:r>
            <a:r>
              <a:rPr sz="2000" spc="45" dirty="0">
                <a:latin typeface="Times New Roman"/>
                <a:cs typeface="Times New Roman"/>
              </a:rPr>
              <a:t> </a:t>
            </a:r>
            <a:r>
              <a:rPr sz="2000" spc="-10" dirty="0">
                <a:latin typeface="Times New Roman"/>
                <a:cs typeface="Times New Roman"/>
              </a:rPr>
              <a:t>Muscle 	</a:t>
            </a:r>
            <a:r>
              <a:rPr sz="2000" dirty="0">
                <a:latin typeface="Times New Roman"/>
                <a:cs typeface="Times New Roman"/>
              </a:rPr>
              <a:t>Bulge,”</a:t>
            </a:r>
            <a:r>
              <a:rPr sz="2000" spc="210" dirty="0">
                <a:latin typeface="Times New Roman"/>
                <a:cs typeface="Times New Roman"/>
              </a:rPr>
              <a:t> </a:t>
            </a:r>
            <a:r>
              <a:rPr sz="2000" dirty="0">
                <a:latin typeface="Times New Roman"/>
                <a:cs typeface="Times New Roman"/>
              </a:rPr>
              <a:t>in</a:t>
            </a:r>
            <a:r>
              <a:rPr sz="2000" spc="215" dirty="0">
                <a:latin typeface="Times New Roman"/>
                <a:cs typeface="Times New Roman"/>
              </a:rPr>
              <a:t> </a:t>
            </a:r>
            <a:r>
              <a:rPr sz="2000" dirty="0">
                <a:latin typeface="Times New Roman"/>
                <a:cs typeface="Times New Roman"/>
              </a:rPr>
              <a:t>IEEE</a:t>
            </a:r>
            <a:r>
              <a:rPr sz="2000" spc="204" dirty="0">
                <a:latin typeface="Times New Roman"/>
                <a:cs typeface="Times New Roman"/>
              </a:rPr>
              <a:t> </a:t>
            </a:r>
            <a:r>
              <a:rPr sz="2000" dirty="0">
                <a:latin typeface="Times New Roman"/>
                <a:cs typeface="Times New Roman"/>
              </a:rPr>
              <a:t>Transactions</a:t>
            </a:r>
            <a:r>
              <a:rPr sz="2000" spc="210" dirty="0">
                <a:latin typeface="Times New Roman"/>
                <a:cs typeface="Times New Roman"/>
              </a:rPr>
              <a:t> </a:t>
            </a:r>
            <a:r>
              <a:rPr sz="2000" dirty="0">
                <a:latin typeface="Times New Roman"/>
                <a:cs typeface="Times New Roman"/>
              </a:rPr>
              <a:t>on</a:t>
            </a:r>
            <a:r>
              <a:rPr sz="2000" spc="195" dirty="0">
                <a:latin typeface="Times New Roman"/>
                <a:cs typeface="Times New Roman"/>
              </a:rPr>
              <a:t> </a:t>
            </a:r>
            <a:r>
              <a:rPr sz="2000" dirty="0">
                <a:latin typeface="Times New Roman"/>
                <a:cs typeface="Times New Roman"/>
              </a:rPr>
              <a:t>Neural</a:t>
            </a:r>
            <a:r>
              <a:rPr sz="2000" spc="195" dirty="0">
                <a:latin typeface="Times New Roman"/>
                <a:cs typeface="Times New Roman"/>
              </a:rPr>
              <a:t> </a:t>
            </a:r>
            <a:r>
              <a:rPr sz="2000" dirty="0">
                <a:latin typeface="Times New Roman"/>
                <a:cs typeface="Times New Roman"/>
              </a:rPr>
              <a:t>Systems</a:t>
            </a:r>
            <a:r>
              <a:rPr sz="2000" spc="204" dirty="0">
                <a:latin typeface="Times New Roman"/>
                <a:cs typeface="Times New Roman"/>
              </a:rPr>
              <a:t> </a:t>
            </a:r>
            <a:r>
              <a:rPr sz="2000" dirty="0">
                <a:latin typeface="Times New Roman"/>
                <a:cs typeface="Times New Roman"/>
              </a:rPr>
              <a:t>and</a:t>
            </a:r>
            <a:r>
              <a:rPr sz="2000" spc="204" dirty="0">
                <a:latin typeface="Times New Roman"/>
                <a:cs typeface="Times New Roman"/>
              </a:rPr>
              <a:t> </a:t>
            </a:r>
            <a:r>
              <a:rPr sz="2000" spc="-10" dirty="0">
                <a:latin typeface="Times New Roman"/>
                <a:cs typeface="Times New Roman"/>
              </a:rPr>
              <a:t>Rehabilitation 	Engineering,vol.31,377/386,2023,doi:10.1109/TNSRE.2022.3223531.</a:t>
            </a:r>
            <a:endParaRPr sz="2000" dirty="0">
              <a:latin typeface="Times New Roman"/>
              <a:cs typeface="Times New Roman"/>
            </a:endParaRPr>
          </a:p>
        </p:txBody>
      </p:sp>
    </p:spTree>
    <p:extLst>
      <p:ext uri="{BB962C8B-B14F-4D97-AF65-F5344CB8AC3E}">
        <p14:creationId xmlns:p14="http://schemas.microsoft.com/office/powerpoint/2010/main" val="3568703540"/>
      </p:ext>
    </p:extLst>
  </p:cSld>
  <p:clrMapOvr>
    <a:masterClrMapping/>
  </p:clrMapOvr>
  <p:transition spd="slow">
    <p:wipe dir="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63"/>
        <p:cNvGrpSpPr/>
        <p:nvPr/>
      </p:nvGrpSpPr>
      <p:grpSpPr>
        <a:xfrm>
          <a:off x="0" y="0"/>
          <a:ext cx="0" cy="0"/>
          <a:chOff x="0" y="0"/>
          <a:chExt cx="0" cy="0"/>
        </a:xfrm>
      </p:grpSpPr>
      <p:sp>
        <p:nvSpPr>
          <p:cNvPr id="164" name="Google Shape;164;g33f40e27c4d_0_21"/>
          <p:cNvSpPr txBox="1">
            <a:spLocks noGrp="1"/>
          </p:cNvSpPr>
          <p:nvPr>
            <p:ph type="title"/>
          </p:nvPr>
        </p:nvSpPr>
        <p:spPr>
          <a:xfrm>
            <a:off x="394949" y="292850"/>
            <a:ext cx="8354100" cy="9624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000"/>
              <a:buFont typeface="Times New Roman"/>
              <a:buNone/>
            </a:pPr>
            <a:r>
              <a:rPr lang="en-US" sz="4000" b="1" dirty="0">
                <a:latin typeface="Times New Roman"/>
                <a:ea typeface="Times New Roman"/>
                <a:cs typeface="Times New Roman"/>
                <a:sym typeface="Times New Roman"/>
              </a:rPr>
              <a:t>  References</a:t>
            </a:r>
            <a:endParaRPr sz="4000" b="1" dirty="0">
              <a:latin typeface="Times New Roman"/>
              <a:ea typeface="Times New Roman"/>
              <a:cs typeface="Times New Roman"/>
              <a:sym typeface="Times New Roman"/>
            </a:endParaRPr>
          </a:p>
        </p:txBody>
      </p:sp>
      <p:sp>
        <p:nvSpPr>
          <p:cNvPr id="165" name="Google Shape;165;g33f40e27c4d_0_21"/>
          <p:cNvSpPr txBox="1">
            <a:spLocks noGrp="1"/>
          </p:cNvSpPr>
          <p:nvPr>
            <p:ph type="dt" idx="10"/>
          </p:nvPr>
        </p:nvSpPr>
        <p:spPr>
          <a:xfrm>
            <a:off x="457200" y="6356350"/>
            <a:ext cx="2133600" cy="3651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dirty="0"/>
              <a:t>13-Mar-25</a:t>
            </a:r>
            <a:endParaRPr dirty="0"/>
          </a:p>
        </p:txBody>
      </p:sp>
      <p:sp>
        <p:nvSpPr>
          <p:cNvPr id="166" name="Google Shape;166;g33f40e27c4d_0_21"/>
          <p:cNvSpPr txBox="1">
            <a:spLocks noGrp="1"/>
          </p:cNvSpPr>
          <p:nvPr>
            <p:ph type="ftr" idx="11"/>
          </p:nvPr>
        </p:nvSpPr>
        <p:spPr>
          <a:xfrm>
            <a:off x="3124200" y="6356350"/>
            <a:ext cx="2895600" cy="3651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dirty="0"/>
              <a:t>Dept. of ECE, </a:t>
            </a:r>
            <a:r>
              <a:rPr lang="en-US" dirty="0" err="1"/>
              <a:t>Vemana</a:t>
            </a:r>
            <a:r>
              <a:rPr lang="en-US" dirty="0"/>
              <a:t> IT</a:t>
            </a:r>
            <a:endParaRPr dirty="0"/>
          </a:p>
        </p:txBody>
      </p:sp>
      <p:sp>
        <p:nvSpPr>
          <p:cNvPr id="167" name="Google Shape;167;g33f40e27c4d_0_21"/>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16</a:t>
            </a:fld>
            <a:endParaRPr/>
          </a:p>
        </p:txBody>
      </p:sp>
      <p:sp>
        <p:nvSpPr>
          <p:cNvPr id="8" name="object 3">
            <a:extLst>
              <a:ext uri="{FF2B5EF4-FFF2-40B4-BE49-F238E27FC236}">
                <a16:creationId xmlns:a16="http://schemas.microsoft.com/office/drawing/2014/main" id="{E8BD59BF-CC61-AA7F-2DC6-9C2A0FDD3E64}"/>
              </a:ext>
            </a:extLst>
          </p:cNvPr>
          <p:cNvSpPr txBox="1">
            <a:spLocks/>
          </p:cNvSpPr>
          <p:nvPr/>
        </p:nvSpPr>
        <p:spPr>
          <a:xfrm>
            <a:off x="749300" y="1273809"/>
            <a:ext cx="7757795" cy="4540088"/>
          </a:xfrm>
          <a:prstGeom prst="rect">
            <a:avLst/>
          </a:prstGeom>
        </p:spPr>
        <p:txBody>
          <a:bodyPr vert="horz" wrap="square" lIns="0" tIns="14604" rIns="0" bIns="0" rtlCol="0">
            <a:spAutoFit/>
          </a:bodyPr>
          <a:lstStyle>
            <a:lvl1pPr marL="0">
              <a:defRPr sz="2000" b="0" i="0">
                <a:solidFill>
                  <a:schemeClr val="tx1"/>
                </a:solidFill>
                <a:latin typeface="Times New Roman"/>
                <a:ea typeface="+mn-ea"/>
                <a:cs typeface="Times New Roman"/>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467359" marR="5080" lvl="0" indent="-455295" algn="just" defTabSz="914400" eaLnBrk="1" fontAlgn="auto" latinLnBrk="0" hangingPunct="1">
              <a:lnSpc>
                <a:spcPct val="99400"/>
              </a:lnSpc>
              <a:spcBef>
                <a:spcPts val="114"/>
              </a:spcBef>
              <a:spcAft>
                <a:spcPts val="0"/>
              </a:spcAft>
              <a:buClrTx/>
              <a:buSzTx/>
              <a:buFontTx/>
              <a:buAutoNum type="arabicPeriod" startAt="7"/>
              <a:tabLst>
                <a:tab pos="469900" algn="l"/>
              </a:tabLst>
              <a:defRPr/>
            </a:pPr>
            <a:r>
              <a:rPr kumimoji="0" lang="en-IN" sz="2000" b="0" i="0" u="none" strike="noStrike" kern="0" cap="none" spc="0" normalizeH="0" baseline="0" noProof="0" dirty="0">
                <a:ln>
                  <a:noFill/>
                </a:ln>
                <a:solidFill>
                  <a:sysClr val="windowText" lastClr="000000"/>
                </a:solidFill>
                <a:effectLst/>
                <a:uLnTx/>
                <a:uFillTx/>
                <a:latin typeface="Times New Roman"/>
                <a:ea typeface="+mn-ea"/>
                <a:cs typeface="Times New Roman"/>
              </a:rPr>
              <a:t>R. Yunus et al., "Development and Testing of a Wearable Vibrotactile Haptic Feedback System for Proprioceptive Rehabilitation," in IEEE Access, vol. 8, pp. 35172-35184, 2020, </a:t>
            </a:r>
            <a:r>
              <a:rPr kumimoji="0" lang="en-IN" sz="2000" b="0" i="0" u="none" strike="noStrike" kern="0" cap="none" spc="0" normalizeH="0" baseline="0" noProof="0" dirty="0" err="1">
                <a:ln>
                  <a:noFill/>
                </a:ln>
                <a:solidFill>
                  <a:sysClr val="windowText" lastClr="000000"/>
                </a:solidFill>
                <a:effectLst/>
                <a:uLnTx/>
                <a:uFillTx/>
                <a:latin typeface="Times New Roman"/>
                <a:ea typeface="+mn-ea"/>
                <a:cs typeface="Times New Roman"/>
              </a:rPr>
              <a:t>doi</a:t>
            </a:r>
            <a:r>
              <a:rPr kumimoji="0" lang="en-IN" sz="2000" b="0" i="0" u="none" strike="noStrike" kern="0" cap="none" spc="0" normalizeH="0" baseline="0" noProof="0" dirty="0">
                <a:ln>
                  <a:noFill/>
                </a:ln>
                <a:solidFill>
                  <a:sysClr val="windowText" lastClr="000000"/>
                </a:solidFill>
                <a:effectLst/>
                <a:uLnTx/>
                <a:uFillTx/>
                <a:latin typeface="Times New Roman"/>
                <a:ea typeface="+mn-ea"/>
                <a:cs typeface="Times New Roman"/>
              </a:rPr>
              <a:t>: 10.1109/ACCESS.2020.2975149.</a:t>
            </a:r>
          </a:p>
          <a:p>
            <a:pPr marL="467359" marR="8890" lvl="0" indent="-455295" algn="just" defTabSz="914400" eaLnBrk="1" fontAlgn="auto" latinLnBrk="0" hangingPunct="1">
              <a:lnSpc>
                <a:spcPct val="99400"/>
              </a:lnSpc>
              <a:spcBef>
                <a:spcPts val="2210"/>
              </a:spcBef>
              <a:spcAft>
                <a:spcPts val="0"/>
              </a:spcAft>
              <a:buClrTx/>
              <a:buSzTx/>
              <a:buFontTx/>
              <a:buAutoNum type="arabicPeriod" startAt="7"/>
              <a:tabLst>
                <a:tab pos="469900" algn="l"/>
              </a:tabLst>
              <a:defRPr/>
            </a:pPr>
            <a:r>
              <a:rPr kumimoji="0" lang="en-IN" sz="2000" b="0" i="0" u="none" strike="noStrike" kern="0" cap="none" spc="0" normalizeH="0" baseline="0" noProof="0" dirty="0">
                <a:ln>
                  <a:noFill/>
                </a:ln>
                <a:solidFill>
                  <a:sysClr val="windowText" lastClr="000000"/>
                </a:solidFill>
                <a:effectLst/>
                <a:uLnTx/>
                <a:uFillTx/>
                <a:latin typeface="Times New Roman"/>
                <a:ea typeface="+mn-ea"/>
                <a:cs typeface="Times New Roman"/>
              </a:rPr>
              <a:t>S.</a:t>
            </a:r>
            <a:r>
              <a:rPr kumimoji="0" lang="en-IN" sz="2000" b="0" i="0" u="none" strike="noStrike" kern="0" cap="none" spc="75" normalizeH="0" baseline="0" noProof="0" dirty="0">
                <a:ln>
                  <a:noFill/>
                </a:ln>
                <a:solidFill>
                  <a:sysClr val="windowText" lastClr="000000"/>
                </a:solidFill>
                <a:effectLst/>
                <a:uLnTx/>
                <a:uFillTx/>
                <a:latin typeface="Times New Roman"/>
                <a:ea typeface="+mn-ea"/>
                <a:cs typeface="Times New Roman"/>
              </a:rPr>
              <a:t> </a:t>
            </a:r>
            <a:r>
              <a:rPr kumimoji="0" lang="en-IN" sz="2000" b="0" i="0" u="none" strike="noStrike" kern="0" cap="none" spc="0" normalizeH="0" baseline="0" noProof="0" dirty="0" err="1">
                <a:ln>
                  <a:noFill/>
                </a:ln>
                <a:solidFill>
                  <a:sysClr val="windowText" lastClr="000000"/>
                </a:solidFill>
                <a:effectLst/>
                <a:uLnTx/>
                <a:uFillTx/>
                <a:latin typeface="Times New Roman"/>
                <a:ea typeface="+mn-ea"/>
                <a:cs typeface="Times New Roman"/>
              </a:rPr>
              <a:t>Guptasarma</a:t>
            </a:r>
            <a:r>
              <a:rPr kumimoji="0" lang="en-IN" sz="2000" b="0" i="0" u="none" strike="noStrike" kern="0" cap="none" spc="90" normalizeH="0" baseline="0" noProof="0" dirty="0">
                <a:ln>
                  <a:noFill/>
                </a:ln>
                <a:solidFill>
                  <a:sysClr val="windowText" lastClr="000000"/>
                </a:solidFill>
                <a:effectLst/>
                <a:uLnTx/>
                <a:uFillTx/>
                <a:latin typeface="Times New Roman"/>
                <a:ea typeface="+mn-ea"/>
                <a:cs typeface="Times New Roman"/>
              </a:rPr>
              <a:t> </a:t>
            </a:r>
            <a:r>
              <a:rPr kumimoji="0" lang="en-IN" sz="2000" b="0" i="0" u="none" strike="noStrike" kern="0" cap="none" spc="0" normalizeH="0" baseline="0" noProof="0" dirty="0">
                <a:ln>
                  <a:noFill/>
                </a:ln>
                <a:solidFill>
                  <a:sysClr val="windowText" lastClr="000000"/>
                </a:solidFill>
                <a:effectLst/>
                <a:uLnTx/>
                <a:uFillTx/>
                <a:latin typeface="Times New Roman"/>
                <a:ea typeface="+mn-ea"/>
                <a:cs typeface="Times New Roman"/>
              </a:rPr>
              <a:t>and</a:t>
            </a:r>
            <a:r>
              <a:rPr kumimoji="0" lang="en-IN" sz="2000" b="0" i="0" u="none" strike="noStrike" kern="0" cap="none" spc="75" normalizeH="0" baseline="0" noProof="0" dirty="0">
                <a:ln>
                  <a:noFill/>
                </a:ln>
                <a:solidFill>
                  <a:sysClr val="windowText" lastClr="000000"/>
                </a:solidFill>
                <a:effectLst/>
                <a:uLnTx/>
                <a:uFillTx/>
                <a:latin typeface="Times New Roman"/>
                <a:ea typeface="+mn-ea"/>
                <a:cs typeface="Times New Roman"/>
              </a:rPr>
              <a:t> </a:t>
            </a:r>
            <a:r>
              <a:rPr kumimoji="0" lang="en-IN" sz="2000" b="0" i="0" u="none" strike="noStrike" kern="0" cap="none" spc="0" normalizeH="0" baseline="0" noProof="0" dirty="0">
                <a:ln>
                  <a:noFill/>
                </a:ln>
                <a:solidFill>
                  <a:sysClr val="windowText" lastClr="000000"/>
                </a:solidFill>
                <a:effectLst/>
                <a:uLnTx/>
                <a:uFillTx/>
                <a:latin typeface="Times New Roman"/>
                <a:ea typeface="+mn-ea"/>
                <a:cs typeface="Times New Roman"/>
              </a:rPr>
              <a:t>M.</a:t>
            </a:r>
            <a:r>
              <a:rPr kumimoji="0" lang="en-IN" sz="2000" b="0" i="0" u="none" strike="noStrike" kern="0" cap="none" spc="75" normalizeH="0" baseline="0" noProof="0" dirty="0">
                <a:ln>
                  <a:noFill/>
                </a:ln>
                <a:solidFill>
                  <a:sysClr val="windowText" lastClr="000000"/>
                </a:solidFill>
                <a:effectLst/>
                <a:uLnTx/>
                <a:uFillTx/>
                <a:latin typeface="Times New Roman"/>
                <a:ea typeface="+mn-ea"/>
                <a:cs typeface="Times New Roman"/>
              </a:rPr>
              <a:t> </a:t>
            </a:r>
            <a:r>
              <a:rPr kumimoji="0" lang="en-IN" sz="2000" b="0" i="0" u="none" strike="noStrike" kern="0" cap="none" spc="0" normalizeH="0" baseline="0" noProof="0" dirty="0">
                <a:ln>
                  <a:noFill/>
                </a:ln>
                <a:solidFill>
                  <a:sysClr val="windowText" lastClr="000000"/>
                </a:solidFill>
                <a:effectLst/>
                <a:uLnTx/>
                <a:uFillTx/>
                <a:latin typeface="Times New Roman"/>
                <a:ea typeface="+mn-ea"/>
                <a:cs typeface="Times New Roman"/>
              </a:rPr>
              <a:t>D.</a:t>
            </a:r>
            <a:r>
              <a:rPr kumimoji="0" lang="en-IN" sz="2000" b="0" i="0" u="none" strike="noStrike" kern="0" cap="none" spc="80" normalizeH="0" baseline="0" noProof="0" dirty="0">
                <a:ln>
                  <a:noFill/>
                </a:ln>
                <a:solidFill>
                  <a:sysClr val="windowText" lastClr="000000"/>
                </a:solidFill>
                <a:effectLst/>
                <a:uLnTx/>
                <a:uFillTx/>
                <a:latin typeface="Times New Roman"/>
                <a:ea typeface="+mn-ea"/>
                <a:cs typeface="Times New Roman"/>
              </a:rPr>
              <a:t> </a:t>
            </a:r>
            <a:r>
              <a:rPr kumimoji="0" lang="en-IN" sz="2000" b="0" i="0" u="none" strike="noStrike" kern="0" cap="none" spc="0" normalizeH="0" baseline="0" noProof="0" dirty="0">
                <a:ln>
                  <a:noFill/>
                </a:ln>
                <a:solidFill>
                  <a:sysClr val="windowText" lastClr="000000"/>
                </a:solidFill>
                <a:effectLst/>
                <a:uLnTx/>
                <a:uFillTx/>
                <a:latin typeface="Times New Roman"/>
                <a:ea typeface="+mn-ea"/>
                <a:cs typeface="Times New Roman"/>
              </a:rPr>
              <a:t>Kennedy,</a:t>
            </a:r>
            <a:r>
              <a:rPr kumimoji="0" lang="en-IN" sz="2000" b="0" i="0" u="none" strike="noStrike" kern="0" cap="none" spc="75" normalizeH="0" baseline="0" noProof="0" dirty="0">
                <a:ln>
                  <a:noFill/>
                </a:ln>
                <a:solidFill>
                  <a:sysClr val="windowText" lastClr="000000"/>
                </a:solidFill>
                <a:effectLst/>
                <a:uLnTx/>
                <a:uFillTx/>
                <a:latin typeface="Times New Roman"/>
                <a:ea typeface="+mn-ea"/>
                <a:cs typeface="Times New Roman"/>
              </a:rPr>
              <a:t> </a:t>
            </a:r>
            <a:r>
              <a:rPr kumimoji="0" lang="en-IN" sz="2000" b="0" i="0" u="none" strike="noStrike" kern="0" cap="none" spc="0" normalizeH="0" baseline="0" noProof="0" dirty="0">
                <a:ln>
                  <a:noFill/>
                </a:ln>
                <a:solidFill>
                  <a:sysClr val="windowText" lastClr="000000"/>
                </a:solidFill>
                <a:effectLst/>
                <a:uLnTx/>
                <a:uFillTx/>
                <a:latin typeface="Times New Roman"/>
                <a:ea typeface="+mn-ea"/>
                <a:cs typeface="Times New Roman"/>
              </a:rPr>
              <a:t>"</a:t>
            </a:r>
            <a:r>
              <a:rPr kumimoji="0" lang="en-IN" sz="2000" b="0" i="0" u="none" strike="noStrike" kern="0" cap="none" spc="0" normalizeH="0" baseline="0" noProof="0" dirty="0" err="1">
                <a:ln>
                  <a:noFill/>
                </a:ln>
                <a:solidFill>
                  <a:sysClr val="windowText" lastClr="000000"/>
                </a:solidFill>
                <a:effectLst/>
                <a:uLnTx/>
                <a:uFillTx/>
                <a:latin typeface="Times New Roman"/>
                <a:ea typeface="+mn-ea"/>
                <a:cs typeface="Times New Roman"/>
              </a:rPr>
              <a:t>ProACT</a:t>
            </a:r>
            <a:r>
              <a:rPr kumimoji="0" lang="en-IN" sz="2000" b="0" i="0" u="none" strike="noStrike" kern="0" cap="none" spc="0" normalizeH="0" baseline="0" noProof="0" dirty="0">
                <a:ln>
                  <a:noFill/>
                </a:ln>
                <a:solidFill>
                  <a:sysClr val="windowText" lastClr="000000"/>
                </a:solidFill>
                <a:effectLst/>
                <a:uLnTx/>
                <a:uFillTx/>
                <a:latin typeface="Times New Roman"/>
                <a:ea typeface="+mn-ea"/>
                <a:cs typeface="Times New Roman"/>
              </a:rPr>
              <a:t>:</a:t>
            </a:r>
            <a:r>
              <a:rPr kumimoji="0" lang="en-IN" sz="2000" b="0" i="0" u="none" strike="noStrike" kern="0" cap="none" spc="75" normalizeH="0" baseline="0" noProof="0" dirty="0">
                <a:ln>
                  <a:noFill/>
                </a:ln>
                <a:solidFill>
                  <a:sysClr val="windowText" lastClr="000000"/>
                </a:solidFill>
                <a:effectLst/>
                <a:uLnTx/>
                <a:uFillTx/>
                <a:latin typeface="Times New Roman"/>
                <a:ea typeface="+mn-ea"/>
                <a:cs typeface="Times New Roman"/>
              </a:rPr>
              <a:t> </a:t>
            </a:r>
            <a:r>
              <a:rPr kumimoji="0" lang="en-IN" sz="2000" b="0" i="0" u="none" strike="noStrike" kern="0" cap="none" spc="0" normalizeH="0" baseline="0" noProof="0" dirty="0">
                <a:ln>
                  <a:noFill/>
                </a:ln>
                <a:solidFill>
                  <a:sysClr val="windowText" lastClr="000000"/>
                </a:solidFill>
                <a:effectLst/>
                <a:uLnTx/>
                <a:uFillTx/>
                <a:latin typeface="Times New Roman"/>
                <a:ea typeface="+mn-ea"/>
                <a:cs typeface="Times New Roman"/>
              </a:rPr>
              <a:t>An</a:t>
            </a:r>
            <a:r>
              <a:rPr kumimoji="0" lang="en-IN" sz="2000" b="0" i="0" u="none" strike="noStrike" kern="0" cap="none" spc="75" normalizeH="0" baseline="0" noProof="0" dirty="0">
                <a:ln>
                  <a:noFill/>
                </a:ln>
                <a:solidFill>
                  <a:sysClr val="windowText" lastClr="000000"/>
                </a:solidFill>
                <a:effectLst/>
                <a:uLnTx/>
                <a:uFillTx/>
                <a:latin typeface="Times New Roman"/>
                <a:ea typeface="+mn-ea"/>
                <a:cs typeface="Times New Roman"/>
              </a:rPr>
              <a:t> </a:t>
            </a:r>
            <a:r>
              <a:rPr kumimoji="0" lang="en-IN" sz="2000" b="0" i="0" u="none" strike="noStrike" kern="0" cap="none" spc="0" normalizeH="0" baseline="0" noProof="0" dirty="0">
                <a:ln>
                  <a:noFill/>
                </a:ln>
                <a:solidFill>
                  <a:sysClr val="windowText" lastClr="000000"/>
                </a:solidFill>
                <a:effectLst/>
                <a:uLnTx/>
                <a:uFillTx/>
                <a:latin typeface="Times New Roman"/>
                <a:ea typeface="+mn-ea"/>
                <a:cs typeface="Times New Roman"/>
              </a:rPr>
              <a:t>Augmented</a:t>
            </a:r>
            <a:r>
              <a:rPr kumimoji="0" lang="en-IN" sz="2000" b="0" i="0" u="none" strike="noStrike" kern="0" cap="none" spc="75" normalizeH="0" baseline="0" noProof="0" dirty="0">
                <a:ln>
                  <a:noFill/>
                </a:ln>
                <a:solidFill>
                  <a:sysClr val="windowText" lastClr="000000"/>
                </a:solidFill>
                <a:effectLst/>
                <a:uLnTx/>
                <a:uFillTx/>
                <a:latin typeface="Times New Roman"/>
                <a:ea typeface="+mn-ea"/>
                <a:cs typeface="Times New Roman"/>
              </a:rPr>
              <a:t> </a:t>
            </a:r>
            <a:r>
              <a:rPr kumimoji="0" lang="en-IN" sz="2000" b="0" i="0" u="none" strike="noStrike" kern="0" cap="none" spc="-10" normalizeH="0" baseline="0" noProof="0" dirty="0">
                <a:ln>
                  <a:noFill/>
                </a:ln>
                <a:solidFill>
                  <a:sysClr val="windowText" lastClr="000000"/>
                </a:solidFill>
                <a:effectLst/>
                <a:uLnTx/>
                <a:uFillTx/>
                <a:latin typeface="Times New Roman"/>
                <a:ea typeface="+mn-ea"/>
                <a:cs typeface="Times New Roman"/>
              </a:rPr>
              <a:t>Reality 	</a:t>
            </a:r>
            <a:r>
              <a:rPr kumimoji="0" lang="en-IN" sz="2000" b="0" i="0" u="none" strike="noStrike" kern="0" cap="none" spc="0" normalizeH="0" baseline="0" noProof="0" dirty="0">
                <a:ln>
                  <a:noFill/>
                </a:ln>
                <a:solidFill>
                  <a:sysClr val="windowText" lastClr="000000"/>
                </a:solidFill>
                <a:effectLst/>
                <a:uLnTx/>
                <a:uFillTx/>
                <a:latin typeface="Times New Roman"/>
                <a:ea typeface="+mn-ea"/>
                <a:cs typeface="Times New Roman"/>
              </a:rPr>
              <a:t>Testbed</a:t>
            </a:r>
            <a:r>
              <a:rPr kumimoji="0" lang="en-IN" sz="2000" b="0" i="0" u="none" strike="noStrike" kern="0" cap="none" spc="20" normalizeH="0" baseline="0" noProof="0" dirty="0">
                <a:ln>
                  <a:noFill/>
                </a:ln>
                <a:solidFill>
                  <a:sysClr val="windowText" lastClr="000000"/>
                </a:solidFill>
                <a:effectLst/>
                <a:uLnTx/>
                <a:uFillTx/>
                <a:latin typeface="Times New Roman"/>
                <a:ea typeface="+mn-ea"/>
                <a:cs typeface="Times New Roman"/>
              </a:rPr>
              <a:t>  </a:t>
            </a:r>
            <a:r>
              <a:rPr kumimoji="0" lang="en-IN" sz="2000" b="0" i="0" u="none" strike="noStrike" kern="0" cap="none" spc="0" normalizeH="0" baseline="0" noProof="0" dirty="0">
                <a:ln>
                  <a:noFill/>
                </a:ln>
                <a:solidFill>
                  <a:sysClr val="windowText" lastClr="000000"/>
                </a:solidFill>
                <a:effectLst/>
                <a:uLnTx/>
                <a:uFillTx/>
                <a:latin typeface="Times New Roman"/>
                <a:ea typeface="+mn-ea"/>
                <a:cs typeface="Times New Roman"/>
              </a:rPr>
              <a:t>for</a:t>
            </a:r>
            <a:r>
              <a:rPr kumimoji="0" lang="en-IN" sz="2000" b="0" i="0" u="none" strike="noStrike" kern="0" cap="none" spc="15" normalizeH="0" baseline="0" noProof="0" dirty="0">
                <a:ln>
                  <a:noFill/>
                </a:ln>
                <a:solidFill>
                  <a:sysClr val="windowText" lastClr="000000"/>
                </a:solidFill>
                <a:effectLst/>
                <a:uLnTx/>
                <a:uFillTx/>
                <a:latin typeface="Times New Roman"/>
                <a:ea typeface="+mn-ea"/>
                <a:cs typeface="Times New Roman"/>
              </a:rPr>
              <a:t>  </a:t>
            </a:r>
            <a:r>
              <a:rPr kumimoji="0" lang="en-IN" sz="2000" b="0" i="0" u="none" strike="noStrike" kern="0" cap="none" spc="0" normalizeH="0" baseline="0" noProof="0" dirty="0">
                <a:ln>
                  <a:noFill/>
                </a:ln>
                <a:solidFill>
                  <a:sysClr val="windowText" lastClr="000000"/>
                </a:solidFill>
                <a:effectLst/>
                <a:uLnTx/>
                <a:uFillTx/>
                <a:latin typeface="Times New Roman"/>
                <a:ea typeface="+mn-ea"/>
                <a:cs typeface="Times New Roman"/>
              </a:rPr>
              <a:t>Intelligent</a:t>
            </a:r>
            <a:r>
              <a:rPr kumimoji="0" lang="en-IN" sz="2000" b="0" i="0" u="none" strike="noStrike" kern="0" cap="none" spc="25" normalizeH="0" baseline="0" noProof="0" dirty="0">
                <a:ln>
                  <a:noFill/>
                </a:ln>
                <a:solidFill>
                  <a:sysClr val="windowText" lastClr="000000"/>
                </a:solidFill>
                <a:effectLst/>
                <a:uLnTx/>
                <a:uFillTx/>
                <a:latin typeface="Times New Roman"/>
                <a:ea typeface="+mn-ea"/>
                <a:cs typeface="Times New Roman"/>
              </a:rPr>
              <a:t>  </a:t>
            </a:r>
            <a:r>
              <a:rPr kumimoji="0" lang="en-IN" sz="2000" b="0" i="0" u="none" strike="noStrike" kern="0" cap="none" spc="0" normalizeH="0" baseline="0" noProof="0" dirty="0">
                <a:ln>
                  <a:noFill/>
                </a:ln>
                <a:solidFill>
                  <a:sysClr val="windowText" lastClr="000000"/>
                </a:solidFill>
                <a:effectLst/>
                <a:uLnTx/>
                <a:uFillTx/>
                <a:latin typeface="Times New Roman"/>
                <a:ea typeface="+mn-ea"/>
                <a:cs typeface="Times New Roman"/>
              </a:rPr>
              <a:t>Prosthetic</a:t>
            </a:r>
            <a:r>
              <a:rPr kumimoji="0" lang="en-IN" sz="2000" b="0" i="0" u="none" strike="noStrike" kern="0" cap="none" spc="20" normalizeH="0" baseline="0" noProof="0" dirty="0">
                <a:ln>
                  <a:noFill/>
                </a:ln>
                <a:solidFill>
                  <a:sysClr val="windowText" lastClr="000000"/>
                </a:solidFill>
                <a:effectLst/>
                <a:uLnTx/>
                <a:uFillTx/>
                <a:latin typeface="Times New Roman"/>
                <a:ea typeface="+mn-ea"/>
                <a:cs typeface="Times New Roman"/>
              </a:rPr>
              <a:t>  </a:t>
            </a:r>
            <a:r>
              <a:rPr kumimoji="0" lang="en-IN" sz="2000" b="0" i="0" u="none" strike="noStrike" kern="0" cap="none" spc="0" normalizeH="0" baseline="0" noProof="0" dirty="0">
                <a:ln>
                  <a:noFill/>
                </a:ln>
                <a:solidFill>
                  <a:sysClr val="windowText" lastClr="000000"/>
                </a:solidFill>
                <a:effectLst/>
                <a:uLnTx/>
                <a:uFillTx/>
                <a:latin typeface="Times New Roman"/>
                <a:ea typeface="+mn-ea"/>
                <a:cs typeface="Times New Roman"/>
              </a:rPr>
              <a:t>Arms,"</a:t>
            </a:r>
            <a:r>
              <a:rPr kumimoji="0" lang="en-IN" sz="2000" b="0" i="0" u="none" strike="noStrike" kern="0" cap="none" spc="25" normalizeH="0" baseline="0" noProof="0" dirty="0">
                <a:ln>
                  <a:noFill/>
                </a:ln>
                <a:solidFill>
                  <a:sysClr val="windowText" lastClr="000000"/>
                </a:solidFill>
                <a:effectLst/>
                <a:uLnTx/>
                <a:uFillTx/>
                <a:latin typeface="Times New Roman"/>
                <a:ea typeface="+mn-ea"/>
                <a:cs typeface="Times New Roman"/>
              </a:rPr>
              <a:t>  </a:t>
            </a:r>
            <a:r>
              <a:rPr kumimoji="0" lang="en-IN" sz="2000" b="0" i="0" u="none" strike="noStrike" kern="0" cap="none" spc="0" normalizeH="0" baseline="0" noProof="0" dirty="0">
                <a:ln>
                  <a:noFill/>
                </a:ln>
                <a:solidFill>
                  <a:sysClr val="windowText" lastClr="000000"/>
                </a:solidFill>
                <a:effectLst/>
                <a:uLnTx/>
                <a:uFillTx/>
                <a:latin typeface="Times New Roman"/>
                <a:ea typeface="+mn-ea"/>
                <a:cs typeface="Times New Roman"/>
              </a:rPr>
              <a:t>in</a:t>
            </a:r>
            <a:r>
              <a:rPr kumimoji="0" lang="en-IN" sz="2000" b="0" i="0" u="none" strike="noStrike" kern="0" cap="none" spc="20" normalizeH="0" baseline="0" noProof="0" dirty="0">
                <a:ln>
                  <a:noFill/>
                </a:ln>
                <a:solidFill>
                  <a:sysClr val="windowText" lastClr="000000"/>
                </a:solidFill>
                <a:effectLst/>
                <a:uLnTx/>
                <a:uFillTx/>
                <a:latin typeface="Times New Roman"/>
                <a:ea typeface="+mn-ea"/>
                <a:cs typeface="Times New Roman"/>
              </a:rPr>
              <a:t>  </a:t>
            </a:r>
            <a:r>
              <a:rPr kumimoji="0" lang="en-IN" sz="2000" b="0" i="0" u="none" strike="noStrike" kern="0" cap="none" spc="0" normalizeH="0" baseline="0" noProof="0" dirty="0">
                <a:ln>
                  <a:noFill/>
                </a:ln>
                <a:solidFill>
                  <a:sysClr val="windowText" lastClr="000000"/>
                </a:solidFill>
                <a:effectLst/>
                <a:uLnTx/>
                <a:uFillTx/>
                <a:latin typeface="Times New Roman"/>
                <a:ea typeface="+mn-ea"/>
                <a:cs typeface="Times New Roman"/>
              </a:rPr>
              <a:t>IEEE</a:t>
            </a:r>
            <a:r>
              <a:rPr kumimoji="0" lang="en-IN" sz="2000" b="0" i="0" u="none" strike="noStrike" kern="0" cap="none" spc="15" normalizeH="0" baseline="0" noProof="0" dirty="0">
                <a:ln>
                  <a:noFill/>
                </a:ln>
                <a:solidFill>
                  <a:sysClr val="windowText" lastClr="000000"/>
                </a:solidFill>
                <a:effectLst/>
                <a:uLnTx/>
                <a:uFillTx/>
                <a:latin typeface="Times New Roman"/>
                <a:ea typeface="+mn-ea"/>
                <a:cs typeface="Times New Roman"/>
              </a:rPr>
              <a:t>  </a:t>
            </a:r>
            <a:r>
              <a:rPr kumimoji="0" lang="en-IN" sz="2000" b="0" i="0" u="none" strike="noStrike" kern="0" cap="none" spc="0" normalizeH="0" baseline="0" noProof="0" dirty="0">
                <a:ln>
                  <a:noFill/>
                </a:ln>
                <a:solidFill>
                  <a:sysClr val="windowText" lastClr="000000"/>
                </a:solidFill>
                <a:effectLst/>
                <a:uLnTx/>
                <a:uFillTx/>
                <a:latin typeface="Times New Roman"/>
                <a:ea typeface="+mn-ea"/>
                <a:cs typeface="Times New Roman"/>
              </a:rPr>
              <a:t>Transactions</a:t>
            </a:r>
            <a:r>
              <a:rPr kumimoji="0" lang="en-IN" sz="2000" b="0" i="0" u="none" strike="noStrike" kern="0" cap="none" spc="20" normalizeH="0" baseline="0" noProof="0" dirty="0">
                <a:ln>
                  <a:noFill/>
                </a:ln>
                <a:solidFill>
                  <a:sysClr val="windowText" lastClr="000000"/>
                </a:solidFill>
                <a:effectLst/>
                <a:uLnTx/>
                <a:uFillTx/>
                <a:latin typeface="Times New Roman"/>
                <a:ea typeface="+mn-ea"/>
                <a:cs typeface="Times New Roman"/>
              </a:rPr>
              <a:t>  </a:t>
            </a:r>
            <a:r>
              <a:rPr kumimoji="0" lang="en-IN" sz="2000" b="0" i="0" u="none" strike="noStrike" kern="0" cap="none" spc="-25" normalizeH="0" baseline="0" noProof="0" dirty="0">
                <a:ln>
                  <a:noFill/>
                </a:ln>
                <a:solidFill>
                  <a:sysClr val="windowText" lastClr="000000"/>
                </a:solidFill>
                <a:effectLst/>
                <a:uLnTx/>
                <a:uFillTx/>
                <a:latin typeface="Times New Roman"/>
                <a:ea typeface="+mn-ea"/>
                <a:cs typeface="Times New Roman"/>
              </a:rPr>
              <a:t>on 	</a:t>
            </a:r>
            <a:r>
              <a:rPr kumimoji="0" lang="en-IN" sz="2000" b="0" i="0" u="none" strike="noStrike" kern="0" cap="none" spc="0" normalizeH="0" baseline="0" noProof="0" dirty="0">
                <a:ln>
                  <a:noFill/>
                </a:ln>
                <a:solidFill>
                  <a:sysClr val="windowText" lastClr="000000"/>
                </a:solidFill>
                <a:effectLst/>
                <a:uLnTx/>
                <a:uFillTx/>
                <a:latin typeface="Times New Roman"/>
                <a:ea typeface="+mn-ea"/>
                <a:cs typeface="Times New Roman"/>
              </a:rPr>
              <a:t>Neural</a:t>
            </a:r>
            <a:r>
              <a:rPr kumimoji="0" lang="en-IN" sz="2000" b="0" i="0" u="none" strike="noStrike" kern="0" cap="none" spc="160" normalizeH="0" baseline="0" noProof="0" dirty="0">
                <a:ln>
                  <a:noFill/>
                </a:ln>
                <a:solidFill>
                  <a:sysClr val="windowText" lastClr="000000"/>
                </a:solidFill>
                <a:effectLst/>
                <a:uLnTx/>
                <a:uFillTx/>
                <a:latin typeface="Times New Roman"/>
                <a:ea typeface="+mn-ea"/>
                <a:cs typeface="Times New Roman"/>
              </a:rPr>
              <a:t> </a:t>
            </a:r>
            <a:r>
              <a:rPr kumimoji="0" lang="en-IN" sz="2000" b="0" i="0" u="none" strike="noStrike" kern="0" cap="none" spc="0" normalizeH="0" baseline="0" noProof="0" dirty="0">
                <a:ln>
                  <a:noFill/>
                </a:ln>
                <a:solidFill>
                  <a:sysClr val="windowText" lastClr="000000"/>
                </a:solidFill>
                <a:effectLst/>
                <a:uLnTx/>
                <a:uFillTx/>
                <a:latin typeface="Times New Roman"/>
                <a:ea typeface="+mn-ea"/>
                <a:cs typeface="Times New Roman"/>
              </a:rPr>
              <a:t>Systems</a:t>
            </a:r>
            <a:r>
              <a:rPr kumimoji="0" lang="en-IN" sz="2000" b="0" i="0" u="none" strike="noStrike" kern="0" cap="none" spc="165" normalizeH="0" baseline="0" noProof="0" dirty="0">
                <a:ln>
                  <a:noFill/>
                </a:ln>
                <a:solidFill>
                  <a:sysClr val="windowText" lastClr="000000"/>
                </a:solidFill>
                <a:effectLst/>
                <a:uLnTx/>
                <a:uFillTx/>
                <a:latin typeface="Times New Roman"/>
                <a:ea typeface="+mn-ea"/>
                <a:cs typeface="Times New Roman"/>
              </a:rPr>
              <a:t> </a:t>
            </a:r>
            <a:r>
              <a:rPr kumimoji="0" lang="en-IN" sz="2000" b="0" i="0" u="none" strike="noStrike" kern="0" cap="none" spc="0" normalizeH="0" baseline="0" noProof="0" dirty="0">
                <a:ln>
                  <a:noFill/>
                </a:ln>
                <a:solidFill>
                  <a:sysClr val="windowText" lastClr="000000"/>
                </a:solidFill>
                <a:effectLst/>
                <a:uLnTx/>
                <a:uFillTx/>
                <a:latin typeface="Times New Roman"/>
                <a:ea typeface="+mn-ea"/>
                <a:cs typeface="Times New Roman"/>
              </a:rPr>
              <a:t>and</a:t>
            </a:r>
            <a:r>
              <a:rPr kumimoji="0" lang="en-IN" sz="2000" b="0" i="0" u="none" strike="noStrike" kern="0" cap="none" spc="165" normalizeH="0" baseline="0" noProof="0" dirty="0">
                <a:ln>
                  <a:noFill/>
                </a:ln>
                <a:solidFill>
                  <a:sysClr val="windowText" lastClr="000000"/>
                </a:solidFill>
                <a:effectLst/>
                <a:uLnTx/>
                <a:uFillTx/>
                <a:latin typeface="Times New Roman"/>
                <a:ea typeface="+mn-ea"/>
                <a:cs typeface="Times New Roman"/>
              </a:rPr>
              <a:t> </a:t>
            </a:r>
            <a:r>
              <a:rPr kumimoji="0" lang="en-IN" sz="2000" b="0" i="0" u="none" strike="noStrike" kern="0" cap="none" spc="0" normalizeH="0" baseline="0" noProof="0" dirty="0">
                <a:ln>
                  <a:noFill/>
                </a:ln>
                <a:solidFill>
                  <a:sysClr val="windowText" lastClr="000000"/>
                </a:solidFill>
                <a:effectLst/>
                <a:uLnTx/>
                <a:uFillTx/>
                <a:latin typeface="Times New Roman"/>
                <a:ea typeface="+mn-ea"/>
                <a:cs typeface="Times New Roman"/>
              </a:rPr>
              <a:t>Rehabilitation</a:t>
            </a:r>
            <a:r>
              <a:rPr kumimoji="0" lang="en-IN" sz="2000" b="0" i="0" u="none" strike="noStrike" kern="0" cap="none" spc="175" normalizeH="0" baseline="0" noProof="0" dirty="0">
                <a:ln>
                  <a:noFill/>
                </a:ln>
                <a:solidFill>
                  <a:sysClr val="windowText" lastClr="000000"/>
                </a:solidFill>
                <a:effectLst/>
                <a:uLnTx/>
                <a:uFillTx/>
                <a:latin typeface="Times New Roman"/>
                <a:ea typeface="+mn-ea"/>
                <a:cs typeface="Times New Roman"/>
              </a:rPr>
              <a:t> </a:t>
            </a:r>
            <a:r>
              <a:rPr kumimoji="0" lang="en-IN" sz="2000" b="0" i="0" u="none" strike="noStrike" kern="0" cap="none" spc="0" normalizeH="0" baseline="0" noProof="0" dirty="0">
                <a:ln>
                  <a:noFill/>
                </a:ln>
                <a:solidFill>
                  <a:sysClr val="windowText" lastClr="000000"/>
                </a:solidFill>
                <a:effectLst/>
                <a:uLnTx/>
                <a:uFillTx/>
                <a:latin typeface="Times New Roman"/>
                <a:ea typeface="+mn-ea"/>
                <a:cs typeface="Times New Roman"/>
              </a:rPr>
              <a:t>Engineering,</a:t>
            </a:r>
            <a:r>
              <a:rPr kumimoji="0" lang="en-IN" sz="2000" b="0" i="0" u="none" strike="noStrike" kern="0" cap="none" spc="165" normalizeH="0" baseline="0" noProof="0" dirty="0">
                <a:ln>
                  <a:noFill/>
                </a:ln>
                <a:solidFill>
                  <a:sysClr val="windowText" lastClr="000000"/>
                </a:solidFill>
                <a:effectLst/>
                <a:uLnTx/>
                <a:uFillTx/>
                <a:latin typeface="Times New Roman"/>
                <a:ea typeface="+mn-ea"/>
                <a:cs typeface="Times New Roman"/>
              </a:rPr>
              <a:t> </a:t>
            </a:r>
            <a:r>
              <a:rPr kumimoji="0" lang="en-IN" sz="2000" b="0" i="0" u="none" strike="noStrike" kern="0" cap="none" spc="0" normalizeH="0" baseline="0" noProof="0" dirty="0">
                <a:ln>
                  <a:noFill/>
                </a:ln>
                <a:solidFill>
                  <a:sysClr val="windowText" lastClr="000000"/>
                </a:solidFill>
                <a:effectLst/>
                <a:uLnTx/>
                <a:uFillTx/>
                <a:latin typeface="Times New Roman"/>
                <a:ea typeface="+mn-ea"/>
                <a:cs typeface="Times New Roman"/>
              </a:rPr>
              <a:t>vol.</a:t>
            </a:r>
            <a:r>
              <a:rPr kumimoji="0" lang="en-IN" sz="2000" b="0" i="0" u="none" strike="noStrike" kern="0" cap="none" spc="150" normalizeH="0" baseline="0" noProof="0" dirty="0">
                <a:ln>
                  <a:noFill/>
                </a:ln>
                <a:solidFill>
                  <a:sysClr val="windowText" lastClr="000000"/>
                </a:solidFill>
                <a:effectLst/>
                <a:uLnTx/>
                <a:uFillTx/>
                <a:latin typeface="Times New Roman"/>
                <a:ea typeface="+mn-ea"/>
                <a:cs typeface="Times New Roman"/>
              </a:rPr>
              <a:t> </a:t>
            </a:r>
            <a:r>
              <a:rPr kumimoji="0" lang="en-IN" sz="2000" b="0" i="0" u="none" strike="noStrike" kern="0" cap="none" spc="0" normalizeH="0" baseline="0" noProof="0" dirty="0">
                <a:ln>
                  <a:noFill/>
                </a:ln>
                <a:solidFill>
                  <a:sysClr val="windowText" lastClr="000000"/>
                </a:solidFill>
                <a:effectLst/>
                <a:uLnTx/>
                <a:uFillTx/>
                <a:latin typeface="Times New Roman"/>
                <a:ea typeface="+mn-ea"/>
                <a:cs typeface="Times New Roman"/>
              </a:rPr>
              <a:t>33,</a:t>
            </a:r>
            <a:r>
              <a:rPr kumimoji="0" lang="en-IN" sz="2000" b="0" i="0" u="none" strike="noStrike" kern="0" cap="none" spc="150" normalizeH="0" baseline="0" noProof="0" dirty="0">
                <a:ln>
                  <a:noFill/>
                </a:ln>
                <a:solidFill>
                  <a:sysClr val="windowText" lastClr="000000"/>
                </a:solidFill>
                <a:effectLst/>
                <a:uLnTx/>
                <a:uFillTx/>
                <a:latin typeface="Times New Roman"/>
                <a:ea typeface="+mn-ea"/>
                <a:cs typeface="Times New Roman"/>
              </a:rPr>
              <a:t> </a:t>
            </a:r>
            <a:r>
              <a:rPr kumimoji="0" lang="en-IN" sz="2000" b="0" i="0" u="none" strike="noStrike" kern="0" cap="none" spc="0" normalizeH="0" baseline="0" noProof="0" dirty="0">
                <a:ln>
                  <a:noFill/>
                </a:ln>
                <a:solidFill>
                  <a:sysClr val="windowText" lastClr="000000"/>
                </a:solidFill>
                <a:effectLst/>
                <a:uLnTx/>
                <a:uFillTx/>
                <a:latin typeface="Times New Roman"/>
                <a:ea typeface="+mn-ea"/>
                <a:cs typeface="Times New Roman"/>
              </a:rPr>
              <a:t>pp.</a:t>
            </a:r>
            <a:r>
              <a:rPr kumimoji="0" lang="en-IN" sz="2000" b="0" i="0" u="none" strike="noStrike" kern="0" cap="none" spc="155" normalizeH="0" baseline="0" noProof="0" dirty="0">
                <a:ln>
                  <a:noFill/>
                </a:ln>
                <a:solidFill>
                  <a:sysClr val="windowText" lastClr="000000"/>
                </a:solidFill>
                <a:effectLst/>
                <a:uLnTx/>
                <a:uFillTx/>
                <a:latin typeface="Times New Roman"/>
                <a:ea typeface="+mn-ea"/>
                <a:cs typeface="Times New Roman"/>
              </a:rPr>
              <a:t> </a:t>
            </a:r>
            <a:r>
              <a:rPr kumimoji="0" lang="en-IN" sz="2000" b="0" i="0" u="none" strike="noStrike" kern="0" cap="none" spc="0" normalizeH="0" baseline="0" noProof="0" dirty="0">
                <a:ln>
                  <a:noFill/>
                </a:ln>
                <a:solidFill>
                  <a:sysClr val="windowText" lastClr="000000"/>
                </a:solidFill>
                <a:effectLst/>
                <a:uLnTx/>
                <a:uFillTx/>
                <a:latin typeface="Times New Roman"/>
                <a:ea typeface="+mn-ea"/>
                <a:cs typeface="Times New Roman"/>
              </a:rPr>
              <a:t>354-</a:t>
            </a:r>
            <a:r>
              <a:rPr kumimoji="0" lang="en-IN" sz="2000" b="0" i="0" u="none" strike="noStrike" kern="0" cap="none" spc="-20" normalizeH="0" baseline="0" noProof="0" dirty="0">
                <a:ln>
                  <a:noFill/>
                </a:ln>
                <a:solidFill>
                  <a:sysClr val="windowText" lastClr="000000"/>
                </a:solidFill>
                <a:effectLst/>
                <a:uLnTx/>
                <a:uFillTx/>
                <a:latin typeface="Times New Roman"/>
                <a:ea typeface="+mn-ea"/>
                <a:cs typeface="Times New Roman"/>
              </a:rPr>
              <a:t>365, 	</a:t>
            </a:r>
            <a:r>
              <a:rPr kumimoji="0" lang="en-IN" sz="2000" b="0" i="0" u="none" strike="noStrike" kern="0" cap="none" spc="0" normalizeH="0" baseline="0" noProof="0" dirty="0">
                <a:ln>
                  <a:noFill/>
                </a:ln>
                <a:solidFill>
                  <a:sysClr val="windowText" lastClr="000000"/>
                </a:solidFill>
                <a:effectLst/>
                <a:uLnTx/>
                <a:uFillTx/>
                <a:latin typeface="Times New Roman"/>
                <a:ea typeface="+mn-ea"/>
                <a:cs typeface="Times New Roman"/>
              </a:rPr>
              <a:t>2025,</a:t>
            </a:r>
            <a:r>
              <a:rPr kumimoji="0" lang="en-IN" sz="2000" b="0" i="0" u="none" strike="noStrike" kern="0" cap="none" spc="-10" normalizeH="0" baseline="0" noProof="0" dirty="0">
                <a:ln>
                  <a:noFill/>
                </a:ln>
                <a:solidFill>
                  <a:sysClr val="windowText" lastClr="000000"/>
                </a:solidFill>
                <a:effectLst/>
                <a:uLnTx/>
                <a:uFillTx/>
                <a:latin typeface="Times New Roman"/>
                <a:ea typeface="+mn-ea"/>
                <a:cs typeface="Times New Roman"/>
              </a:rPr>
              <a:t> </a:t>
            </a:r>
            <a:r>
              <a:rPr kumimoji="0" lang="en-IN" sz="2000" b="0" i="0" u="none" strike="noStrike" kern="0" cap="none" spc="0" normalizeH="0" baseline="0" noProof="0" dirty="0" err="1">
                <a:ln>
                  <a:noFill/>
                </a:ln>
                <a:solidFill>
                  <a:sysClr val="windowText" lastClr="000000"/>
                </a:solidFill>
                <a:effectLst/>
                <a:uLnTx/>
                <a:uFillTx/>
                <a:latin typeface="Times New Roman"/>
                <a:ea typeface="+mn-ea"/>
                <a:cs typeface="Times New Roman"/>
              </a:rPr>
              <a:t>doi</a:t>
            </a:r>
            <a:r>
              <a:rPr kumimoji="0" lang="en-IN" sz="2000" b="0" i="0" u="none" strike="noStrike" kern="0" cap="none" spc="0" normalizeH="0" baseline="0" noProof="0" dirty="0">
                <a:ln>
                  <a:noFill/>
                </a:ln>
                <a:solidFill>
                  <a:sysClr val="windowText" lastClr="000000"/>
                </a:solidFill>
                <a:effectLst/>
                <a:uLnTx/>
                <a:uFillTx/>
                <a:latin typeface="Times New Roman"/>
                <a:ea typeface="+mn-ea"/>
                <a:cs typeface="Times New Roman"/>
              </a:rPr>
              <a:t>:</a:t>
            </a:r>
            <a:r>
              <a:rPr kumimoji="0" lang="en-IN" sz="2000" b="0" i="0" u="none" strike="noStrike" kern="0" cap="none" spc="-5" normalizeH="0" baseline="0" noProof="0" dirty="0">
                <a:ln>
                  <a:noFill/>
                </a:ln>
                <a:solidFill>
                  <a:sysClr val="windowText" lastClr="000000"/>
                </a:solidFill>
                <a:effectLst/>
                <a:uLnTx/>
                <a:uFillTx/>
                <a:latin typeface="Times New Roman"/>
                <a:ea typeface="+mn-ea"/>
                <a:cs typeface="Times New Roman"/>
              </a:rPr>
              <a:t> </a:t>
            </a:r>
            <a:r>
              <a:rPr kumimoji="0" lang="en-IN" sz="2000" b="0" i="0" u="none" strike="noStrike" kern="0" cap="none" spc="-10" normalizeH="0" baseline="0" noProof="0" dirty="0">
                <a:ln>
                  <a:noFill/>
                </a:ln>
                <a:solidFill>
                  <a:sysClr val="windowText" lastClr="000000"/>
                </a:solidFill>
                <a:effectLst/>
                <a:uLnTx/>
                <a:uFillTx/>
                <a:latin typeface="Times New Roman"/>
                <a:ea typeface="+mn-ea"/>
                <a:cs typeface="Times New Roman"/>
              </a:rPr>
              <a:t>10.1109/TNSRE.2024.3521923.</a:t>
            </a:r>
          </a:p>
          <a:p>
            <a:pPr marL="467995" marR="10795" lvl="0" indent="-455930" defTabSz="914400" eaLnBrk="1" fontAlgn="auto" latinLnBrk="0" hangingPunct="1">
              <a:lnSpc>
                <a:spcPct val="99400"/>
              </a:lnSpc>
              <a:spcBef>
                <a:spcPts val="2205"/>
              </a:spcBef>
              <a:spcAft>
                <a:spcPts val="0"/>
              </a:spcAft>
              <a:buClrTx/>
              <a:buSzTx/>
              <a:buFontTx/>
              <a:buAutoNum type="arabicPeriod" startAt="7"/>
              <a:tabLst>
                <a:tab pos="469900" algn="l"/>
                <a:tab pos="1609725" algn="l"/>
                <a:tab pos="1903730" algn="l"/>
                <a:tab pos="2014220" algn="l"/>
                <a:tab pos="2284095" algn="l"/>
                <a:tab pos="2432050" algn="l"/>
                <a:tab pos="2710815" algn="l"/>
                <a:tab pos="2734945" algn="l"/>
                <a:tab pos="3041015" algn="l"/>
                <a:tab pos="3433445" algn="l"/>
                <a:tab pos="3602990" algn="l"/>
                <a:tab pos="3936365" algn="l"/>
                <a:tab pos="4123690" algn="l"/>
                <a:tab pos="4258310" algn="l"/>
                <a:tab pos="4544060" algn="l"/>
                <a:tab pos="4878705" algn="l"/>
                <a:tab pos="5056505" algn="l"/>
                <a:tab pos="5244465" algn="l"/>
                <a:tab pos="5389245" algn="l"/>
                <a:tab pos="5487035" algn="l"/>
                <a:tab pos="6170930" algn="l"/>
                <a:tab pos="6635115" algn="l"/>
                <a:tab pos="7228205" algn="l"/>
                <a:tab pos="7372984" algn="l"/>
              </a:tabLst>
              <a:defRPr/>
            </a:pPr>
            <a:r>
              <a:rPr kumimoji="0" lang="en-IN" sz="2000" b="0" i="0" u="none" strike="noStrike" kern="0" cap="none" spc="-10" normalizeH="0" baseline="0" noProof="0" dirty="0">
                <a:ln>
                  <a:noFill/>
                </a:ln>
                <a:solidFill>
                  <a:sysClr val="windowText" lastClr="000000"/>
                </a:solidFill>
                <a:effectLst/>
                <a:uLnTx/>
                <a:uFillTx/>
                <a:latin typeface="Times New Roman"/>
                <a:ea typeface="+mn-ea"/>
                <a:cs typeface="Times New Roman"/>
              </a:rPr>
              <a:t>Alvarado,</a:t>
            </a:r>
            <a:r>
              <a:rPr kumimoji="0" lang="en-IN" sz="2000" b="0" i="0" u="none" strike="noStrike" kern="0" cap="none" spc="0" normalizeH="0" baseline="0" noProof="0" dirty="0">
                <a:ln>
                  <a:noFill/>
                </a:ln>
                <a:solidFill>
                  <a:sysClr val="windowText" lastClr="000000"/>
                </a:solidFill>
                <a:effectLst/>
                <a:uLnTx/>
                <a:uFillTx/>
                <a:latin typeface="Times New Roman"/>
                <a:ea typeface="+mn-ea"/>
                <a:cs typeface="Times New Roman"/>
              </a:rPr>
              <a:t>	</a:t>
            </a:r>
            <a:r>
              <a:rPr kumimoji="0" lang="en-IN" sz="2000" b="0" i="0" u="none" strike="noStrike" kern="0" cap="none" spc="-25" normalizeH="0" baseline="0" noProof="0" dirty="0">
                <a:ln>
                  <a:noFill/>
                </a:ln>
                <a:solidFill>
                  <a:sysClr val="windowText" lastClr="000000"/>
                </a:solidFill>
                <a:effectLst/>
                <a:uLnTx/>
                <a:uFillTx/>
                <a:latin typeface="Times New Roman"/>
                <a:ea typeface="+mn-ea"/>
                <a:cs typeface="Times New Roman"/>
              </a:rPr>
              <a:t>J.</a:t>
            </a:r>
            <a:r>
              <a:rPr kumimoji="0" lang="en-IN" sz="2000" b="0" i="0" u="none" strike="noStrike" kern="0" cap="none" spc="0" normalizeH="0" baseline="0" noProof="0" dirty="0">
                <a:ln>
                  <a:noFill/>
                </a:ln>
                <a:solidFill>
                  <a:sysClr val="windowText" lastClr="000000"/>
                </a:solidFill>
                <a:effectLst/>
                <a:uLnTx/>
                <a:uFillTx/>
                <a:latin typeface="Times New Roman"/>
                <a:ea typeface="+mn-ea"/>
                <a:cs typeface="Times New Roman"/>
              </a:rPr>
              <a:t>	</a:t>
            </a:r>
            <a:r>
              <a:rPr kumimoji="0" lang="en-IN" sz="2000" b="0" i="0" u="none" strike="noStrike" kern="0" cap="none" spc="-25" normalizeH="0" baseline="0" noProof="0" dirty="0">
                <a:ln>
                  <a:noFill/>
                </a:ln>
                <a:solidFill>
                  <a:sysClr val="windowText" lastClr="000000"/>
                </a:solidFill>
                <a:effectLst/>
                <a:uLnTx/>
                <a:uFillTx/>
                <a:latin typeface="Times New Roman"/>
                <a:ea typeface="+mn-ea"/>
                <a:cs typeface="Times New Roman"/>
              </a:rPr>
              <a:t>A.</a:t>
            </a:r>
            <a:r>
              <a:rPr kumimoji="0" lang="en-IN" sz="2000" b="0" i="0" u="none" strike="noStrike" kern="0" cap="none" spc="0" normalizeH="0" baseline="0" noProof="0" dirty="0">
                <a:ln>
                  <a:noFill/>
                </a:ln>
                <a:solidFill>
                  <a:sysClr val="windowText" lastClr="000000"/>
                </a:solidFill>
                <a:effectLst/>
                <a:uLnTx/>
                <a:uFillTx/>
                <a:latin typeface="Times New Roman"/>
                <a:ea typeface="+mn-ea"/>
                <a:cs typeface="Times New Roman"/>
              </a:rPr>
              <a:t>	</a:t>
            </a:r>
            <a:r>
              <a:rPr kumimoji="0" lang="en-IN" sz="2000" b="0" i="0" u="none" strike="noStrike" kern="0" cap="none" spc="-25" normalizeH="0" baseline="0" noProof="0" dirty="0">
                <a:ln>
                  <a:noFill/>
                </a:ln>
                <a:solidFill>
                  <a:sysClr val="windowText" lastClr="000000"/>
                </a:solidFill>
                <a:effectLst/>
                <a:uLnTx/>
                <a:uFillTx/>
                <a:latin typeface="Times New Roman"/>
                <a:ea typeface="+mn-ea"/>
                <a:cs typeface="Times New Roman"/>
              </a:rPr>
              <a:t>C.,</a:t>
            </a:r>
            <a:r>
              <a:rPr kumimoji="0" lang="en-IN" sz="2000" b="0" i="0" u="none" strike="noStrike" kern="0" cap="none" spc="0" normalizeH="0" baseline="0" noProof="0" dirty="0">
                <a:ln>
                  <a:noFill/>
                </a:ln>
                <a:solidFill>
                  <a:sysClr val="windowText" lastClr="000000"/>
                </a:solidFill>
                <a:effectLst/>
                <a:uLnTx/>
                <a:uFillTx/>
                <a:latin typeface="Times New Roman"/>
                <a:ea typeface="+mn-ea"/>
                <a:cs typeface="Times New Roman"/>
              </a:rPr>
              <a:t>	</a:t>
            </a:r>
            <a:r>
              <a:rPr kumimoji="0" lang="en-IN" sz="2000" b="0" i="0" u="none" strike="noStrike" kern="0" cap="none" spc="-50" normalizeH="0" baseline="0" noProof="0" dirty="0">
                <a:ln>
                  <a:noFill/>
                </a:ln>
                <a:solidFill>
                  <a:sysClr val="windowText" lastClr="000000"/>
                </a:solidFill>
                <a:effectLst/>
                <a:uLnTx/>
                <a:uFillTx/>
                <a:latin typeface="Times New Roman"/>
                <a:ea typeface="+mn-ea"/>
                <a:cs typeface="Times New Roman"/>
              </a:rPr>
              <a:t>&amp;</a:t>
            </a:r>
            <a:r>
              <a:rPr kumimoji="0" lang="en-IN" sz="2000" b="0" i="0" u="none" strike="noStrike" kern="0" cap="none" spc="0" normalizeH="0" baseline="0" noProof="0" dirty="0">
                <a:ln>
                  <a:noFill/>
                </a:ln>
                <a:solidFill>
                  <a:sysClr val="windowText" lastClr="000000"/>
                </a:solidFill>
                <a:effectLst/>
                <a:uLnTx/>
                <a:uFillTx/>
                <a:latin typeface="Times New Roman"/>
                <a:ea typeface="+mn-ea"/>
                <a:cs typeface="Times New Roman"/>
              </a:rPr>
              <a:t>	</a:t>
            </a:r>
            <a:r>
              <a:rPr kumimoji="0" lang="en-IN" sz="2000" b="0" i="0" u="none" strike="noStrike" kern="0" cap="none" spc="-10" normalizeH="0" baseline="0" noProof="0" dirty="0">
                <a:ln>
                  <a:noFill/>
                </a:ln>
                <a:solidFill>
                  <a:sysClr val="windowText" lastClr="000000"/>
                </a:solidFill>
                <a:effectLst/>
                <a:uLnTx/>
                <a:uFillTx/>
                <a:latin typeface="Times New Roman"/>
                <a:ea typeface="+mn-ea"/>
                <a:cs typeface="Times New Roman"/>
              </a:rPr>
              <a:t>Balderas,</a:t>
            </a:r>
            <a:r>
              <a:rPr kumimoji="0" lang="en-IN" sz="2000" b="0" i="0" u="none" strike="noStrike" kern="0" cap="none" spc="0" normalizeH="0" baseline="0" noProof="0" dirty="0">
                <a:ln>
                  <a:noFill/>
                </a:ln>
                <a:solidFill>
                  <a:sysClr val="windowText" lastClr="000000"/>
                </a:solidFill>
                <a:effectLst/>
                <a:uLnTx/>
                <a:uFillTx/>
                <a:latin typeface="Times New Roman"/>
                <a:ea typeface="+mn-ea"/>
                <a:cs typeface="Times New Roman"/>
              </a:rPr>
              <a:t>	</a:t>
            </a:r>
            <a:r>
              <a:rPr kumimoji="0" lang="en-IN" sz="2000" b="0" i="0" u="none" strike="noStrike" kern="0" cap="none" spc="-25" normalizeH="0" baseline="0" noProof="0" dirty="0">
                <a:ln>
                  <a:noFill/>
                </a:ln>
                <a:solidFill>
                  <a:sysClr val="windowText" lastClr="000000"/>
                </a:solidFill>
                <a:effectLst/>
                <a:uLnTx/>
                <a:uFillTx/>
                <a:latin typeface="Times New Roman"/>
                <a:ea typeface="+mn-ea"/>
                <a:cs typeface="Times New Roman"/>
              </a:rPr>
              <a:t>M.</a:t>
            </a:r>
            <a:r>
              <a:rPr kumimoji="0" lang="en-IN" sz="2000" b="0" i="0" u="none" strike="noStrike" kern="0" cap="none" spc="0" normalizeH="0" baseline="0" noProof="0" dirty="0">
                <a:ln>
                  <a:noFill/>
                </a:ln>
                <a:solidFill>
                  <a:sysClr val="windowText" lastClr="000000"/>
                </a:solidFill>
                <a:effectLst/>
                <a:uLnTx/>
                <a:uFillTx/>
                <a:latin typeface="Times New Roman"/>
                <a:ea typeface="+mn-ea"/>
                <a:cs typeface="Times New Roman"/>
              </a:rPr>
              <a:t>	</a:t>
            </a:r>
            <a:r>
              <a:rPr kumimoji="0" lang="en-IN" sz="2000" b="0" i="0" u="none" strike="noStrike" kern="0" cap="none" spc="-25" normalizeH="0" baseline="0" noProof="0" dirty="0">
                <a:ln>
                  <a:noFill/>
                </a:ln>
                <a:solidFill>
                  <a:sysClr val="windowText" lastClr="000000"/>
                </a:solidFill>
                <a:effectLst/>
                <a:uLnTx/>
                <a:uFillTx/>
                <a:latin typeface="Times New Roman"/>
                <a:ea typeface="+mn-ea"/>
                <a:cs typeface="Times New Roman"/>
              </a:rPr>
              <a:t>F.</a:t>
            </a:r>
            <a:r>
              <a:rPr kumimoji="0" lang="en-IN" sz="2000" b="0" i="0" u="none" strike="noStrike" kern="0" cap="none" spc="0" normalizeH="0" baseline="0" noProof="0" dirty="0">
                <a:ln>
                  <a:noFill/>
                </a:ln>
                <a:solidFill>
                  <a:sysClr val="windowText" lastClr="000000"/>
                </a:solidFill>
                <a:effectLst/>
                <a:uLnTx/>
                <a:uFillTx/>
                <a:latin typeface="Times New Roman"/>
                <a:ea typeface="+mn-ea"/>
                <a:cs typeface="Times New Roman"/>
              </a:rPr>
              <a:t>	</a:t>
            </a:r>
            <a:r>
              <a:rPr kumimoji="0" lang="en-IN" sz="2000" b="0" i="0" u="none" strike="noStrike" kern="0" cap="none" spc="-25" normalizeH="0" baseline="0" noProof="0" dirty="0">
                <a:ln>
                  <a:noFill/>
                </a:ln>
                <a:solidFill>
                  <a:sysClr val="windowText" lastClr="000000"/>
                </a:solidFill>
                <a:effectLst/>
                <a:uLnTx/>
                <a:uFillTx/>
                <a:latin typeface="Times New Roman"/>
                <a:ea typeface="+mn-ea"/>
                <a:cs typeface="Times New Roman"/>
              </a:rPr>
              <a:t>B.</a:t>
            </a:r>
            <a:r>
              <a:rPr kumimoji="0" lang="en-IN" sz="2000" b="0" i="0" u="none" strike="noStrike" kern="0" cap="none" spc="0" normalizeH="0" baseline="0" noProof="0" dirty="0">
                <a:ln>
                  <a:noFill/>
                </a:ln>
                <a:solidFill>
                  <a:sysClr val="windowText" lastClr="000000"/>
                </a:solidFill>
                <a:effectLst/>
                <a:uLnTx/>
                <a:uFillTx/>
                <a:latin typeface="Times New Roman"/>
                <a:ea typeface="+mn-ea"/>
                <a:cs typeface="Times New Roman"/>
              </a:rPr>
              <a:t>	</a:t>
            </a:r>
            <a:r>
              <a:rPr kumimoji="0" lang="en-IN" sz="2000" b="0" i="0" u="none" strike="noStrike" kern="0" cap="none" spc="-10" normalizeH="0" baseline="0" noProof="0" dirty="0">
                <a:ln>
                  <a:noFill/>
                </a:ln>
                <a:solidFill>
                  <a:sysClr val="windowText" lastClr="000000"/>
                </a:solidFill>
                <a:effectLst/>
                <a:uLnTx/>
                <a:uFillTx/>
                <a:latin typeface="Times New Roman"/>
                <a:ea typeface="+mn-ea"/>
                <a:cs typeface="Times New Roman"/>
              </a:rPr>
              <a:t>"</a:t>
            </a:r>
            <a:r>
              <a:rPr kumimoji="0" lang="en-IN" sz="2000" b="0" i="0" u="none" strike="noStrike" kern="0" cap="none" spc="-10" normalizeH="0" baseline="0" noProof="0" dirty="0" err="1">
                <a:ln>
                  <a:noFill/>
                </a:ln>
                <a:solidFill>
                  <a:sysClr val="windowText" lastClr="000000"/>
                </a:solidFill>
                <a:effectLst/>
                <a:uLnTx/>
                <a:uFillTx/>
                <a:latin typeface="Times New Roman"/>
                <a:ea typeface="+mn-ea"/>
                <a:cs typeface="Times New Roman"/>
              </a:rPr>
              <a:t>Transradial</a:t>
            </a:r>
            <a:r>
              <a:rPr kumimoji="0" lang="en-IN" sz="2000" b="0" i="0" u="none" strike="noStrike" kern="0" cap="none" spc="0" normalizeH="0" baseline="0" noProof="0" dirty="0">
                <a:ln>
                  <a:noFill/>
                </a:ln>
                <a:solidFill>
                  <a:sysClr val="windowText" lastClr="000000"/>
                </a:solidFill>
                <a:effectLst/>
                <a:uLnTx/>
                <a:uFillTx/>
                <a:latin typeface="Times New Roman"/>
                <a:ea typeface="+mn-ea"/>
                <a:cs typeface="Times New Roman"/>
              </a:rPr>
              <a:t>	</a:t>
            </a:r>
            <a:r>
              <a:rPr kumimoji="0" lang="en-IN" sz="2000" b="0" i="0" u="none" strike="noStrike" kern="0" cap="none" spc="-10" normalizeH="0" baseline="0" noProof="0" dirty="0">
                <a:ln>
                  <a:noFill/>
                </a:ln>
                <a:solidFill>
                  <a:sysClr val="windowText" lastClr="000000"/>
                </a:solidFill>
                <a:effectLst/>
                <a:uLnTx/>
                <a:uFillTx/>
                <a:latin typeface="Times New Roman"/>
                <a:ea typeface="+mn-ea"/>
                <a:cs typeface="Times New Roman"/>
              </a:rPr>
              <a:t>Prosthesis: 	Development</a:t>
            </a:r>
            <a:r>
              <a:rPr kumimoji="0" lang="en-IN" sz="2000" b="0" i="0" u="none" strike="noStrike" kern="0" cap="none" spc="0" normalizeH="0" baseline="0" noProof="0" dirty="0">
                <a:ln>
                  <a:noFill/>
                </a:ln>
                <a:solidFill>
                  <a:sysClr val="windowText" lastClr="000000"/>
                </a:solidFill>
                <a:effectLst/>
                <a:uLnTx/>
                <a:uFillTx/>
                <a:latin typeface="Times New Roman"/>
                <a:ea typeface="+mn-ea"/>
                <a:cs typeface="Times New Roman"/>
              </a:rPr>
              <a:t>		</a:t>
            </a:r>
            <a:r>
              <a:rPr kumimoji="0" lang="en-IN" sz="2000" b="0" i="0" u="none" strike="noStrike" kern="0" cap="none" spc="-395" normalizeH="0" baseline="0" noProof="0" dirty="0">
                <a:ln>
                  <a:noFill/>
                </a:ln>
                <a:solidFill>
                  <a:sysClr val="windowText" lastClr="000000"/>
                </a:solidFill>
                <a:effectLst/>
                <a:uLnTx/>
                <a:uFillTx/>
                <a:latin typeface="Times New Roman"/>
                <a:ea typeface="+mn-ea"/>
                <a:cs typeface="Times New Roman"/>
              </a:rPr>
              <a:t> </a:t>
            </a:r>
            <a:r>
              <a:rPr kumimoji="0" lang="en-IN" sz="2000" b="0" i="0" u="none" strike="noStrike" kern="0" cap="none" spc="0" normalizeH="0" baseline="0" noProof="0" dirty="0">
                <a:ln>
                  <a:noFill/>
                </a:ln>
                <a:solidFill>
                  <a:sysClr val="windowText" lastClr="000000"/>
                </a:solidFill>
                <a:effectLst/>
                <a:uLnTx/>
                <a:uFillTx/>
                <a:latin typeface="Times New Roman"/>
                <a:ea typeface="+mn-ea"/>
                <a:cs typeface="Times New Roman"/>
              </a:rPr>
              <a:t>of		</a:t>
            </a:r>
            <a:r>
              <a:rPr kumimoji="0" lang="en-IN" sz="2000" b="0" i="0" u="none" strike="noStrike" kern="0" cap="none" spc="-50" normalizeH="0" baseline="0" noProof="0" dirty="0">
                <a:ln>
                  <a:noFill/>
                </a:ln>
                <a:solidFill>
                  <a:sysClr val="windowText" lastClr="000000"/>
                </a:solidFill>
                <a:effectLst/>
                <a:uLnTx/>
                <a:uFillTx/>
                <a:latin typeface="Times New Roman"/>
                <a:ea typeface="+mn-ea"/>
                <a:cs typeface="Times New Roman"/>
              </a:rPr>
              <a:t>a</a:t>
            </a:r>
            <a:r>
              <a:rPr kumimoji="0" lang="en-IN" sz="2000" b="0" i="0" u="none" strike="noStrike" kern="0" cap="none" spc="0" normalizeH="0" baseline="0" noProof="0" dirty="0">
                <a:ln>
                  <a:noFill/>
                </a:ln>
                <a:solidFill>
                  <a:sysClr val="windowText" lastClr="000000"/>
                </a:solidFill>
                <a:effectLst/>
                <a:uLnTx/>
                <a:uFillTx/>
                <a:latin typeface="Times New Roman"/>
                <a:ea typeface="+mn-ea"/>
                <a:cs typeface="Times New Roman"/>
              </a:rPr>
              <a:t>		</a:t>
            </a:r>
            <a:r>
              <a:rPr kumimoji="0" lang="en-IN" sz="2000" b="0" i="0" u="none" strike="noStrike" kern="0" cap="none" spc="-10" normalizeH="0" baseline="0" noProof="0" dirty="0">
                <a:ln>
                  <a:noFill/>
                </a:ln>
                <a:solidFill>
                  <a:sysClr val="windowText" lastClr="000000"/>
                </a:solidFill>
                <a:effectLst/>
                <a:uLnTx/>
                <a:uFillTx/>
                <a:latin typeface="Times New Roman"/>
                <a:ea typeface="+mn-ea"/>
                <a:cs typeface="Times New Roman"/>
              </a:rPr>
              <a:t>Bionic</a:t>
            </a:r>
            <a:r>
              <a:rPr kumimoji="0" lang="en-IN" sz="2000" b="0" i="0" u="none" strike="noStrike" kern="0" cap="none" spc="0" normalizeH="0" baseline="0" noProof="0" dirty="0">
                <a:ln>
                  <a:noFill/>
                </a:ln>
                <a:solidFill>
                  <a:sysClr val="windowText" lastClr="000000"/>
                </a:solidFill>
                <a:effectLst/>
                <a:uLnTx/>
                <a:uFillTx/>
                <a:latin typeface="Times New Roman"/>
                <a:ea typeface="+mn-ea"/>
                <a:cs typeface="Times New Roman"/>
              </a:rPr>
              <a:t>		</a:t>
            </a:r>
            <a:r>
              <a:rPr kumimoji="0" lang="en-IN" sz="2000" b="0" i="0" u="none" strike="noStrike" kern="0" cap="none" spc="-25" normalizeH="0" baseline="0" noProof="0" dirty="0">
                <a:ln>
                  <a:noFill/>
                </a:ln>
                <a:solidFill>
                  <a:sysClr val="windowText" lastClr="000000"/>
                </a:solidFill>
                <a:effectLst/>
                <a:uLnTx/>
                <a:uFillTx/>
                <a:latin typeface="Times New Roman"/>
                <a:ea typeface="+mn-ea"/>
                <a:cs typeface="Times New Roman"/>
              </a:rPr>
              <a:t>Arm</a:t>
            </a:r>
            <a:r>
              <a:rPr kumimoji="0" lang="en-IN" sz="2000" b="0" i="0" u="none" strike="noStrike" kern="0" cap="none" spc="0" normalizeH="0" baseline="0" noProof="0" dirty="0">
                <a:ln>
                  <a:noFill/>
                </a:ln>
                <a:solidFill>
                  <a:sysClr val="windowText" lastClr="000000"/>
                </a:solidFill>
                <a:effectLst/>
                <a:uLnTx/>
                <a:uFillTx/>
                <a:latin typeface="Times New Roman"/>
                <a:ea typeface="+mn-ea"/>
                <a:cs typeface="Times New Roman"/>
              </a:rPr>
              <a:t>		</a:t>
            </a:r>
            <a:r>
              <a:rPr kumimoji="0" lang="en-IN" sz="2000" b="0" i="0" u="none" strike="noStrike" kern="0" cap="none" spc="-10" normalizeH="0" baseline="0" noProof="0" dirty="0">
                <a:ln>
                  <a:noFill/>
                </a:ln>
                <a:solidFill>
                  <a:sysClr val="windowText" lastClr="000000"/>
                </a:solidFill>
                <a:effectLst/>
                <a:uLnTx/>
                <a:uFillTx/>
                <a:latin typeface="Times New Roman"/>
                <a:ea typeface="+mn-ea"/>
                <a:cs typeface="Times New Roman"/>
              </a:rPr>
              <a:t>Using</a:t>
            </a:r>
            <a:r>
              <a:rPr kumimoji="0" lang="en-IN" sz="2000" b="0" i="0" u="none" strike="noStrike" kern="0" cap="none" spc="0" normalizeH="0" baseline="0" noProof="0" dirty="0">
                <a:ln>
                  <a:noFill/>
                </a:ln>
                <a:solidFill>
                  <a:sysClr val="windowText" lastClr="000000"/>
                </a:solidFill>
                <a:effectLst/>
                <a:uLnTx/>
                <a:uFillTx/>
                <a:latin typeface="Times New Roman"/>
                <a:ea typeface="+mn-ea"/>
                <a:cs typeface="Times New Roman"/>
              </a:rPr>
              <a:t>		</a:t>
            </a:r>
            <a:r>
              <a:rPr kumimoji="0" lang="en-IN" sz="2000" b="0" i="0" u="none" strike="noStrike" kern="0" cap="none" spc="-25" normalizeH="0" baseline="0" noProof="0" dirty="0">
                <a:ln>
                  <a:noFill/>
                </a:ln>
                <a:solidFill>
                  <a:sysClr val="windowText" lastClr="000000"/>
                </a:solidFill>
                <a:effectLst/>
                <a:uLnTx/>
                <a:uFillTx/>
                <a:latin typeface="Times New Roman"/>
                <a:ea typeface="+mn-ea"/>
                <a:cs typeface="Times New Roman"/>
              </a:rPr>
              <a:t>an</a:t>
            </a:r>
            <a:r>
              <a:rPr kumimoji="0" lang="en-IN" sz="2000" b="0" i="0" u="none" strike="noStrike" kern="0" cap="none" spc="0" normalizeH="0" baseline="0" noProof="0" dirty="0">
                <a:ln>
                  <a:noFill/>
                </a:ln>
                <a:solidFill>
                  <a:sysClr val="windowText" lastClr="000000"/>
                </a:solidFill>
                <a:effectLst/>
                <a:uLnTx/>
                <a:uFillTx/>
                <a:latin typeface="Times New Roman"/>
                <a:ea typeface="+mn-ea"/>
                <a:cs typeface="Times New Roman"/>
              </a:rPr>
              <a:t>		</a:t>
            </a:r>
            <a:r>
              <a:rPr kumimoji="0" lang="en-IN" sz="2000" b="0" i="0" u="none" strike="noStrike" kern="0" cap="none" spc="-25" normalizeH="0" baseline="0" noProof="0" dirty="0">
                <a:ln>
                  <a:noFill/>
                </a:ln>
                <a:solidFill>
                  <a:sysClr val="windowText" lastClr="000000"/>
                </a:solidFill>
                <a:effectLst/>
                <a:uLnTx/>
                <a:uFillTx/>
                <a:latin typeface="Times New Roman"/>
                <a:ea typeface="+mn-ea"/>
                <a:cs typeface="Times New Roman"/>
              </a:rPr>
              <a:t>EEG</a:t>
            </a:r>
            <a:r>
              <a:rPr kumimoji="0" lang="en-IN" sz="2000" b="0" i="0" u="none" strike="noStrike" kern="0" cap="none" spc="0" normalizeH="0" baseline="0" noProof="0" dirty="0">
                <a:ln>
                  <a:noFill/>
                </a:ln>
                <a:solidFill>
                  <a:sysClr val="windowText" lastClr="000000"/>
                </a:solidFill>
                <a:effectLst/>
                <a:uLnTx/>
                <a:uFillTx/>
                <a:latin typeface="Times New Roman"/>
                <a:ea typeface="+mn-ea"/>
                <a:cs typeface="Times New Roman"/>
              </a:rPr>
              <a:t>	</a:t>
            </a:r>
            <a:r>
              <a:rPr kumimoji="0" lang="en-IN" sz="2000" b="0" i="0" u="none" strike="noStrike" kern="0" cap="none" spc="-10" normalizeH="0" baseline="0" noProof="0" dirty="0">
                <a:ln>
                  <a:noFill/>
                </a:ln>
                <a:solidFill>
                  <a:sysClr val="windowText" lastClr="000000"/>
                </a:solidFill>
                <a:effectLst/>
                <a:uLnTx/>
                <a:uFillTx/>
                <a:latin typeface="Times New Roman"/>
                <a:ea typeface="+mn-ea"/>
                <a:cs typeface="Times New Roman"/>
              </a:rPr>
              <a:t>Sensor.“</a:t>
            </a:r>
            <a:r>
              <a:rPr kumimoji="0" lang="en-IN" sz="2000" b="0" i="0" u="none" strike="noStrike" kern="0" cap="none" spc="0" normalizeH="0" baseline="0" noProof="0" dirty="0">
                <a:ln>
                  <a:noFill/>
                </a:ln>
                <a:solidFill>
                  <a:sysClr val="windowText" lastClr="000000"/>
                </a:solidFill>
                <a:effectLst/>
                <a:uLnTx/>
                <a:uFillTx/>
                <a:latin typeface="Times New Roman"/>
                <a:ea typeface="+mn-ea"/>
                <a:cs typeface="Times New Roman"/>
              </a:rPr>
              <a:t>	</a:t>
            </a:r>
            <a:r>
              <a:rPr kumimoji="0" lang="en-IN" sz="2000" b="0" i="0" u="none" strike="noStrike" kern="0" cap="none" spc="-20" normalizeH="0" baseline="0" noProof="0" dirty="0">
                <a:ln>
                  <a:noFill/>
                </a:ln>
                <a:solidFill>
                  <a:sysClr val="windowText" lastClr="000000"/>
                </a:solidFill>
                <a:effectLst/>
                <a:uLnTx/>
                <a:uFillTx/>
                <a:latin typeface="Times New Roman"/>
                <a:ea typeface="+mn-ea"/>
                <a:cs typeface="Times New Roman"/>
              </a:rPr>
              <a:t>2023 	</a:t>
            </a:r>
            <a:r>
              <a:rPr kumimoji="0" lang="en-IN" sz="2000" b="0" i="0" u="none" strike="noStrike" kern="0" cap="none" spc="-10" normalizeH="0" baseline="0" noProof="0" dirty="0">
                <a:ln>
                  <a:noFill/>
                </a:ln>
                <a:solidFill>
                  <a:sysClr val="windowText" lastClr="000000"/>
                </a:solidFill>
                <a:effectLst/>
                <a:uLnTx/>
                <a:uFillTx/>
                <a:latin typeface="Times New Roman"/>
                <a:ea typeface="+mn-ea"/>
                <a:cs typeface="Times New Roman"/>
              </a:rPr>
              <a:t>International</a:t>
            </a:r>
            <a:r>
              <a:rPr kumimoji="0" lang="en-IN" sz="2000" b="0" i="0" u="none" strike="noStrike" kern="0" cap="none" spc="0" normalizeH="0" baseline="0" noProof="0" dirty="0">
                <a:ln>
                  <a:noFill/>
                </a:ln>
                <a:solidFill>
                  <a:sysClr val="windowText" lastClr="000000"/>
                </a:solidFill>
                <a:effectLst/>
                <a:uLnTx/>
                <a:uFillTx/>
                <a:latin typeface="Times New Roman"/>
                <a:ea typeface="+mn-ea"/>
                <a:cs typeface="Times New Roman"/>
              </a:rPr>
              <a:t>		</a:t>
            </a:r>
            <a:r>
              <a:rPr kumimoji="0" lang="en-IN" sz="2000" b="0" i="0" u="none" strike="noStrike" kern="0" cap="none" spc="-10" normalizeH="0" baseline="0" noProof="0" dirty="0">
                <a:ln>
                  <a:noFill/>
                </a:ln>
                <a:solidFill>
                  <a:sysClr val="windowText" lastClr="000000"/>
                </a:solidFill>
                <a:effectLst/>
                <a:uLnTx/>
                <a:uFillTx/>
                <a:latin typeface="Times New Roman"/>
                <a:ea typeface="+mn-ea"/>
                <a:cs typeface="Times New Roman"/>
              </a:rPr>
              <a:t>Conference</a:t>
            </a:r>
            <a:r>
              <a:rPr kumimoji="0" lang="en-IN" sz="2000" b="0" i="0" u="none" strike="noStrike" kern="0" cap="none" spc="0" normalizeH="0" baseline="0" noProof="0" dirty="0">
                <a:ln>
                  <a:noFill/>
                </a:ln>
                <a:solidFill>
                  <a:sysClr val="windowText" lastClr="000000"/>
                </a:solidFill>
                <a:effectLst/>
                <a:uLnTx/>
                <a:uFillTx/>
                <a:latin typeface="Times New Roman"/>
                <a:ea typeface="+mn-ea"/>
                <a:cs typeface="Times New Roman"/>
              </a:rPr>
              <a:t>	</a:t>
            </a:r>
            <a:r>
              <a:rPr kumimoji="0" lang="en-IN" sz="2000" b="0" i="0" u="none" strike="noStrike" kern="0" cap="none" spc="-25" normalizeH="0" baseline="0" noProof="0" dirty="0">
                <a:ln>
                  <a:noFill/>
                </a:ln>
                <a:solidFill>
                  <a:sysClr val="windowText" lastClr="000000"/>
                </a:solidFill>
                <a:effectLst/>
                <a:uLnTx/>
                <a:uFillTx/>
                <a:latin typeface="Times New Roman"/>
                <a:ea typeface="+mn-ea"/>
                <a:cs typeface="Times New Roman"/>
              </a:rPr>
              <a:t>on</a:t>
            </a:r>
            <a:r>
              <a:rPr kumimoji="0" lang="en-IN" sz="2000" b="0" i="0" u="none" strike="noStrike" kern="0" cap="none" spc="0" normalizeH="0" baseline="0" noProof="0" dirty="0">
                <a:ln>
                  <a:noFill/>
                </a:ln>
                <a:solidFill>
                  <a:sysClr val="windowText" lastClr="000000"/>
                </a:solidFill>
                <a:effectLst/>
                <a:uLnTx/>
                <a:uFillTx/>
                <a:latin typeface="Times New Roman"/>
                <a:ea typeface="+mn-ea"/>
                <a:cs typeface="Times New Roman"/>
              </a:rPr>
              <a:t>	</a:t>
            </a:r>
            <a:r>
              <a:rPr kumimoji="0" lang="en-IN" sz="2000" b="0" i="0" u="none" strike="noStrike" kern="0" cap="none" spc="-10" normalizeH="0" baseline="0" noProof="0" dirty="0">
                <a:ln>
                  <a:noFill/>
                </a:ln>
                <a:solidFill>
                  <a:sysClr val="windowText" lastClr="000000"/>
                </a:solidFill>
                <a:effectLst/>
                <a:uLnTx/>
                <a:uFillTx/>
                <a:latin typeface="Times New Roman"/>
                <a:ea typeface="+mn-ea"/>
                <a:cs typeface="Times New Roman"/>
              </a:rPr>
              <a:t>Electronics,</a:t>
            </a:r>
            <a:r>
              <a:rPr kumimoji="0" lang="en-IN" sz="2000" b="0" i="0" u="none" strike="noStrike" kern="0" cap="none" spc="0" normalizeH="0" baseline="0" noProof="0" dirty="0">
                <a:ln>
                  <a:noFill/>
                </a:ln>
                <a:solidFill>
                  <a:sysClr val="windowText" lastClr="000000"/>
                </a:solidFill>
                <a:effectLst/>
                <a:uLnTx/>
                <a:uFillTx/>
                <a:latin typeface="Times New Roman"/>
                <a:ea typeface="+mn-ea"/>
                <a:cs typeface="Times New Roman"/>
              </a:rPr>
              <a:t>		</a:t>
            </a:r>
            <a:r>
              <a:rPr kumimoji="0" lang="en-IN" sz="2000" b="0" i="0" u="none" strike="noStrike" kern="0" cap="none" spc="-10" normalizeH="0" baseline="0" noProof="0" dirty="0">
                <a:ln>
                  <a:noFill/>
                </a:ln>
                <a:solidFill>
                  <a:sysClr val="windowText" lastClr="000000"/>
                </a:solidFill>
                <a:effectLst/>
                <a:uLnTx/>
                <a:uFillTx/>
                <a:latin typeface="Times New Roman"/>
                <a:ea typeface="+mn-ea"/>
                <a:cs typeface="Times New Roman"/>
              </a:rPr>
              <a:t>Communications</a:t>
            </a:r>
            <a:r>
              <a:rPr kumimoji="0" lang="en-IN" sz="2000" b="0" i="0" u="none" strike="noStrike" kern="0" cap="none" spc="0" normalizeH="0" baseline="0" noProof="0" dirty="0">
                <a:ln>
                  <a:noFill/>
                </a:ln>
                <a:solidFill>
                  <a:sysClr val="windowText" lastClr="000000"/>
                </a:solidFill>
                <a:effectLst/>
                <a:uLnTx/>
                <a:uFillTx/>
                <a:latin typeface="Times New Roman"/>
                <a:ea typeface="+mn-ea"/>
                <a:cs typeface="Times New Roman"/>
              </a:rPr>
              <a:t>		</a:t>
            </a:r>
            <a:r>
              <a:rPr kumimoji="0" lang="en-IN" sz="2000" b="0" i="0" u="none" strike="noStrike" kern="0" cap="none" spc="-25" normalizeH="0" baseline="0" noProof="0" dirty="0">
                <a:ln>
                  <a:noFill/>
                </a:ln>
                <a:solidFill>
                  <a:sysClr val="windowText" lastClr="000000"/>
                </a:solidFill>
                <a:effectLst/>
                <a:uLnTx/>
                <a:uFillTx/>
                <a:latin typeface="Times New Roman"/>
                <a:ea typeface="+mn-ea"/>
                <a:cs typeface="Times New Roman"/>
              </a:rPr>
              <a:t>and 	</a:t>
            </a:r>
            <a:r>
              <a:rPr kumimoji="0" lang="en-IN" sz="2000" b="0" i="0" u="none" strike="noStrike" kern="0" cap="none" spc="-10" normalizeH="0" baseline="0" noProof="0" dirty="0">
                <a:ln>
                  <a:noFill/>
                </a:ln>
                <a:solidFill>
                  <a:sysClr val="windowText" lastClr="000000"/>
                </a:solidFill>
                <a:effectLst/>
                <a:uLnTx/>
                <a:uFillTx/>
                <a:latin typeface="Times New Roman"/>
                <a:ea typeface="+mn-ea"/>
                <a:cs typeface="Times New Roman"/>
              </a:rPr>
              <a:t>Computers(CONIELECOMP),1.6,2023.doi:10.1109/CONIELECOMP 	57887.2023.10582117.</a:t>
            </a: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57</TotalTime>
  <Words>4515</Words>
  <Application>Microsoft Office PowerPoint</Application>
  <PresentationFormat>On-screen Show (4:3)</PresentationFormat>
  <Paragraphs>284</Paragraphs>
  <Slides>16</Slides>
  <Notes>16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Arial</vt:lpstr>
      <vt:lpstr>Calibri</vt:lpstr>
      <vt:lpstr>Symbol</vt:lpstr>
      <vt:lpstr>Times New Roman</vt:lpstr>
      <vt:lpstr>Office Theme</vt:lpstr>
      <vt:lpstr>PowerPoint Presentation</vt:lpstr>
      <vt:lpstr> INTRODUCTION</vt:lpstr>
      <vt:lpstr> Problem Statement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APPLICATIONS</vt:lpstr>
      <vt:lpstr>  References</vt:lpstr>
      <vt:lpstr>  References</vt:lpstr>
      <vt:lpstr>  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girish</dc:creator>
  <cp:lastModifiedBy>Shreekanth Reddy</cp:lastModifiedBy>
  <cp:revision>15</cp:revision>
  <dcterms:created xsi:type="dcterms:W3CDTF">2014-08-20T08:05:17Z</dcterms:created>
  <dcterms:modified xsi:type="dcterms:W3CDTF">2025-05-06T03:26:49Z</dcterms:modified>
</cp:coreProperties>
</file>